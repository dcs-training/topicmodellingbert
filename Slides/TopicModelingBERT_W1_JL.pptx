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49"/>
  </p:notesMasterIdLst>
  <p:handoutMasterIdLst>
    <p:handoutMasterId r:id="rId50"/>
  </p:handoutMasterIdLst>
  <p:sldIdLst>
    <p:sldId id="367" r:id="rId2"/>
    <p:sldId id="383" r:id="rId3"/>
    <p:sldId id="401" r:id="rId4"/>
    <p:sldId id="402" r:id="rId5"/>
    <p:sldId id="398" r:id="rId6"/>
    <p:sldId id="403" r:id="rId7"/>
    <p:sldId id="397" r:id="rId8"/>
    <p:sldId id="399" r:id="rId9"/>
    <p:sldId id="388" r:id="rId10"/>
    <p:sldId id="386" r:id="rId11"/>
    <p:sldId id="384" r:id="rId12"/>
    <p:sldId id="345" r:id="rId13"/>
    <p:sldId id="346" r:id="rId14"/>
    <p:sldId id="348" r:id="rId15"/>
    <p:sldId id="289" r:id="rId16"/>
    <p:sldId id="349" r:id="rId17"/>
    <p:sldId id="353" r:id="rId18"/>
    <p:sldId id="352" r:id="rId19"/>
    <p:sldId id="373" r:id="rId20"/>
    <p:sldId id="355" r:id="rId21"/>
    <p:sldId id="351" r:id="rId22"/>
    <p:sldId id="350" r:id="rId23"/>
    <p:sldId id="285" r:id="rId24"/>
    <p:sldId id="368" r:id="rId25"/>
    <p:sldId id="370" r:id="rId26"/>
    <p:sldId id="372" r:id="rId27"/>
    <p:sldId id="371" r:id="rId28"/>
    <p:sldId id="374" r:id="rId29"/>
    <p:sldId id="375" r:id="rId30"/>
    <p:sldId id="376" r:id="rId31"/>
    <p:sldId id="377" r:id="rId32"/>
    <p:sldId id="382" r:id="rId33"/>
    <p:sldId id="356" r:id="rId34"/>
    <p:sldId id="358" r:id="rId35"/>
    <p:sldId id="357" r:id="rId36"/>
    <p:sldId id="300" r:id="rId37"/>
    <p:sldId id="359" r:id="rId38"/>
    <p:sldId id="360" r:id="rId39"/>
    <p:sldId id="361" r:id="rId40"/>
    <p:sldId id="362" r:id="rId41"/>
    <p:sldId id="363" r:id="rId42"/>
    <p:sldId id="381" r:id="rId43"/>
    <p:sldId id="378" r:id="rId44"/>
    <p:sldId id="379" r:id="rId45"/>
    <p:sldId id="364" r:id="rId46"/>
    <p:sldId id="365" r:id="rId47"/>
    <p:sldId id="366" r:id="rId48"/>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0E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60"/>
    <p:restoredTop sz="87885"/>
  </p:normalViewPr>
  <p:slideViewPr>
    <p:cSldViewPr snapToGrid="0">
      <p:cViewPr varScale="1">
        <p:scale>
          <a:sx n="169" d="100"/>
          <a:sy n="169" d="100"/>
        </p:scale>
        <p:origin x="160" y="536"/>
      </p:cViewPr>
      <p:guideLst/>
    </p:cSldViewPr>
  </p:slideViewPr>
  <p:notesTextViewPr>
    <p:cViewPr>
      <p:scale>
        <a:sx n="1" d="1"/>
        <a:sy n="1" d="1"/>
      </p:scale>
      <p:origin x="0" y="-24"/>
    </p:cViewPr>
  </p:notesTextViewPr>
  <p:notesViewPr>
    <p:cSldViewPr snapToGrid="0">
      <p:cViewPr varScale="1">
        <p:scale>
          <a:sx n="83" d="100"/>
          <a:sy n="83" d="100"/>
        </p:scale>
        <p:origin x="304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669F14-0200-2A68-F38F-B5283A4FC30D}"/>
              </a:ext>
            </a:extLst>
          </p:cNvPr>
          <p:cNvSpPr txBox="1">
            <a:spLocks noGrp="1"/>
          </p:cNvSpPr>
          <p:nvPr>
            <p:ph type="hdr" sz="quarter"/>
          </p:nvPr>
        </p:nvSpPr>
        <p:spPr>
          <a:xfrm>
            <a:off x="0" y="0"/>
            <a:ext cx="328068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GB" sz="1400" b="0" i="0" u="none" strike="noStrike" kern="1200" cap="none">
              <a:ln>
                <a:noFill/>
              </a:ln>
              <a:latin typeface="Liberation Sans" pitchFamily="18"/>
              <a:ea typeface="DejaVu Sans" pitchFamily="2"/>
              <a:cs typeface="DejaVu Sans" pitchFamily="2"/>
            </a:endParaRPr>
          </a:p>
        </p:txBody>
      </p:sp>
      <p:sp>
        <p:nvSpPr>
          <p:cNvPr id="3" name="Date Placeholder 2">
            <a:extLst>
              <a:ext uri="{FF2B5EF4-FFF2-40B4-BE49-F238E27FC236}">
                <a16:creationId xmlns:a16="http://schemas.microsoft.com/office/drawing/2014/main" id="{019D76D9-764F-BA78-2445-EFADDA53B804}"/>
              </a:ext>
            </a:extLst>
          </p:cNvPr>
          <p:cNvSpPr txBox="1">
            <a:spLocks noGrp="1"/>
          </p:cNvSpPr>
          <p:nvPr>
            <p:ph type="dt" sz="quarter" idx="1"/>
          </p:nvPr>
        </p:nvSpPr>
        <p:spPr>
          <a:xfrm>
            <a:off x="4278960" y="0"/>
            <a:ext cx="328068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GB" sz="1400" b="0" i="0" u="none" strike="noStrike" kern="1200" cap="none">
              <a:ln>
                <a:noFill/>
              </a:ln>
              <a:latin typeface="Liberation Sans" pitchFamily="18"/>
              <a:ea typeface="DejaVu Sans" pitchFamily="2"/>
              <a:cs typeface="DejaVu Sans" pitchFamily="2"/>
            </a:endParaRPr>
          </a:p>
        </p:txBody>
      </p:sp>
      <p:sp>
        <p:nvSpPr>
          <p:cNvPr id="4" name="Footer Placeholder 3">
            <a:extLst>
              <a:ext uri="{FF2B5EF4-FFF2-40B4-BE49-F238E27FC236}">
                <a16:creationId xmlns:a16="http://schemas.microsoft.com/office/drawing/2014/main" id="{0B42CDD7-FE83-E926-3B1D-C14207481C84}"/>
              </a:ext>
            </a:extLst>
          </p:cNvPr>
          <p:cNvSpPr txBox="1">
            <a:spLocks noGrp="1"/>
          </p:cNvSpPr>
          <p:nvPr>
            <p:ph type="ftr" sz="quarter" idx="2"/>
          </p:nvPr>
        </p:nvSpPr>
        <p:spPr>
          <a:xfrm>
            <a:off x="0" y="10157400"/>
            <a:ext cx="328068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GB" sz="1400" b="0" i="0" u="none" strike="noStrike" kern="1200" cap="none">
              <a:ln>
                <a:noFill/>
              </a:ln>
              <a:latin typeface="Liberation Sans" pitchFamily="18"/>
              <a:ea typeface="DejaVu Sans" pitchFamily="2"/>
              <a:cs typeface="DejaVu Sans" pitchFamily="2"/>
            </a:endParaRPr>
          </a:p>
        </p:txBody>
      </p:sp>
      <p:sp>
        <p:nvSpPr>
          <p:cNvPr id="5" name="Slide Number Placeholder 4">
            <a:extLst>
              <a:ext uri="{FF2B5EF4-FFF2-40B4-BE49-F238E27FC236}">
                <a16:creationId xmlns:a16="http://schemas.microsoft.com/office/drawing/2014/main" id="{B4AAFF3D-EB16-51B4-6D69-837FB36358E8}"/>
              </a:ext>
            </a:extLst>
          </p:cNvPr>
          <p:cNvSpPr txBox="1">
            <a:spLocks noGrp="1"/>
          </p:cNvSpPr>
          <p:nvPr>
            <p:ph type="sldNum" sz="quarter" idx="3"/>
          </p:nvPr>
        </p:nvSpPr>
        <p:spPr>
          <a:xfrm>
            <a:off x="4278960" y="10157400"/>
            <a:ext cx="328068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89E4FBF7-1477-BD4B-ABDE-061EA0D99FEC}" type="slidenum">
              <a:t>‹#›</a:t>
            </a:fld>
            <a:endParaRPr lang="en-GB" sz="1400" b="0" i="0" u="none" strike="noStrike" kern="1200" cap="none">
              <a:ln>
                <a:noFill/>
              </a:ln>
              <a:latin typeface="Liberation Sans" pitchFamily="18"/>
              <a:ea typeface="DejaVu Sans" pitchFamily="2"/>
              <a:cs typeface="DejaVu Sans" pitchFamily="2"/>
            </a:endParaRPr>
          </a:p>
        </p:txBody>
      </p:sp>
    </p:spTree>
    <p:extLst>
      <p:ext uri="{BB962C8B-B14F-4D97-AF65-F5344CB8AC3E}">
        <p14:creationId xmlns:p14="http://schemas.microsoft.com/office/powerpoint/2010/main" val="16894686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E888CC-A1FE-8C34-87F1-665BDF36B0F6}"/>
              </a:ext>
            </a:extLst>
          </p:cNvPr>
          <p:cNvSpPr>
            <a:spLocks noGrp="1" noRot="1" noChangeAspect="1"/>
          </p:cNvSpPr>
          <p:nvPr>
            <p:ph type="sldImg" idx="2"/>
          </p:nvPr>
        </p:nvSpPr>
        <p:spPr>
          <a:xfrm>
            <a:off x="216000" y="812520"/>
            <a:ext cx="7127279" cy="4008959"/>
          </a:xfrm>
          <a:prstGeom prst="rect">
            <a:avLst/>
          </a:prstGeom>
          <a:noFill/>
          <a:ln>
            <a:noFill/>
            <a:prstDash val="solid"/>
          </a:ln>
        </p:spPr>
      </p:sp>
      <p:sp>
        <p:nvSpPr>
          <p:cNvPr id="3" name="Notes Placeholder 2">
            <a:extLst>
              <a:ext uri="{FF2B5EF4-FFF2-40B4-BE49-F238E27FC236}">
                <a16:creationId xmlns:a16="http://schemas.microsoft.com/office/drawing/2014/main" id="{E727A116-7EB9-9F1D-F175-687C0BB3E598}"/>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GB"/>
          </a:p>
        </p:txBody>
      </p:sp>
      <p:sp>
        <p:nvSpPr>
          <p:cNvPr id="4" name="Header Placeholder 3">
            <a:extLst>
              <a:ext uri="{FF2B5EF4-FFF2-40B4-BE49-F238E27FC236}">
                <a16:creationId xmlns:a16="http://schemas.microsoft.com/office/drawing/2014/main" id="{1B4A7D7B-306B-8860-F8A5-557DE7EC6035}"/>
              </a:ext>
            </a:extLst>
          </p:cNvPr>
          <p:cNvSpPr txBox="1">
            <a:spLocks noGrp="1"/>
          </p:cNvSpPr>
          <p:nvPr>
            <p:ph type="hdr" sz="quarter"/>
          </p:nvPr>
        </p:nvSpPr>
        <p:spPr>
          <a:xfrm>
            <a:off x="0" y="0"/>
            <a:ext cx="3280680" cy="534240"/>
          </a:xfrm>
          <a:prstGeom prst="rect">
            <a:avLst/>
          </a:prstGeom>
          <a:noFill/>
          <a:ln>
            <a:noFill/>
          </a:ln>
        </p:spPr>
        <p:txBody>
          <a:bodyPr vert="horz" lIns="0" tIns="0" rIns="0" bIns="0"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5" name="Date Placeholder 4">
            <a:extLst>
              <a:ext uri="{FF2B5EF4-FFF2-40B4-BE49-F238E27FC236}">
                <a16:creationId xmlns:a16="http://schemas.microsoft.com/office/drawing/2014/main" id="{30D484F5-7CB5-4C8A-E879-B0805B9341C4}"/>
              </a:ext>
            </a:extLst>
          </p:cNvPr>
          <p:cNvSpPr txBox="1">
            <a:spLocks noGrp="1"/>
          </p:cNvSpPr>
          <p:nvPr>
            <p:ph type="dt" idx="1"/>
          </p:nvPr>
        </p:nvSpPr>
        <p:spPr>
          <a:xfrm>
            <a:off x="4278960" y="0"/>
            <a:ext cx="3280680" cy="534240"/>
          </a:xfrm>
          <a:prstGeom prst="rect">
            <a:avLst/>
          </a:prstGeom>
          <a:noFill/>
          <a:ln>
            <a:noFill/>
          </a:ln>
        </p:spPr>
        <p:txBody>
          <a:bodyPr vert="horz" lIns="0" tIns="0" rIns="0" bIns="0"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6" name="Footer Placeholder 5">
            <a:extLst>
              <a:ext uri="{FF2B5EF4-FFF2-40B4-BE49-F238E27FC236}">
                <a16:creationId xmlns:a16="http://schemas.microsoft.com/office/drawing/2014/main" id="{9CDD95DB-C0EB-89CE-E6EE-3841558E6E85}"/>
              </a:ext>
            </a:extLst>
          </p:cNvPr>
          <p:cNvSpPr txBox="1">
            <a:spLocks noGrp="1"/>
          </p:cNvSpPr>
          <p:nvPr>
            <p:ph type="ftr" sz="quarter" idx="4"/>
          </p:nvPr>
        </p:nvSpPr>
        <p:spPr>
          <a:xfrm>
            <a:off x="0" y="10157400"/>
            <a:ext cx="3280680" cy="534240"/>
          </a:xfrm>
          <a:prstGeom prst="rect">
            <a:avLst/>
          </a:prstGeom>
          <a:noFill/>
          <a:ln>
            <a:noFill/>
          </a:ln>
        </p:spPr>
        <p:txBody>
          <a:bodyPr vert="horz" lIns="0" tIns="0" rIns="0" bIns="0" anchor="b" anchorCtr="0">
            <a:noAutofit/>
          </a:bodyPr>
          <a:lstStyle>
            <a:lvl1pPr lvl="0" rtl="0" hangingPunct="0">
              <a:buNone/>
              <a:tabLst/>
              <a:defRPr lang="en-GB" sz="1400" kern="1200">
                <a:latin typeface="Liberation Sans" pitchFamily="18"/>
                <a:ea typeface="DejaVu Sans" pitchFamily="2"/>
                <a:cs typeface="DejaVu Sans" pitchFamily="2"/>
              </a:defRPr>
            </a:lvl1pPr>
          </a:lstStyle>
          <a:p>
            <a:pPr lvl="0"/>
            <a:endParaRPr lang="en-GB"/>
          </a:p>
        </p:txBody>
      </p:sp>
      <p:sp>
        <p:nvSpPr>
          <p:cNvPr id="7" name="Slide Number Placeholder 6">
            <a:extLst>
              <a:ext uri="{FF2B5EF4-FFF2-40B4-BE49-F238E27FC236}">
                <a16:creationId xmlns:a16="http://schemas.microsoft.com/office/drawing/2014/main" id="{87335E83-D6F0-3FCE-C2BE-929349E7AED7}"/>
              </a:ext>
            </a:extLst>
          </p:cNvPr>
          <p:cNvSpPr txBox="1">
            <a:spLocks noGrp="1"/>
          </p:cNvSpPr>
          <p:nvPr>
            <p:ph type="sldNum" sz="quarter" idx="5"/>
          </p:nvPr>
        </p:nvSpPr>
        <p:spPr>
          <a:xfrm>
            <a:off x="4278960" y="10157400"/>
            <a:ext cx="3280680" cy="534240"/>
          </a:xfrm>
          <a:prstGeom prst="rect">
            <a:avLst/>
          </a:prstGeom>
          <a:noFill/>
          <a:ln>
            <a:noFill/>
          </a:ln>
        </p:spPr>
        <p:txBody>
          <a:bodyPr vert="horz" lIns="0" tIns="0" rIns="0" bIns="0" anchor="b" anchorCtr="0">
            <a:noAutofit/>
          </a:bodyPr>
          <a:lstStyle>
            <a:lvl1pPr lvl="0" algn="r" rtl="0" hangingPunct="0">
              <a:buNone/>
              <a:tabLst/>
              <a:defRPr lang="en-GB" sz="1400" kern="1200">
                <a:latin typeface="Liberation Sans" pitchFamily="18"/>
                <a:ea typeface="DejaVu Sans" pitchFamily="2"/>
                <a:cs typeface="DejaVu Sans" pitchFamily="2"/>
              </a:defRPr>
            </a:lvl1pPr>
          </a:lstStyle>
          <a:p>
            <a:pPr lvl="0"/>
            <a:fld id="{8E2BB4A0-B145-1246-A0C1-B534948BCD4F}" type="slidenum">
              <a:t>‹#›</a:t>
            </a:fld>
            <a:endParaRPr lang="en-GB"/>
          </a:p>
        </p:txBody>
      </p:sp>
    </p:spTree>
    <p:extLst>
      <p:ext uri="{BB962C8B-B14F-4D97-AF65-F5344CB8AC3E}">
        <p14:creationId xmlns:p14="http://schemas.microsoft.com/office/powerpoint/2010/main" val="1221414921"/>
      </p:ext>
    </p:extLst>
  </p:cSld>
  <p:clrMap bg1="lt1" tx1="dk1" bg2="lt2" tx2="dk2" accent1="accent1" accent2="accent2" accent3="accent3" accent4="accent4" accent5="accent5" accent6="accent6" hlink="hlink" folHlink="folHlink"/>
  <p:notesStyle>
    <a:lvl1pPr marL="216000" marR="0" indent="-216000" hangingPunct="0">
      <a:tabLst/>
      <a:defRPr lang="en-GB"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10BA7-3C94-E335-F28B-B59AB93429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AF693-1447-C985-9F6B-319D62ED871D}"/>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CFFCCF93-67C9-D61E-8C90-3611C9097D0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1618F93-654A-E874-14DA-B73067BEE603}"/>
              </a:ext>
            </a:extLst>
          </p:cNvPr>
          <p:cNvSpPr>
            <a:spLocks noGrp="1"/>
          </p:cNvSpPr>
          <p:nvPr>
            <p:ph type="sldNum" sz="quarter" idx="10"/>
          </p:nvPr>
        </p:nvSpPr>
        <p:spPr/>
        <p:txBody>
          <a:bodyPr/>
          <a:lstStyle/>
          <a:p>
            <a:fld id="{8A6A10D0-20D9-4461-9337-5FE1B4A402F6}" type="slidenum">
              <a:rPr lang="en-GB" smtClean="0"/>
              <a:t>1</a:t>
            </a:fld>
            <a:endParaRPr lang="en-GB" dirty="0"/>
          </a:p>
        </p:txBody>
      </p:sp>
    </p:spTree>
    <p:extLst>
      <p:ext uri="{BB962C8B-B14F-4D97-AF65-F5344CB8AC3E}">
        <p14:creationId xmlns:p14="http://schemas.microsoft.com/office/powerpoint/2010/main" val="1209379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BD33-263A-C25A-F5DF-6BFC39193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C446F-C0F2-F734-BFA2-745A4D9422F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8D08ACDD-A1F2-36A3-08A6-EE167706E01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BB57CCC-ABB9-E8CE-6455-06A9E619AB61}"/>
              </a:ext>
            </a:extLst>
          </p:cNvPr>
          <p:cNvSpPr>
            <a:spLocks noGrp="1"/>
          </p:cNvSpPr>
          <p:nvPr>
            <p:ph type="sldNum" sz="quarter" idx="10"/>
          </p:nvPr>
        </p:nvSpPr>
        <p:spPr/>
        <p:txBody>
          <a:bodyPr/>
          <a:lstStyle/>
          <a:p>
            <a:fld id="{8A6A10D0-20D9-4461-9337-5FE1B4A402F6}" type="slidenum">
              <a:rPr lang="en-GB" smtClean="0"/>
              <a:t>2</a:t>
            </a:fld>
            <a:endParaRPr lang="en-GB" dirty="0"/>
          </a:p>
        </p:txBody>
      </p:sp>
    </p:spTree>
    <p:extLst>
      <p:ext uri="{BB962C8B-B14F-4D97-AF65-F5344CB8AC3E}">
        <p14:creationId xmlns:p14="http://schemas.microsoft.com/office/powerpoint/2010/main" val="693888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2589C-1B0A-751F-72FF-39912432C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1553F-5DBE-E6BC-F8D8-B5459AF60EA0}"/>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BAC60EF3-42FF-BC3B-CCB0-759DD1EE482F}"/>
              </a:ext>
            </a:extLst>
          </p:cNvPr>
          <p:cNvSpPr>
            <a:spLocks noGrp="1"/>
          </p:cNvSpPr>
          <p:nvPr>
            <p:ph type="body" idx="1"/>
          </p:nvPr>
        </p:nvSpPr>
        <p:spPr/>
        <p:txBody>
          <a:bodyPr/>
          <a:lstStyle/>
          <a:p>
            <a:pPr>
              <a:buFont typeface="Arial" panose="020B0604020202020204" pitchFamily="34" charset="0"/>
              <a:buChar char="•"/>
            </a:pPr>
            <a:r>
              <a:rPr lang="en-GB" dirty="0"/>
              <a:t>In plain language</a:t>
            </a:r>
          </a:p>
        </p:txBody>
      </p:sp>
      <p:sp>
        <p:nvSpPr>
          <p:cNvPr id="4" name="Slide Number Placeholder 3">
            <a:extLst>
              <a:ext uri="{FF2B5EF4-FFF2-40B4-BE49-F238E27FC236}">
                <a16:creationId xmlns:a16="http://schemas.microsoft.com/office/drawing/2014/main" id="{9E1686A3-7848-1BCC-89E7-FD37A7D8E1D4}"/>
              </a:ext>
            </a:extLst>
          </p:cNvPr>
          <p:cNvSpPr>
            <a:spLocks noGrp="1"/>
          </p:cNvSpPr>
          <p:nvPr>
            <p:ph type="sldNum" sz="quarter" idx="10"/>
          </p:nvPr>
        </p:nvSpPr>
        <p:spPr/>
        <p:txBody>
          <a:bodyPr/>
          <a:lstStyle/>
          <a:p>
            <a:fld id="{8A6A10D0-20D9-4461-9337-5FE1B4A402F6}" type="slidenum">
              <a:rPr lang="en-GB" smtClean="0"/>
              <a:t>3</a:t>
            </a:fld>
            <a:endParaRPr lang="en-GB" dirty="0"/>
          </a:p>
        </p:txBody>
      </p:sp>
    </p:spTree>
    <p:extLst>
      <p:ext uri="{BB962C8B-B14F-4D97-AF65-F5344CB8AC3E}">
        <p14:creationId xmlns:p14="http://schemas.microsoft.com/office/powerpoint/2010/main" val="3975727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25860-3386-42CA-D207-F2513C452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E43C5-5059-C0D3-B578-96D8F83F00EC}"/>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751E88C4-0605-593D-EA08-E098648FCF99}"/>
              </a:ext>
            </a:extLst>
          </p:cNvPr>
          <p:cNvSpPr>
            <a:spLocks noGrp="1"/>
          </p:cNvSpPr>
          <p:nvPr>
            <p:ph type="body" idx="1"/>
          </p:nvPr>
        </p:nvSpPr>
        <p:spPr/>
        <p:txBody>
          <a:bodyPr/>
          <a:lstStyle/>
          <a:p>
            <a:pPr>
              <a:buFont typeface="Arial" panose="020B0604020202020204" pitchFamily="34" charset="0"/>
              <a:buChar char="•"/>
            </a:pPr>
            <a:r>
              <a:rPr lang="en-GB" dirty="0"/>
              <a:t>In plain language</a:t>
            </a:r>
          </a:p>
        </p:txBody>
      </p:sp>
      <p:sp>
        <p:nvSpPr>
          <p:cNvPr id="4" name="Slide Number Placeholder 3">
            <a:extLst>
              <a:ext uri="{FF2B5EF4-FFF2-40B4-BE49-F238E27FC236}">
                <a16:creationId xmlns:a16="http://schemas.microsoft.com/office/drawing/2014/main" id="{3EB5BC60-4F1E-3A4D-413B-53ADFFCDF4E1}"/>
              </a:ext>
            </a:extLst>
          </p:cNvPr>
          <p:cNvSpPr>
            <a:spLocks noGrp="1"/>
          </p:cNvSpPr>
          <p:nvPr>
            <p:ph type="sldNum" sz="quarter" idx="10"/>
          </p:nvPr>
        </p:nvSpPr>
        <p:spPr/>
        <p:txBody>
          <a:bodyPr/>
          <a:lstStyle/>
          <a:p>
            <a:fld id="{8A6A10D0-20D9-4461-9337-5FE1B4A402F6}" type="slidenum">
              <a:rPr lang="en-GB" smtClean="0"/>
              <a:t>4</a:t>
            </a:fld>
            <a:endParaRPr lang="en-GB" dirty="0"/>
          </a:p>
        </p:txBody>
      </p:sp>
    </p:spTree>
    <p:extLst>
      <p:ext uri="{BB962C8B-B14F-4D97-AF65-F5344CB8AC3E}">
        <p14:creationId xmlns:p14="http://schemas.microsoft.com/office/powerpoint/2010/main" val="2652503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4BAD4-0B0A-0211-AC71-8436D9675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C73D6-2DC2-DD46-8378-8A76F4B24137}"/>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2BE457F3-E8FE-24AC-3118-15FAC6D8AD0C}"/>
              </a:ext>
            </a:extLst>
          </p:cNvPr>
          <p:cNvSpPr>
            <a:spLocks noGrp="1"/>
          </p:cNvSpPr>
          <p:nvPr>
            <p:ph type="body" idx="1"/>
          </p:nvPr>
        </p:nvSpPr>
        <p:spPr/>
        <p:txBody>
          <a:bodyPr/>
          <a:lstStyle/>
          <a:p>
            <a:r>
              <a:rPr lang="en-GB" sz="2400" b="1" dirty="0">
                <a:highlight>
                  <a:scrgbClr r="0" g="0" b="0">
                    <a:alpha val="0"/>
                  </a:scrgbClr>
                </a:highlight>
              </a:rPr>
              <a:t>Q1. What is the nature of your data? ( how well you know your data)</a:t>
            </a:r>
          </a:p>
          <a:p>
            <a:pPr marL="800100" lvl="1" indent="-342900">
              <a:buFont typeface="Arial" panose="020B0604020202020204" pitchFamily="34" charset="0"/>
              <a:buChar char="•"/>
            </a:pPr>
            <a:r>
              <a:rPr lang="en-GB" sz="2400" dirty="0">
                <a:highlight>
                  <a:scrgbClr r="0" g="0" b="0">
                    <a:alpha val="0"/>
                  </a:scrgbClr>
                </a:highlight>
              </a:rPr>
              <a:t>How was the data collected (e.g. source, timeframe)?</a:t>
            </a:r>
          </a:p>
          <a:p>
            <a:pPr marL="800100" lvl="1" indent="-342900">
              <a:buFont typeface="Arial" panose="020B0604020202020204" pitchFamily="34" charset="0"/>
              <a:buChar char="•"/>
            </a:pPr>
            <a:r>
              <a:rPr lang="en-GB" sz="2400" dirty="0">
                <a:highlight>
                  <a:scrgbClr r="0" g="0" b="0">
                    <a:alpha val="0"/>
                  </a:scrgbClr>
                </a:highlight>
              </a:rPr>
              <a:t>How consistent is the data (e.g. content, formats, lengths)?</a:t>
            </a:r>
            <a:endParaRPr lang="en-GB" sz="2400" b="1" dirty="0">
              <a:highlight>
                <a:scrgbClr r="0" g="0" b="0">
                  <a:alpha val="0"/>
                </a:scrgbClr>
              </a:highlight>
            </a:endParaRPr>
          </a:p>
          <a:p>
            <a:endParaRPr lang="en-GB" sz="2400" b="1" dirty="0">
              <a:highlight>
                <a:scrgbClr r="0" g="0" b="0">
                  <a:alpha val="0"/>
                </a:scrgbClr>
              </a:highlight>
            </a:endParaRPr>
          </a:p>
          <a:p>
            <a:r>
              <a:rPr lang="en-GB" sz="2400" b="1" dirty="0">
                <a:highlight>
                  <a:scrgbClr r="0" g="0" b="0">
                    <a:alpha val="0"/>
                  </a:scrgbClr>
                </a:highlight>
              </a:rPr>
              <a:t>Q2. What is your analytical goal?</a:t>
            </a:r>
          </a:p>
          <a:p>
            <a:pPr marL="800100" lvl="1" indent="-342900">
              <a:buFont typeface="Arial" panose="020B0604020202020204" pitchFamily="34" charset="0"/>
              <a:buChar char="•"/>
            </a:pPr>
            <a:r>
              <a:rPr lang="en-GB" sz="2400" dirty="0">
                <a:highlight>
                  <a:scrgbClr r="0" g="0" b="0">
                    <a:alpha val="0"/>
                  </a:scrgbClr>
                </a:highlight>
              </a:rPr>
              <a:t>Do you want to test/classify against predetermined categories?</a:t>
            </a:r>
          </a:p>
          <a:p>
            <a:pPr marL="800100" lvl="1" indent="-342900">
              <a:buFont typeface="Arial" panose="020B0604020202020204" pitchFamily="34" charset="0"/>
              <a:buChar char="•"/>
            </a:pPr>
            <a:r>
              <a:rPr lang="en-GB" sz="2400" dirty="0">
                <a:highlight>
                  <a:scrgbClr r="0" g="0" b="0">
                    <a:alpha val="0"/>
                  </a:scrgbClr>
                </a:highlight>
              </a:rPr>
              <a:t>Do you want to identify patterns?</a:t>
            </a:r>
          </a:p>
          <a:p>
            <a:pPr marL="800100" lvl="1" indent="-342900">
              <a:buFont typeface="Arial" panose="020B0604020202020204" pitchFamily="34" charset="0"/>
              <a:buChar char="•"/>
            </a:pPr>
            <a:r>
              <a:rPr lang="en-GB" sz="2400" dirty="0">
                <a:highlight>
                  <a:scrgbClr r="0" g="0" b="0">
                    <a:alpha val="0"/>
                  </a:scrgbClr>
                </a:highlight>
              </a:rPr>
              <a:t>Or do you want to analyse arguments, meanings or make causal inferences?</a:t>
            </a:r>
          </a:p>
        </p:txBody>
      </p:sp>
      <p:sp>
        <p:nvSpPr>
          <p:cNvPr id="4" name="Slide Number Placeholder 3">
            <a:extLst>
              <a:ext uri="{FF2B5EF4-FFF2-40B4-BE49-F238E27FC236}">
                <a16:creationId xmlns:a16="http://schemas.microsoft.com/office/drawing/2014/main" id="{CA19014A-81BC-71CD-46C3-8B5FD2B5318B}"/>
              </a:ext>
            </a:extLst>
          </p:cNvPr>
          <p:cNvSpPr>
            <a:spLocks noGrp="1"/>
          </p:cNvSpPr>
          <p:nvPr>
            <p:ph type="sldNum" sz="quarter" idx="10"/>
          </p:nvPr>
        </p:nvSpPr>
        <p:spPr/>
        <p:txBody>
          <a:bodyPr/>
          <a:lstStyle/>
          <a:p>
            <a:fld id="{8A6A10D0-20D9-4461-9337-5FE1B4A402F6}" type="slidenum">
              <a:rPr lang="en-GB" smtClean="0"/>
              <a:t>5</a:t>
            </a:fld>
            <a:endParaRPr lang="en-GB" dirty="0"/>
          </a:p>
        </p:txBody>
      </p:sp>
    </p:spTree>
    <p:extLst>
      <p:ext uri="{BB962C8B-B14F-4D97-AF65-F5344CB8AC3E}">
        <p14:creationId xmlns:p14="http://schemas.microsoft.com/office/powerpoint/2010/main" val="1505999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C48B-0609-7987-C870-5630E40A3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671D6-2EB4-E77E-1D38-10F2B451FFA3}"/>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740834AB-7523-DAFE-66C9-DCCC2177B853}"/>
              </a:ext>
            </a:extLst>
          </p:cNvPr>
          <p:cNvSpPr>
            <a:spLocks noGrp="1"/>
          </p:cNvSpPr>
          <p:nvPr>
            <p:ph type="body" idx="1"/>
          </p:nvPr>
        </p:nvSpPr>
        <p:spPr/>
        <p:txBody>
          <a:bodyPr/>
          <a:lstStyle/>
          <a:p>
            <a:pPr>
              <a:buFont typeface="Arial" panose="020B0604020202020204" pitchFamily="34" charset="0"/>
              <a:buChar char="•"/>
            </a:pPr>
            <a:r>
              <a:rPr lang="en-GB" dirty="0"/>
              <a:t>Text classification is more effective and efficient given the case that you already know the data:</a:t>
            </a:r>
          </a:p>
          <a:p>
            <a:pPr lvl="1">
              <a:buFont typeface="Arial" panose="020B0604020202020204" pitchFamily="34" charset="0"/>
              <a:buChar char="•"/>
            </a:pPr>
            <a:r>
              <a:rPr lang="en-GB" dirty="0"/>
              <a:t>Spam messages (spam/ not spam)</a:t>
            </a:r>
          </a:p>
          <a:p>
            <a:pPr lvl="1">
              <a:buFont typeface="Arial" panose="020B0604020202020204" pitchFamily="34" charset="0"/>
              <a:buChar char="•"/>
            </a:pPr>
            <a:r>
              <a:rPr lang="en-GB" dirty="0"/>
              <a:t>User feedback (positive, neutral, negative)</a:t>
            </a:r>
          </a:p>
          <a:p>
            <a:pPr lvl="1">
              <a:buFont typeface="Arial" panose="020B0604020202020204" pitchFamily="34" charset="0"/>
              <a:buChar char="•"/>
            </a:pPr>
            <a:r>
              <a:rPr lang="en-GB" dirty="0"/>
              <a:t>News (sport, economy, and politics)</a:t>
            </a:r>
          </a:p>
          <a:p>
            <a:pPr lvl="1">
              <a:buFont typeface="Arial" panose="020B0604020202020204" pitchFamily="34" charset="0"/>
              <a:buChar char="•"/>
            </a:pPr>
            <a:endParaRPr lang="en-GB" dirty="0"/>
          </a:p>
          <a:p>
            <a:pPr lvl="0">
              <a:buFont typeface="Arial" panose="020B0604020202020204" pitchFamily="34" charset="0"/>
              <a:buChar char="•"/>
            </a:pPr>
            <a:r>
              <a:rPr lang="en-GB" dirty="0"/>
              <a:t>Topic modelling is used in exploring text</a:t>
            </a:r>
          </a:p>
          <a:p>
            <a:pPr lvl="1">
              <a:buFont typeface="Arial" panose="020B0604020202020204" pitchFamily="34" charset="0"/>
              <a:buChar char="•"/>
            </a:pPr>
            <a:r>
              <a:rPr lang="en-GB" dirty="0"/>
              <a:t>Social media post during election ( economy, political party, energy issue)</a:t>
            </a:r>
          </a:p>
          <a:p>
            <a:pPr lvl="0">
              <a:buFont typeface="Arial" panose="020B0604020202020204" pitchFamily="34" charset="0"/>
              <a:buChar char="•"/>
            </a:pPr>
            <a:r>
              <a:rPr lang="en-GB" dirty="0"/>
              <a:t>See topic modelling as </a:t>
            </a:r>
            <a:r>
              <a:rPr lang="en-GB" i="1" dirty="0"/>
              <a:t>exploratory</a:t>
            </a:r>
            <a:r>
              <a:rPr lang="en-GB" dirty="0"/>
              <a:t> or as part of a broader analytical pipeline?</a:t>
            </a:r>
          </a:p>
          <a:p>
            <a:pPr lvl="1">
              <a:buFont typeface="Arial" panose="020B0604020202020204" pitchFamily="34" charset="0"/>
              <a:buChar char="•"/>
            </a:pPr>
            <a:endParaRPr lang="en-GB" dirty="0"/>
          </a:p>
          <a:p>
            <a:pPr lvl="1">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03233D7E-68FE-32E9-BFC7-8751C6342A75}"/>
              </a:ext>
            </a:extLst>
          </p:cNvPr>
          <p:cNvSpPr>
            <a:spLocks noGrp="1"/>
          </p:cNvSpPr>
          <p:nvPr>
            <p:ph type="sldNum" sz="quarter" idx="10"/>
          </p:nvPr>
        </p:nvSpPr>
        <p:spPr/>
        <p:txBody>
          <a:bodyPr/>
          <a:lstStyle/>
          <a:p>
            <a:fld id="{8A6A10D0-20D9-4461-9337-5FE1B4A402F6}" type="slidenum">
              <a:rPr lang="en-GB" smtClean="0"/>
              <a:t>6</a:t>
            </a:fld>
            <a:endParaRPr lang="en-GB" dirty="0"/>
          </a:p>
        </p:txBody>
      </p:sp>
    </p:spTree>
    <p:extLst>
      <p:ext uri="{BB962C8B-B14F-4D97-AF65-F5344CB8AC3E}">
        <p14:creationId xmlns:p14="http://schemas.microsoft.com/office/powerpoint/2010/main" val="2298529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FC364-0810-1A73-C7C4-57E0B2091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7EA63-0FE6-6F19-EAAF-856BCE60EFB0}"/>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BCA2048E-2E35-5315-57D3-A8462056FBB9}"/>
              </a:ext>
            </a:extLst>
          </p:cNvPr>
          <p:cNvSpPr>
            <a:spLocks noGrp="1"/>
          </p:cNvSpPr>
          <p:nvPr>
            <p:ph type="body" idx="1"/>
          </p:nvPr>
        </p:nvSpPr>
        <p:spPr/>
        <p:txBody>
          <a:bodyPr/>
          <a:lstStyle/>
          <a:p>
            <a:pPr>
              <a:buFont typeface="Arial" panose="020B0604020202020204" pitchFamily="34" charset="0"/>
              <a:buChar char="•"/>
            </a:pPr>
            <a:r>
              <a:rPr lang="en-GB" dirty="0"/>
              <a:t>In plain language</a:t>
            </a:r>
          </a:p>
        </p:txBody>
      </p:sp>
      <p:sp>
        <p:nvSpPr>
          <p:cNvPr id="4" name="Slide Number Placeholder 3">
            <a:extLst>
              <a:ext uri="{FF2B5EF4-FFF2-40B4-BE49-F238E27FC236}">
                <a16:creationId xmlns:a16="http://schemas.microsoft.com/office/drawing/2014/main" id="{8C4BD71F-CA41-ED34-2563-57C1F6AF3C14}"/>
              </a:ext>
            </a:extLst>
          </p:cNvPr>
          <p:cNvSpPr>
            <a:spLocks noGrp="1"/>
          </p:cNvSpPr>
          <p:nvPr>
            <p:ph type="sldNum" sz="quarter" idx="10"/>
          </p:nvPr>
        </p:nvSpPr>
        <p:spPr/>
        <p:txBody>
          <a:bodyPr/>
          <a:lstStyle/>
          <a:p>
            <a:fld id="{8A6A10D0-20D9-4461-9337-5FE1B4A402F6}" type="slidenum">
              <a:rPr lang="en-GB" smtClean="0"/>
              <a:t>7</a:t>
            </a:fld>
            <a:endParaRPr lang="en-GB" dirty="0"/>
          </a:p>
        </p:txBody>
      </p:sp>
    </p:spTree>
    <p:extLst>
      <p:ext uri="{BB962C8B-B14F-4D97-AF65-F5344CB8AC3E}">
        <p14:creationId xmlns:p14="http://schemas.microsoft.com/office/powerpoint/2010/main" val="3857957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4E14-79E8-8F1A-3085-9968AD770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D12AF-36B6-2D34-52C9-D3EEAA44139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9E43ADC7-73FA-506E-ED0D-7EBB194779B8}"/>
              </a:ext>
            </a:extLst>
          </p:cNvPr>
          <p:cNvSpPr>
            <a:spLocks noGrp="1"/>
          </p:cNvSpPr>
          <p:nvPr>
            <p:ph type="body" idx="1"/>
          </p:nvPr>
        </p:nvSpPr>
        <p:spPr/>
        <p:txBody>
          <a:bodyPr/>
          <a:lstStyle/>
          <a:p>
            <a:pPr>
              <a:buFont typeface="Arial" panose="020B0604020202020204" pitchFamily="34" charset="0"/>
              <a:buChar char="•"/>
            </a:pPr>
            <a:r>
              <a:rPr lang="en-GB" dirty="0"/>
              <a:t>Text classification is more effective and efficient given the case that you already know the data:</a:t>
            </a:r>
          </a:p>
          <a:p>
            <a:pPr lvl="1">
              <a:buFont typeface="Arial" panose="020B0604020202020204" pitchFamily="34" charset="0"/>
              <a:buChar char="•"/>
            </a:pPr>
            <a:r>
              <a:rPr lang="en-GB" dirty="0"/>
              <a:t>Spam messages (spam/ not spam)</a:t>
            </a:r>
          </a:p>
          <a:p>
            <a:pPr lvl="1">
              <a:buFont typeface="Arial" panose="020B0604020202020204" pitchFamily="34" charset="0"/>
              <a:buChar char="•"/>
            </a:pPr>
            <a:r>
              <a:rPr lang="en-GB" dirty="0"/>
              <a:t>User feedback (positive, neutral, negative)</a:t>
            </a:r>
          </a:p>
          <a:p>
            <a:pPr lvl="1">
              <a:buFont typeface="Arial" panose="020B0604020202020204" pitchFamily="34" charset="0"/>
              <a:buChar char="•"/>
            </a:pPr>
            <a:r>
              <a:rPr lang="en-GB" dirty="0"/>
              <a:t>News (sport, economy, and politics)</a:t>
            </a:r>
          </a:p>
          <a:p>
            <a:pPr lvl="1">
              <a:buFont typeface="Arial" panose="020B0604020202020204" pitchFamily="34" charset="0"/>
              <a:buChar char="•"/>
            </a:pPr>
            <a:endParaRPr lang="en-GB" dirty="0"/>
          </a:p>
          <a:p>
            <a:pPr lvl="0">
              <a:buFont typeface="Arial" panose="020B0604020202020204" pitchFamily="34" charset="0"/>
              <a:buChar char="•"/>
            </a:pPr>
            <a:r>
              <a:rPr lang="en-GB" dirty="0"/>
              <a:t>Topic modelling is used in exploring text</a:t>
            </a:r>
          </a:p>
          <a:p>
            <a:pPr lvl="1">
              <a:buFont typeface="Arial" panose="020B0604020202020204" pitchFamily="34" charset="0"/>
              <a:buChar char="•"/>
            </a:pPr>
            <a:r>
              <a:rPr lang="en-GB" dirty="0"/>
              <a:t>Social media post during election ( economy, political party, energy issue)</a:t>
            </a:r>
          </a:p>
          <a:p>
            <a:pPr lvl="0">
              <a:buFont typeface="Arial" panose="020B0604020202020204" pitchFamily="34" charset="0"/>
              <a:buChar char="•"/>
            </a:pPr>
            <a:r>
              <a:rPr lang="en-GB" dirty="0"/>
              <a:t>See topic modelling as </a:t>
            </a:r>
            <a:r>
              <a:rPr lang="en-GB" i="1" dirty="0"/>
              <a:t>exploratory</a:t>
            </a:r>
            <a:r>
              <a:rPr lang="en-GB" dirty="0"/>
              <a:t> or as part of a broader analytical pipeline?</a:t>
            </a:r>
          </a:p>
          <a:p>
            <a:pPr lvl="1">
              <a:buFont typeface="Arial" panose="020B0604020202020204" pitchFamily="34" charset="0"/>
              <a:buChar char="•"/>
            </a:pPr>
            <a:endParaRPr lang="en-GB" dirty="0"/>
          </a:p>
          <a:p>
            <a:pPr lvl="1">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810C3B50-5A3C-D2DC-6AE6-B18D690C7BA7}"/>
              </a:ext>
            </a:extLst>
          </p:cNvPr>
          <p:cNvSpPr>
            <a:spLocks noGrp="1"/>
          </p:cNvSpPr>
          <p:nvPr>
            <p:ph type="sldNum" sz="quarter" idx="10"/>
          </p:nvPr>
        </p:nvSpPr>
        <p:spPr/>
        <p:txBody>
          <a:bodyPr/>
          <a:lstStyle/>
          <a:p>
            <a:fld id="{8A6A10D0-20D9-4461-9337-5FE1B4A402F6}" type="slidenum">
              <a:rPr lang="en-GB" smtClean="0"/>
              <a:t>8</a:t>
            </a:fld>
            <a:endParaRPr lang="en-GB" dirty="0"/>
          </a:p>
        </p:txBody>
      </p:sp>
    </p:spTree>
    <p:extLst>
      <p:ext uri="{BB962C8B-B14F-4D97-AF65-F5344CB8AC3E}">
        <p14:creationId xmlns:p14="http://schemas.microsoft.com/office/powerpoint/2010/main" val="54026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D8E6-71B5-F19A-C9D5-8BA29712C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2A411-57B2-27BC-9707-C75AFC8C298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B2F3F848-C7AB-EEF8-291B-A7EEF169EC48}"/>
              </a:ext>
            </a:extLst>
          </p:cNvPr>
          <p:cNvSpPr>
            <a:spLocks noGrp="1"/>
          </p:cNvSpPr>
          <p:nvPr>
            <p:ph type="body" idx="1"/>
          </p:nvPr>
        </p:nvSpPr>
        <p:spPr/>
        <p:txBody>
          <a:bodyPr/>
          <a:lstStyle/>
          <a:p>
            <a:r>
              <a:rPr lang="en-GB" sz="2000" b="1" dirty="0"/>
              <a:t>What themes appear in collection of documents?</a:t>
            </a:r>
          </a:p>
          <a:p>
            <a:r>
              <a:rPr lang="en-GB" sz="2000" dirty="0"/>
              <a:t>Topic modelling is designed for discovering themes across large corpora.</a:t>
            </a:r>
          </a:p>
          <a:p>
            <a:endParaRPr lang="en-GB" sz="2000" dirty="0"/>
          </a:p>
          <a:p>
            <a:r>
              <a:rPr lang="en-GB" sz="2000" b="1" dirty="0"/>
              <a:t>2. How do discussions about a specific issue change over time?</a:t>
            </a:r>
          </a:p>
          <a:p>
            <a:r>
              <a:rPr lang="en-GB" sz="2000" dirty="0"/>
              <a:t>✔ </a:t>
            </a:r>
            <a:r>
              <a:rPr lang="en-GB" sz="2000" b="1" dirty="0"/>
              <a:t>Suitable (with caution)</a:t>
            </a:r>
            <a:br>
              <a:rPr lang="en-GB" sz="2000" dirty="0"/>
            </a:br>
            <a:r>
              <a:rPr lang="en-GB" sz="2000" dirty="0"/>
              <a:t>It can track topic prevalence over time, but interpretation still requires care.</a:t>
            </a:r>
          </a:p>
          <a:p>
            <a:br>
              <a:rPr lang="en-GB" sz="2000" dirty="0"/>
            </a:br>
            <a:endParaRPr lang="en-GB" sz="2000" dirty="0"/>
          </a:p>
          <a:p>
            <a:r>
              <a:rPr lang="en-GB" sz="2000" b="1" dirty="0"/>
              <a:t>3. How do different organisations emphasise different issues?</a:t>
            </a:r>
          </a:p>
          <a:p>
            <a:r>
              <a:rPr lang="en-GB" sz="2000" dirty="0"/>
              <a:t>✔ </a:t>
            </a:r>
            <a:r>
              <a:rPr lang="en-GB" sz="2000" b="1" dirty="0"/>
              <a:t>Suitable</a:t>
            </a:r>
            <a:br>
              <a:rPr lang="en-GB" sz="2000" dirty="0"/>
            </a:br>
            <a:r>
              <a:rPr lang="en-GB" sz="2000" dirty="0"/>
              <a:t>Useful for comparing topic distributions across groups (e.g. NGOs vs companies).</a:t>
            </a:r>
          </a:p>
          <a:p>
            <a:br>
              <a:rPr lang="en-GB" sz="2000" dirty="0"/>
            </a:br>
            <a:endParaRPr lang="en-GB" sz="2000" dirty="0"/>
          </a:p>
          <a:p>
            <a:r>
              <a:rPr lang="en-GB" sz="2000" b="1" dirty="0"/>
              <a:t>4. What is the author’s main argument in this document?</a:t>
            </a:r>
          </a:p>
          <a:p>
            <a:r>
              <a:rPr lang="en-GB" sz="2000" dirty="0"/>
              <a:t>✘ </a:t>
            </a:r>
            <a:r>
              <a:rPr lang="en-GB" sz="2000" b="1" dirty="0"/>
              <a:t>Not suitable</a:t>
            </a:r>
            <a:br>
              <a:rPr lang="en-GB" sz="2000" dirty="0"/>
            </a:br>
            <a:r>
              <a:rPr lang="en-GB" sz="2000" dirty="0"/>
              <a:t>Topic modelling identifies patterns, not coherent arguments or reasoning.</a:t>
            </a:r>
          </a:p>
          <a:p>
            <a:br>
              <a:rPr lang="en-GB" sz="2000" dirty="0"/>
            </a:br>
            <a:endParaRPr lang="en-GB" sz="2000" dirty="0"/>
          </a:p>
          <a:p>
            <a:r>
              <a:rPr lang="en-GB" sz="2000" b="1" dirty="0"/>
              <a:t>5. Is this text supportive or critical of a policy/idea?</a:t>
            </a:r>
          </a:p>
          <a:p>
            <a:r>
              <a:rPr lang="en-GB" sz="2000" dirty="0"/>
              <a:t>✘ </a:t>
            </a:r>
            <a:r>
              <a:rPr lang="en-GB" sz="2000" b="1" dirty="0"/>
              <a:t>Not suitable</a:t>
            </a:r>
            <a:br>
              <a:rPr lang="en-GB" sz="2000" dirty="0"/>
            </a:br>
            <a:r>
              <a:rPr lang="en-GB" sz="2000" dirty="0"/>
              <a:t>This is about sentiment or stance; topic modelling does not capture evaluation or tone.</a:t>
            </a:r>
          </a:p>
          <a:p>
            <a:br>
              <a:rPr lang="en-GB" sz="2000" dirty="0"/>
            </a:br>
            <a:endParaRPr lang="en-GB" sz="2000" dirty="0"/>
          </a:p>
          <a:p>
            <a:r>
              <a:rPr lang="en-GB" sz="2000" b="1" dirty="0"/>
              <a:t>6. What causes a particular issue or outcome?</a:t>
            </a:r>
          </a:p>
          <a:p>
            <a:r>
              <a:rPr lang="en-GB" sz="2000" dirty="0"/>
              <a:t>✘ </a:t>
            </a:r>
            <a:r>
              <a:rPr lang="en-GB" sz="2000" b="1" dirty="0"/>
              <a:t>Not suitable</a:t>
            </a:r>
            <a:br>
              <a:rPr lang="en-GB" sz="2000" dirty="0"/>
            </a:br>
            <a:r>
              <a:rPr lang="en-GB" sz="2000" dirty="0"/>
              <a:t>Topic modelling is descriptive, not causal—it cannot explain </a:t>
            </a:r>
            <a:r>
              <a:rPr lang="en-GB" sz="2000" i="1" dirty="0"/>
              <a:t>why</a:t>
            </a:r>
            <a:r>
              <a:rPr lang="en-GB" sz="2000" dirty="0"/>
              <a:t> something happens.</a:t>
            </a:r>
          </a:p>
          <a:p>
            <a:pPr>
              <a:buFont typeface="Arial" panose="020B0604020202020204" pitchFamily="34" charset="0"/>
              <a:buChar char="•"/>
            </a:pPr>
            <a:endParaRPr lang="en-GB" sz="2000" dirty="0"/>
          </a:p>
          <a:p>
            <a:br>
              <a:rPr lang="en-GB" sz="2000" dirty="0"/>
            </a:br>
            <a:endParaRPr lang="en-GB" sz="2000" dirty="0"/>
          </a:p>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2BF174E4-8797-009A-91B1-398ACAAE2B03}"/>
              </a:ext>
            </a:extLst>
          </p:cNvPr>
          <p:cNvSpPr>
            <a:spLocks noGrp="1"/>
          </p:cNvSpPr>
          <p:nvPr>
            <p:ph type="sldNum" sz="quarter" idx="10"/>
          </p:nvPr>
        </p:nvSpPr>
        <p:spPr/>
        <p:txBody>
          <a:bodyPr/>
          <a:lstStyle/>
          <a:p>
            <a:fld id="{8A6A10D0-20D9-4461-9337-5FE1B4A402F6}" type="slidenum">
              <a:rPr lang="en-GB" smtClean="0"/>
              <a:t>9</a:t>
            </a:fld>
            <a:endParaRPr lang="en-GB" dirty="0"/>
          </a:p>
        </p:txBody>
      </p:sp>
    </p:spTree>
    <p:extLst>
      <p:ext uri="{BB962C8B-B14F-4D97-AF65-F5344CB8AC3E}">
        <p14:creationId xmlns:p14="http://schemas.microsoft.com/office/powerpoint/2010/main" val="202187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938B-4835-9FA2-1B29-D57E9E97A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14CAB-796F-032D-ACC4-1C5BB77DB132}"/>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3DDCAA61-85BF-4EB0-E2AB-17A3AA434BD6}"/>
              </a:ext>
            </a:extLst>
          </p:cNvPr>
          <p:cNvSpPr>
            <a:spLocks noGrp="1"/>
          </p:cNvSpPr>
          <p:nvPr>
            <p:ph type="body" idx="1"/>
          </p:nvPr>
        </p:nvSpPr>
        <p:spPr/>
        <p:txBody>
          <a:bodyPr/>
          <a:lstStyle/>
          <a:p>
            <a:pPr>
              <a:buFont typeface="Arial" panose="020B0604020202020204" pitchFamily="34" charset="0"/>
              <a:buChar char="•"/>
            </a:pPr>
            <a:r>
              <a:rPr lang="en-GB" dirty="0"/>
              <a:t>At each step it splits on the feature that best separates the groups</a:t>
            </a:r>
          </a:p>
          <a:p>
            <a:pPr>
              <a:buFont typeface="Arial" panose="020B0604020202020204" pitchFamily="34" charset="0"/>
              <a:buChar char="•"/>
            </a:pPr>
            <a:r>
              <a:rPr lang="en-GB" dirty="0"/>
              <a:t>Follows branches until it reaches a prediction (a "leaf")</a:t>
            </a:r>
          </a:p>
        </p:txBody>
      </p:sp>
      <p:sp>
        <p:nvSpPr>
          <p:cNvPr id="4" name="Slide Number Placeholder 3">
            <a:extLst>
              <a:ext uri="{FF2B5EF4-FFF2-40B4-BE49-F238E27FC236}">
                <a16:creationId xmlns:a16="http://schemas.microsoft.com/office/drawing/2014/main" id="{C34331C5-96D7-B8BD-9B6B-173F0511B2DB}"/>
              </a:ext>
            </a:extLst>
          </p:cNvPr>
          <p:cNvSpPr>
            <a:spLocks noGrp="1"/>
          </p:cNvSpPr>
          <p:nvPr>
            <p:ph type="sldNum" sz="quarter" idx="10"/>
          </p:nvPr>
        </p:nvSpPr>
        <p:spPr/>
        <p:txBody>
          <a:bodyPr/>
          <a:lstStyle/>
          <a:p>
            <a:fld id="{8A6A10D0-20D9-4461-9337-5FE1B4A402F6}" type="slidenum">
              <a:rPr lang="en-GB" smtClean="0"/>
              <a:t>10</a:t>
            </a:fld>
            <a:endParaRPr lang="en-GB" dirty="0"/>
          </a:p>
        </p:txBody>
      </p:sp>
    </p:spTree>
    <p:extLst>
      <p:ext uri="{BB962C8B-B14F-4D97-AF65-F5344CB8AC3E}">
        <p14:creationId xmlns:p14="http://schemas.microsoft.com/office/powerpoint/2010/main" val="2135372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BF334-3572-8596-0BA2-614D3EAC0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8C2E0-498B-950D-D1D7-7DBA966F0D8F}"/>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9122747-D5A5-18A9-96D1-73339F220FA8}"/>
              </a:ext>
            </a:extLst>
          </p:cNvPr>
          <p:cNvSpPr>
            <a:spLocks noGrp="1"/>
          </p:cNvSpPr>
          <p:nvPr>
            <p:ph type="body" idx="1"/>
          </p:nvPr>
        </p:nvSpPr>
        <p:spPr/>
        <p:txBody>
          <a:bodyPr/>
          <a:lstStyle/>
          <a:p>
            <a:pPr marL="216000" marR="0" lvl="0" indent="-216000" defTabSz="914400" eaLnBrk="1" fontAlgn="auto" latinLnBrk="0" hangingPunct="0">
              <a:lnSpc>
                <a:spcPct val="100000"/>
              </a:lnSpc>
              <a:spcBef>
                <a:spcPts val="0"/>
              </a:spcBef>
              <a:spcAft>
                <a:spcPts val="0"/>
              </a:spcAft>
              <a:buClrTx/>
              <a:buSzTx/>
              <a:buFontTx/>
              <a:buNone/>
              <a:tabLst/>
              <a:defRPr/>
            </a:pPr>
            <a:r>
              <a:rPr lang="en-GB" dirty="0"/>
              <a:t>In supervised learning task, the categories for prediction are defined by you.</a:t>
            </a:r>
          </a:p>
          <a:p>
            <a:r>
              <a:rPr lang="en-GB" dirty="0"/>
              <a:t>you usually have a question you want to answer in mind, and it also means that you need to know the data.</a:t>
            </a:r>
          </a:p>
          <a:p>
            <a:endParaRPr lang="en-GB" dirty="0"/>
          </a:p>
          <a:p>
            <a:r>
              <a:rPr lang="en-GB" dirty="0"/>
              <a:t>For example, last week we talked about OCR. </a:t>
            </a:r>
          </a:p>
          <a:p>
            <a:r>
              <a:rPr lang="en-GB" dirty="0"/>
              <a:t>The category will be the 26 alphabet and spaces and punctuation. </a:t>
            </a:r>
          </a:p>
          <a:p>
            <a:r>
              <a:rPr lang="en-GB" dirty="0"/>
              <a:t>but I wouldn’t work if your data is in a different language, such as </a:t>
            </a:r>
            <a:r>
              <a:rPr lang="en-GB" dirty="0" err="1"/>
              <a:t>Japanese.or</a:t>
            </a:r>
            <a:r>
              <a:rPr lang="en-GB" dirty="0"/>
              <a:t> it has special characters in it. </a:t>
            </a:r>
          </a:p>
          <a:p>
            <a:endParaRPr lang="en-GB" dirty="0"/>
          </a:p>
          <a:p>
            <a:r>
              <a:rPr lang="en-GB" dirty="0"/>
              <a:t>In a more research based context, I worked on the dataset of the physical signal ,and we tied to use it to predict emotions. In this case, we will need to know how to </a:t>
            </a:r>
            <a:r>
              <a:rPr lang="en-GB" dirty="0" err="1"/>
              <a:t>definde</a:t>
            </a:r>
            <a:r>
              <a:rPr lang="en-GB" dirty="0"/>
              <a:t> emotion right?</a:t>
            </a:r>
          </a:p>
          <a:p>
            <a:r>
              <a:rPr lang="en-GB" dirty="0"/>
              <a:t>Would it be categorical such as happy, sad, angry? Or would it be continuous along 2 axis? Such as positive-negative and strong and weak. For me those are difficult to define, and that’s part of the reason why we unsupervised learning task comes in handy, because it allows you to explore the data without predefined labels.   </a:t>
            </a:r>
          </a:p>
          <a:p>
            <a:endParaRPr lang="en-GB" dirty="0"/>
          </a:p>
          <a:p>
            <a:r>
              <a:rPr lang="en-GB" dirty="0"/>
              <a:t>However, supervised learning is still very useful, because it generally requires less computation capacity compared to neural networks but still generate pretty good results. </a:t>
            </a:r>
          </a:p>
          <a:p>
            <a:r>
              <a:rPr lang="en-GB" dirty="0"/>
              <a:t>and today we are going to learn 3 more different structure, decision tree, K nearest </a:t>
            </a:r>
            <a:r>
              <a:rPr lang="en-GB" dirty="0" err="1"/>
              <a:t>neighbor</a:t>
            </a:r>
            <a:r>
              <a:rPr lang="en-GB" dirty="0"/>
              <a:t>, and linear regression.</a:t>
            </a:r>
          </a:p>
          <a:p>
            <a:endParaRPr lang="en-GB" dirty="0"/>
          </a:p>
        </p:txBody>
      </p:sp>
      <p:sp>
        <p:nvSpPr>
          <p:cNvPr id="4" name="Slide Number Placeholder 3">
            <a:extLst>
              <a:ext uri="{FF2B5EF4-FFF2-40B4-BE49-F238E27FC236}">
                <a16:creationId xmlns:a16="http://schemas.microsoft.com/office/drawing/2014/main" id="{8636E2C5-235F-F629-3126-66C8BDE39588}"/>
              </a:ext>
            </a:extLst>
          </p:cNvPr>
          <p:cNvSpPr>
            <a:spLocks noGrp="1"/>
          </p:cNvSpPr>
          <p:nvPr>
            <p:ph type="sldNum" sz="quarter" idx="10"/>
          </p:nvPr>
        </p:nvSpPr>
        <p:spPr/>
        <p:txBody>
          <a:bodyPr/>
          <a:lstStyle/>
          <a:p>
            <a:fld id="{8A6A10D0-20D9-4461-9337-5FE1B4A402F6}" type="slidenum">
              <a:rPr lang="en-GB" smtClean="0"/>
              <a:t>11</a:t>
            </a:fld>
            <a:endParaRPr lang="en-GB" dirty="0"/>
          </a:p>
        </p:txBody>
      </p:sp>
    </p:spTree>
    <p:extLst>
      <p:ext uri="{BB962C8B-B14F-4D97-AF65-F5344CB8AC3E}">
        <p14:creationId xmlns:p14="http://schemas.microsoft.com/office/powerpoint/2010/main" val="3011784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DF8A-E517-9E79-6F8C-9842C8D92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F0051-7CDB-CC18-B295-5746D0CA075D}"/>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60BF026E-4629-6345-4D1C-04D6FC885D82}"/>
              </a:ext>
            </a:extLst>
          </p:cNvPr>
          <p:cNvSpPr>
            <a:spLocks noGrp="1"/>
          </p:cNvSpPr>
          <p:nvPr>
            <p:ph type="body" idx="1"/>
          </p:nvPr>
        </p:nvSpPr>
        <p:spPr/>
        <p:txBody>
          <a:bodyPr/>
          <a:lstStyle/>
          <a:p>
            <a:pPr>
              <a:buFont typeface="Arial" panose="020B0604020202020204" pitchFamily="34" charset="0"/>
              <a:buChar char="•"/>
            </a:pPr>
            <a:r>
              <a:rPr lang="en-GB" dirty="0"/>
              <a:t>At each step it splits on the feature that best separates the groups</a:t>
            </a:r>
          </a:p>
          <a:p>
            <a:pPr>
              <a:buFont typeface="Arial" panose="020B0604020202020204" pitchFamily="34" charset="0"/>
              <a:buChar char="•"/>
            </a:pPr>
            <a:r>
              <a:rPr lang="en-GB" dirty="0"/>
              <a:t>Follows branches until it reaches a prediction (a "leaf")</a:t>
            </a:r>
          </a:p>
        </p:txBody>
      </p:sp>
      <p:sp>
        <p:nvSpPr>
          <p:cNvPr id="4" name="Slide Number Placeholder 3">
            <a:extLst>
              <a:ext uri="{FF2B5EF4-FFF2-40B4-BE49-F238E27FC236}">
                <a16:creationId xmlns:a16="http://schemas.microsoft.com/office/drawing/2014/main" id="{F5755EC0-6A15-179E-328D-95C0F54DCB32}"/>
              </a:ext>
            </a:extLst>
          </p:cNvPr>
          <p:cNvSpPr>
            <a:spLocks noGrp="1"/>
          </p:cNvSpPr>
          <p:nvPr>
            <p:ph type="sldNum" sz="quarter" idx="10"/>
          </p:nvPr>
        </p:nvSpPr>
        <p:spPr/>
        <p:txBody>
          <a:bodyPr/>
          <a:lstStyle/>
          <a:p>
            <a:fld id="{8A6A10D0-20D9-4461-9337-5FE1B4A402F6}" type="slidenum">
              <a:rPr lang="en-GB" smtClean="0"/>
              <a:t>12</a:t>
            </a:fld>
            <a:endParaRPr lang="en-GB" dirty="0"/>
          </a:p>
        </p:txBody>
      </p:sp>
    </p:spTree>
    <p:extLst>
      <p:ext uri="{BB962C8B-B14F-4D97-AF65-F5344CB8AC3E}">
        <p14:creationId xmlns:p14="http://schemas.microsoft.com/office/powerpoint/2010/main" val="3740753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00988-FA74-5948-1D35-762A604B4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798BB-49FC-AE67-EC46-1AFB64007778}"/>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602489FC-4E00-A737-174E-CA9E5B7071BF}"/>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1AB5BD84-B049-CBF6-6A92-1031B9D5939E}"/>
              </a:ext>
            </a:extLst>
          </p:cNvPr>
          <p:cNvSpPr>
            <a:spLocks noGrp="1"/>
          </p:cNvSpPr>
          <p:nvPr>
            <p:ph type="sldNum" sz="quarter" idx="10"/>
          </p:nvPr>
        </p:nvSpPr>
        <p:spPr/>
        <p:txBody>
          <a:bodyPr/>
          <a:lstStyle/>
          <a:p>
            <a:fld id="{8A6A10D0-20D9-4461-9337-5FE1B4A402F6}" type="slidenum">
              <a:rPr lang="en-GB" smtClean="0"/>
              <a:t>13</a:t>
            </a:fld>
            <a:endParaRPr lang="en-GB" dirty="0"/>
          </a:p>
        </p:txBody>
      </p:sp>
    </p:spTree>
    <p:extLst>
      <p:ext uri="{BB962C8B-B14F-4D97-AF65-F5344CB8AC3E}">
        <p14:creationId xmlns:p14="http://schemas.microsoft.com/office/powerpoint/2010/main" val="3337218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433BD-FDA7-0DD6-C88C-E390124C4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60B10-7D3B-18E9-81DF-BCF93407668C}"/>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E3D48880-9D68-2B50-A6F3-29650225430F}"/>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802C2A03-351D-09BB-4CC4-E83EAC0A9882}"/>
              </a:ext>
            </a:extLst>
          </p:cNvPr>
          <p:cNvSpPr>
            <a:spLocks noGrp="1"/>
          </p:cNvSpPr>
          <p:nvPr>
            <p:ph type="sldNum" sz="quarter" idx="10"/>
          </p:nvPr>
        </p:nvSpPr>
        <p:spPr/>
        <p:txBody>
          <a:bodyPr/>
          <a:lstStyle/>
          <a:p>
            <a:fld id="{8A6A10D0-20D9-4461-9337-5FE1B4A402F6}" type="slidenum">
              <a:rPr lang="en-GB" smtClean="0"/>
              <a:t>14</a:t>
            </a:fld>
            <a:endParaRPr lang="en-GB" dirty="0"/>
          </a:p>
        </p:txBody>
      </p:sp>
    </p:spTree>
    <p:extLst>
      <p:ext uri="{BB962C8B-B14F-4D97-AF65-F5344CB8AC3E}">
        <p14:creationId xmlns:p14="http://schemas.microsoft.com/office/powerpoint/2010/main" val="35909758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dirty="0"/>
              <a:t>Easy to visualize and explain</a:t>
            </a:r>
          </a:p>
          <a:p>
            <a:endParaRPr lang="en-US" dirty="0"/>
          </a:p>
          <a:p>
            <a:r>
              <a:rPr lang="en-US" dirty="0"/>
              <a:t>What does it mean Sensitive to small change in data?</a:t>
            </a:r>
          </a:p>
          <a:p>
            <a:r>
              <a:rPr lang="en-US" dirty="0"/>
              <a:t>For example if you change the age category into under 15, 15-60 and 60+ the model will generate a completely different tree. </a:t>
            </a:r>
          </a:p>
          <a:p>
            <a:r>
              <a:rPr lang="en-US" dirty="0"/>
              <a:t>This means that the model is less stable and it also means that the quality of your data will affect the results more significantly.</a:t>
            </a:r>
          </a:p>
        </p:txBody>
      </p:sp>
      <p:sp>
        <p:nvSpPr>
          <p:cNvPr id="4" name="Slide Number Placeholder 3"/>
          <p:cNvSpPr>
            <a:spLocks noGrp="1"/>
          </p:cNvSpPr>
          <p:nvPr>
            <p:ph type="sldNum" sz="quarter" idx="5"/>
          </p:nvPr>
        </p:nvSpPr>
        <p:spPr/>
        <p:txBody>
          <a:bodyPr/>
          <a:lstStyle/>
          <a:p>
            <a:pPr lvl="0"/>
            <a:fld id="{8E2BB4A0-B145-1246-A0C1-B534948BCD4F}" type="slidenum">
              <a:rPr lang="en-GB" smtClean="0"/>
              <a:t>15</a:t>
            </a:fld>
            <a:endParaRPr lang="en-GB"/>
          </a:p>
        </p:txBody>
      </p:sp>
    </p:spTree>
    <p:extLst>
      <p:ext uri="{BB962C8B-B14F-4D97-AF65-F5344CB8AC3E}">
        <p14:creationId xmlns:p14="http://schemas.microsoft.com/office/powerpoint/2010/main" val="4293414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DDAAF-FADC-44BC-0586-F2071C299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5413B-7E6B-52F4-75EC-9C3FB06D8939}"/>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30BCDF5F-728F-09C5-E675-9A38BFB122DB}"/>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4FEE5AC-F3C9-68A3-804A-F5D009B4AA2E}"/>
              </a:ext>
            </a:extLst>
          </p:cNvPr>
          <p:cNvSpPr>
            <a:spLocks noGrp="1"/>
          </p:cNvSpPr>
          <p:nvPr>
            <p:ph type="sldNum" sz="quarter" idx="10"/>
          </p:nvPr>
        </p:nvSpPr>
        <p:spPr/>
        <p:txBody>
          <a:bodyPr/>
          <a:lstStyle/>
          <a:p>
            <a:fld id="{8A6A10D0-20D9-4461-9337-5FE1B4A402F6}" type="slidenum">
              <a:rPr lang="en-GB" smtClean="0"/>
              <a:t>16</a:t>
            </a:fld>
            <a:endParaRPr lang="en-GB" dirty="0"/>
          </a:p>
        </p:txBody>
      </p:sp>
    </p:spTree>
    <p:extLst>
      <p:ext uri="{BB962C8B-B14F-4D97-AF65-F5344CB8AC3E}">
        <p14:creationId xmlns:p14="http://schemas.microsoft.com/office/powerpoint/2010/main" val="1896161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76681-A58F-7206-D745-282EC045F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9A58B-97D3-3D06-6113-30B7D7E23252}"/>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963BF8C8-F944-0BD1-B503-EE96670D2248}"/>
              </a:ext>
            </a:extLst>
          </p:cNvPr>
          <p:cNvSpPr>
            <a:spLocks noGrp="1"/>
          </p:cNvSpPr>
          <p:nvPr>
            <p:ph type="body" idx="1"/>
          </p:nvPr>
        </p:nvSpPr>
        <p:spPr/>
        <p:txBody>
          <a:bodyPr/>
          <a:lstStyle/>
          <a:p>
            <a:pPr>
              <a:buFont typeface="Arial" panose="020B0604020202020204" pitchFamily="34" charset="0"/>
              <a:buChar char="•"/>
            </a:pPr>
            <a:r>
              <a:rPr lang="en-GB" dirty="0"/>
              <a:t>To classify a new data point, find the </a:t>
            </a:r>
            <a:r>
              <a:rPr lang="en-GB" i="1" dirty="0"/>
              <a:t>k</a:t>
            </a:r>
            <a:r>
              <a:rPr lang="en-GB" dirty="0"/>
              <a:t> most similar points in the training data Take a majority vote of their labels With k=5: look at the 5 nearest neighbours, whichever class appears most wins </a:t>
            </a:r>
            <a:endParaRPr lang="en-GB" b="1" dirty="0"/>
          </a:p>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52EABA3C-B86A-C06C-5493-927E77A75B5B}"/>
              </a:ext>
            </a:extLst>
          </p:cNvPr>
          <p:cNvSpPr>
            <a:spLocks noGrp="1"/>
          </p:cNvSpPr>
          <p:nvPr>
            <p:ph type="sldNum" sz="quarter" idx="10"/>
          </p:nvPr>
        </p:nvSpPr>
        <p:spPr/>
        <p:txBody>
          <a:bodyPr/>
          <a:lstStyle/>
          <a:p>
            <a:fld id="{8A6A10D0-20D9-4461-9337-5FE1B4A402F6}" type="slidenum">
              <a:rPr lang="en-GB" smtClean="0"/>
              <a:t>17</a:t>
            </a:fld>
            <a:endParaRPr lang="en-GB" dirty="0"/>
          </a:p>
        </p:txBody>
      </p:sp>
    </p:spTree>
    <p:extLst>
      <p:ext uri="{BB962C8B-B14F-4D97-AF65-F5344CB8AC3E}">
        <p14:creationId xmlns:p14="http://schemas.microsoft.com/office/powerpoint/2010/main" val="3059716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AD635-198C-2DC5-4938-60545FA889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A2AC13-3196-3DB8-698B-449CB3C51C9F}"/>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25DAB226-61BF-8D7D-7AA4-99B4D4CB3390}"/>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B6FAF045-0EE6-6728-EC17-DBF800025D31}"/>
              </a:ext>
            </a:extLst>
          </p:cNvPr>
          <p:cNvSpPr>
            <a:spLocks noGrp="1"/>
          </p:cNvSpPr>
          <p:nvPr>
            <p:ph type="sldNum" sz="quarter" idx="10"/>
          </p:nvPr>
        </p:nvSpPr>
        <p:spPr/>
        <p:txBody>
          <a:bodyPr/>
          <a:lstStyle/>
          <a:p>
            <a:fld id="{8A6A10D0-20D9-4461-9337-5FE1B4A402F6}" type="slidenum">
              <a:rPr lang="en-GB" smtClean="0"/>
              <a:t>18</a:t>
            </a:fld>
            <a:endParaRPr lang="en-GB" dirty="0"/>
          </a:p>
        </p:txBody>
      </p:sp>
    </p:spTree>
    <p:extLst>
      <p:ext uri="{BB962C8B-B14F-4D97-AF65-F5344CB8AC3E}">
        <p14:creationId xmlns:p14="http://schemas.microsoft.com/office/powerpoint/2010/main" val="872185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40607-6686-B0C2-3D3B-A87BBF4E2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4C5FD-9A13-781F-02BA-56503F902858}"/>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EB4A2873-BA9A-6F9B-4CD2-47FC37F4F597}"/>
              </a:ext>
            </a:extLst>
          </p:cNvPr>
          <p:cNvSpPr>
            <a:spLocks noGrp="1"/>
          </p:cNvSpPr>
          <p:nvPr>
            <p:ph type="body" idx="1"/>
          </p:nvPr>
        </p:nvSpPr>
        <p:spPr/>
        <p:txBody>
          <a:bodyPr/>
          <a:lstStyle/>
          <a:p>
            <a:pPr>
              <a:buFont typeface="Arial" panose="020B0604020202020204" pitchFamily="34" charset="0"/>
              <a:buChar char="•"/>
            </a:pPr>
            <a:r>
              <a:rPr lang="en-GB" dirty="0"/>
              <a:t>features with larger ranges dominate the distance and can drown out other useful features, so standardizing/normalizing puts features on comparable scales and makes “nearest” reflect all features more fairly.</a:t>
            </a:r>
          </a:p>
          <a:p>
            <a:pPr>
              <a:buFont typeface="Arial" panose="020B0604020202020204" pitchFamily="34" charset="0"/>
              <a:buChar char="•"/>
            </a:pPr>
            <a:r>
              <a:rPr lang="en-GB" dirty="0"/>
              <a:t>Let’s say you have two features, M and X, and you want to calculate the distance between data point 1 and 2</a:t>
            </a:r>
          </a:p>
        </p:txBody>
      </p:sp>
      <p:sp>
        <p:nvSpPr>
          <p:cNvPr id="4" name="Slide Number Placeholder 3">
            <a:extLst>
              <a:ext uri="{FF2B5EF4-FFF2-40B4-BE49-F238E27FC236}">
                <a16:creationId xmlns:a16="http://schemas.microsoft.com/office/drawing/2014/main" id="{DB9512F3-E05A-2027-74D5-CD357E92448A}"/>
              </a:ext>
            </a:extLst>
          </p:cNvPr>
          <p:cNvSpPr>
            <a:spLocks noGrp="1"/>
          </p:cNvSpPr>
          <p:nvPr>
            <p:ph type="sldNum" sz="quarter" idx="10"/>
          </p:nvPr>
        </p:nvSpPr>
        <p:spPr/>
        <p:txBody>
          <a:bodyPr/>
          <a:lstStyle/>
          <a:p>
            <a:fld id="{8A6A10D0-20D9-4461-9337-5FE1B4A402F6}" type="slidenum">
              <a:rPr lang="en-GB" smtClean="0"/>
              <a:t>19</a:t>
            </a:fld>
            <a:endParaRPr lang="en-GB" dirty="0"/>
          </a:p>
        </p:txBody>
      </p:sp>
    </p:spTree>
    <p:extLst>
      <p:ext uri="{BB962C8B-B14F-4D97-AF65-F5344CB8AC3E}">
        <p14:creationId xmlns:p14="http://schemas.microsoft.com/office/powerpoint/2010/main" val="3788350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A5059-091C-3C32-C082-88D9984FC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EC5831-60A4-DAE3-6DAE-68D0D0B29EA5}"/>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ED34584-D0C9-F9AB-D7AE-B42127106AF7}"/>
              </a:ext>
            </a:extLst>
          </p:cNvPr>
          <p:cNvSpPr>
            <a:spLocks noGrp="1"/>
          </p:cNvSpPr>
          <p:nvPr>
            <p:ph type="body" idx="1"/>
          </p:nvPr>
        </p:nvSpPr>
        <p:spPr/>
        <p:txBody>
          <a:bodyPr/>
          <a:lstStyle/>
          <a:p>
            <a:pPr>
              <a:buFont typeface="Arial" panose="020B0604020202020204" pitchFamily="34" charset="0"/>
              <a:buChar char="•"/>
            </a:pPr>
            <a:r>
              <a:rPr lang="en-GB" sz="2000" b="0" i="0" u="none" strike="noStrike" kern="1200" cap="none" dirty="0">
                <a:ln>
                  <a:noFill/>
                </a:ln>
                <a:effectLst/>
                <a:highlight>
                  <a:scrgbClr r="0" g="0" b="0">
                    <a:alpha val="0"/>
                  </a:scrgbClr>
                </a:highlight>
                <a:latin typeface="Liberation Sans" pitchFamily="18"/>
              </a:rPr>
              <a:t>The choice of k will largely depend on the input data as data with more outliers or noise will likely perform better with higher values of k. </a:t>
            </a:r>
          </a:p>
          <a:p>
            <a:pPr>
              <a:buFont typeface="Arial" panose="020B0604020202020204" pitchFamily="34" charset="0"/>
              <a:buChar char="•"/>
            </a:pPr>
            <a:r>
              <a:rPr lang="en-GB" sz="2000" b="0" i="0" u="none" strike="noStrike" kern="1200" cap="none" dirty="0">
                <a:ln>
                  <a:noFill/>
                </a:ln>
                <a:effectLst/>
                <a:highlight>
                  <a:scrgbClr r="0" g="0" b="0">
                    <a:alpha val="0"/>
                  </a:scrgbClr>
                </a:highlight>
                <a:latin typeface="Liberation Sans" pitchFamily="18"/>
              </a:rPr>
              <a:t>Overall, it is recommended to have an odd number for k to avoid ties in classification, </a:t>
            </a:r>
          </a:p>
          <a:p>
            <a:pPr>
              <a:buFont typeface="Arial" panose="020B0604020202020204" pitchFamily="34" charset="0"/>
              <a:buChar char="•"/>
            </a:pPr>
            <a:r>
              <a:rPr lang="en-GB" sz="2000" b="0" i="0" u="none" strike="noStrike" kern="1200" cap="none" dirty="0">
                <a:ln>
                  <a:noFill/>
                </a:ln>
                <a:effectLst/>
                <a:highlight>
                  <a:scrgbClr r="0" g="0" b="0">
                    <a:alpha val="0"/>
                  </a:scrgbClr>
                </a:highlight>
                <a:latin typeface="Liberation Sans" pitchFamily="18"/>
              </a:rPr>
              <a:t>cross-validation tactics can help you choose the optimal k for your dataset. (choose the K value as having a minimum error rate.</a:t>
            </a:r>
            <a:endParaRPr lang="en-GB" dirty="0"/>
          </a:p>
        </p:txBody>
      </p:sp>
      <p:sp>
        <p:nvSpPr>
          <p:cNvPr id="4" name="Slide Number Placeholder 3">
            <a:extLst>
              <a:ext uri="{FF2B5EF4-FFF2-40B4-BE49-F238E27FC236}">
                <a16:creationId xmlns:a16="http://schemas.microsoft.com/office/drawing/2014/main" id="{7556236B-BEEE-90A8-4C6C-C3FB2AEC93B1}"/>
              </a:ext>
            </a:extLst>
          </p:cNvPr>
          <p:cNvSpPr>
            <a:spLocks noGrp="1"/>
          </p:cNvSpPr>
          <p:nvPr>
            <p:ph type="sldNum" sz="quarter" idx="10"/>
          </p:nvPr>
        </p:nvSpPr>
        <p:spPr/>
        <p:txBody>
          <a:bodyPr/>
          <a:lstStyle/>
          <a:p>
            <a:fld id="{8A6A10D0-20D9-4461-9337-5FE1B4A402F6}" type="slidenum">
              <a:rPr lang="en-GB" smtClean="0"/>
              <a:t>20</a:t>
            </a:fld>
            <a:endParaRPr lang="en-GB" dirty="0"/>
          </a:p>
        </p:txBody>
      </p:sp>
    </p:spTree>
    <p:extLst>
      <p:ext uri="{BB962C8B-B14F-4D97-AF65-F5344CB8AC3E}">
        <p14:creationId xmlns:p14="http://schemas.microsoft.com/office/powerpoint/2010/main" val="2697006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C2299-D262-4A1B-C90F-0546869097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64C78-9EFC-B8A6-6818-33D374C9668A}"/>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52229052-3565-BA8D-893B-A22770646EBB}"/>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4C69C9F-C409-F2A7-2A60-7A46B4C3E5E1}"/>
              </a:ext>
            </a:extLst>
          </p:cNvPr>
          <p:cNvSpPr>
            <a:spLocks noGrp="1"/>
          </p:cNvSpPr>
          <p:nvPr>
            <p:ph type="sldNum" sz="quarter" idx="10"/>
          </p:nvPr>
        </p:nvSpPr>
        <p:spPr/>
        <p:txBody>
          <a:bodyPr/>
          <a:lstStyle/>
          <a:p>
            <a:fld id="{8A6A10D0-20D9-4461-9337-5FE1B4A402F6}" type="slidenum">
              <a:rPr lang="en-GB" smtClean="0"/>
              <a:t>21</a:t>
            </a:fld>
            <a:endParaRPr lang="en-GB" dirty="0"/>
          </a:p>
        </p:txBody>
      </p:sp>
    </p:spTree>
    <p:extLst>
      <p:ext uri="{BB962C8B-B14F-4D97-AF65-F5344CB8AC3E}">
        <p14:creationId xmlns:p14="http://schemas.microsoft.com/office/powerpoint/2010/main" val="36994415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99D1-A432-91F7-A1D9-33E8C6530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5036A-0E51-0220-0E5D-6DC9000DDF87}"/>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33B97E3B-1864-A98E-62FA-112EDE3ACC1F}"/>
              </a:ext>
            </a:extLst>
          </p:cNvPr>
          <p:cNvSpPr>
            <a:spLocks noGrp="1"/>
          </p:cNvSpPr>
          <p:nvPr>
            <p:ph type="body" idx="1"/>
          </p:nvPr>
        </p:nvSpPr>
        <p:spPr/>
        <p:txBody>
          <a:bodyPr/>
          <a:lstStyle/>
          <a:p>
            <a:pPr>
              <a:buFont typeface="Arial" panose="020B0604020202020204" pitchFamily="34" charset="0"/>
              <a:buChar char="•"/>
            </a:pPr>
            <a:r>
              <a:rPr lang="en-GB" dirty="0"/>
              <a:t>The model asks a series of yes/no questions about the data</a:t>
            </a:r>
          </a:p>
          <a:p>
            <a:pPr>
              <a:buFont typeface="Arial" panose="020B0604020202020204" pitchFamily="34" charset="0"/>
              <a:buChar char="•"/>
            </a:pPr>
            <a:r>
              <a:rPr lang="en-GB" dirty="0"/>
              <a:t>At each step it splits on the feature that best separates the groups</a:t>
            </a:r>
          </a:p>
          <a:p>
            <a:pPr>
              <a:buFont typeface="Arial" panose="020B0604020202020204" pitchFamily="34" charset="0"/>
              <a:buChar char="•"/>
            </a:pPr>
            <a:r>
              <a:rPr lang="en-GB" dirty="0"/>
              <a:t>Follows branches until it reaches a prediction (a "leaf")</a:t>
            </a:r>
          </a:p>
        </p:txBody>
      </p:sp>
      <p:sp>
        <p:nvSpPr>
          <p:cNvPr id="4" name="Slide Number Placeholder 3">
            <a:extLst>
              <a:ext uri="{FF2B5EF4-FFF2-40B4-BE49-F238E27FC236}">
                <a16:creationId xmlns:a16="http://schemas.microsoft.com/office/drawing/2014/main" id="{30A42889-A29E-F693-4285-43CF469E43C1}"/>
              </a:ext>
            </a:extLst>
          </p:cNvPr>
          <p:cNvSpPr>
            <a:spLocks noGrp="1"/>
          </p:cNvSpPr>
          <p:nvPr>
            <p:ph type="sldNum" sz="quarter" idx="10"/>
          </p:nvPr>
        </p:nvSpPr>
        <p:spPr/>
        <p:txBody>
          <a:bodyPr/>
          <a:lstStyle/>
          <a:p>
            <a:fld id="{8A6A10D0-20D9-4461-9337-5FE1B4A402F6}" type="slidenum">
              <a:rPr lang="en-GB" smtClean="0"/>
              <a:t>22</a:t>
            </a:fld>
            <a:endParaRPr lang="en-GB" dirty="0"/>
          </a:p>
        </p:txBody>
      </p:sp>
    </p:spTree>
    <p:extLst>
      <p:ext uri="{BB962C8B-B14F-4D97-AF65-F5344CB8AC3E}">
        <p14:creationId xmlns:p14="http://schemas.microsoft.com/office/powerpoint/2010/main" val="22957024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244C0DE-5D74-F9A1-3D57-B5E618208B3F}"/>
              </a:ext>
            </a:extLst>
          </p:cNvPr>
          <p:cNvSpPr txBox="1">
            <a:spLocks noGrp="1"/>
          </p:cNvSpPr>
          <p:nvPr>
            <p:ph type="sldNum" sz="quarter" idx="5"/>
          </p:nvPr>
        </p:nvSpPr>
        <p:spPr>
          <a:ln/>
        </p:spPr>
        <p:txBody>
          <a:bodyPr vert="horz" lIns="0" tIns="0" rIns="0" bIns="0" anchor="b" anchorCtr="0">
            <a:noAutofit/>
          </a:bodyPr>
          <a:lstStyle/>
          <a:p>
            <a:pPr lvl="0"/>
            <a:fld id="{691AEF84-A490-024A-83F5-8587B043CF37}" type="slidenum">
              <a:t>23</a:t>
            </a:fld>
            <a:endParaRPr lang="en-GB"/>
          </a:p>
        </p:txBody>
      </p:sp>
      <p:sp>
        <p:nvSpPr>
          <p:cNvPr id="2" name="Slide Image Placeholder 1">
            <a:extLst>
              <a:ext uri="{FF2B5EF4-FFF2-40B4-BE49-F238E27FC236}">
                <a16:creationId xmlns:a16="http://schemas.microsoft.com/office/drawing/2014/main" id="{9BD5495B-9A56-F70A-11FB-9EA539FC573B}"/>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B59D06F-68E4-B2B6-85E0-4C27C8434786}"/>
              </a:ext>
            </a:extLst>
          </p:cNvPr>
          <p:cNvSpPr txBox="1">
            <a:spLocks noGrp="1"/>
          </p:cNvSpPr>
          <p:nvPr>
            <p:ph type="body" sz="quarter" idx="1"/>
          </p:nvPr>
        </p:nvSpPr>
        <p:spPr/>
        <p:txBody>
          <a:bodyPr vert="horz">
            <a:spAutoFit/>
          </a:bodyPr>
          <a:lstStyle/>
          <a:p>
            <a:endParaRPr lang="en-GB" dirty="0"/>
          </a:p>
        </p:txBody>
      </p:sp>
    </p:spTree>
    <p:extLst>
      <p:ext uri="{BB962C8B-B14F-4D97-AF65-F5344CB8AC3E}">
        <p14:creationId xmlns:p14="http://schemas.microsoft.com/office/powerpoint/2010/main" val="7754482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16656-AD9C-8202-899E-7035EDE5AC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93C89-AC88-93E3-2EAF-E26EE2035B22}"/>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FA751653-0F9B-0784-6D6F-AF8B41CE106B}"/>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FEE0398E-1C01-A8AE-4EF6-B922AE4C15C4}"/>
              </a:ext>
            </a:extLst>
          </p:cNvPr>
          <p:cNvSpPr>
            <a:spLocks noGrp="1"/>
          </p:cNvSpPr>
          <p:nvPr>
            <p:ph type="sldNum" sz="quarter" idx="10"/>
          </p:nvPr>
        </p:nvSpPr>
        <p:spPr/>
        <p:txBody>
          <a:bodyPr/>
          <a:lstStyle/>
          <a:p>
            <a:fld id="{8A6A10D0-20D9-4461-9337-5FE1B4A402F6}" type="slidenum">
              <a:rPr lang="en-GB" smtClean="0"/>
              <a:t>24</a:t>
            </a:fld>
            <a:endParaRPr lang="en-GB" dirty="0"/>
          </a:p>
        </p:txBody>
      </p:sp>
    </p:spTree>
    <p:extLst>
      <p:ext uri="{BB962C8B-B14F-4D97-AF65-F5344CB8AC3E}">
        <p14:creationId xmlns:p14="http://schemas.microsoft.com/office/powerpoint/2010/main" val="1403413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7C8E-21E7-78A6-B7A0-D8A15F75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26136-9964-CD2F-6043-D8DC26A6F46F}"/>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A6325C3E-E719-9549-BD87-A513B28912AA}"/>
              </a:ext>
            </a:extLst>
          </p:cNvPr>
          <p:cNvSpPr>
            <a:spLocks noGrp="1"/>
          </p:cNvSpPr>
          <p:nvPr>
            <p:ph type="body" idx="1"/>
          </p:nvPr>
        </p:nvSpPr>
        <p:spPr/>
        <p:txBody>
          <a:bodyPr/>
          <a:lstStyle/>
          <a:p>
            <a:pPr>
              <a:buFont typeface="Arial" panose="020B0604020202020204" pitchFamily="34" charset="0"/>
              <a:buChar char="•"/>
            </a:pPr>
            <a:r>
              <a:rPr lang="en-GB" dirty="0"/>
              <a:t>While we used the same random seed 42 in both Python and R. They generated different random number when splitting the test and training data, therefore generated different results.</a:t>
            </a:r>
          </a:p>
        </p:txBody>
      </p:sp>
      <p:sp>
        <p:nvSpPr>
          <p:cNvPr id="4" name="Slide Number Placeholder 3">
            <a:extLst>
              <a:ext uri="{FF2B5EF4-FFF2-40B4-BE49-F238E27FC236}">
                <a16:creationId xmlns:a16="http://schemas.microsoft.com/office/drawing/2014/main" id="{5F0ED285-831F-40FB-2AA5-5770E8037025}"/>
              </a:ext>
            </a:extLst>
          </p:cNvPr>
          <p:cNvSpPr>
            <a:spLocks noGrp="1"/>
          </p:cNvSpPr>
          <p:nvPr>
            <p:ph type="sldNum" sz="quarter" idx="10"/>
          </p:nvPr>
        </p:nvSpPr>
        <p:spPr/>
        <p:txBody>
          <a:bodyPr/>
          <a:lstStyle/>
          <a:p>
            <a:fld id="{8A6A10D0-20D9-4461-9337-5FE1B4A402F6}" type="slidenum">
              <a:rPr lang="en-GB" smtClean="0"/>
              <a:t>25</a:t>
            </a:fld>
            <a:endParaRPr lang="en-GB" dirty="0"/>
          </a:p>
        </p:txBody>
      </p:sp>
    </p:spTree>
    <p:extLst>
      <p:ext uri="{BB962C8B-B14F-4D97-AF65-F5344CB8AC3E}">
        <p14:creationId xmlns:p14="http://schemas.microsoft.com/office/powerpoint/2010/main" val="13827976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CBE9-334D-B93D-BE9E-88570FAA2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49C15-1A19-BF91-4CCD-2058085DAC6D}"/>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9D155636-785D-2B65-2908-D2A0A07F5FA4}"/>
              </a:ext>
            </a:extLst>
          </p:cNvPr>
          <p:cNvSpPr>
            <a:spLocks noGrp="1"/>
          </p:cNvSpPr>
          <p:nvPr>
            <p:ph type="body" idx="1"/>
          </p:nvPr>
        </p:nvSpPr>
        <p:spPr/>
        <p:txBody>
          <a:bodyPr/>
          <a:lstStyle/>
          <a:p>
            <a:r>
              <a:rPr lang="en-GB" dirty="0"/>
              <a:t>A decision tree stops growing if any of the following conditions are met:</a:t>
            </a:r>
          </a:p>
          <a:p>
            <a:r>
              <a:rPr lang="en-GB" dirty="0"/>
              <a:t>The tree reaches a predefined </a:t>
            </a:r>
            <a:r>
              <a:rPr lang="en-GB" b="1" dirty="0"/>
              <a:t>maximum depth</a:t>
            </a:r>
            <a:r>
              <a:rPr lang="en-GB" dirty="0"/>
              <a:t>.</a:t>
            </a:r>
          </a:p>
          <a:p>
            <a:r>
              <a:rPr lang="en-GB" dirty="0"/>
              <a:t>The number of samples in a node is below a </a:t>
            </a:r>
            <a:r>
              <a:rPr lang="en-GB" b="1" dirty="0"/>
              <a:t>minimum threshold</a:t>
            </a:r>
            <a:r>
              <a:rPr lang="en-GB" dirty="0"/>
              <a:t>.</a:t>
            </a:r>
          </a:p>
          <a:p>
            <a:r>
              <a:rPr lang="en-GB" dirty="0"/>
              <a:t>The </a:t>
            </a:r>
            <a:r>
              <a:rPr lang="en-GB" b="1" dirty="0"/>
              <a:t>information gain</a:t>
            </a:r>
            <a:r>
              <a:rPr lang="en-GB" dirty="0"/>
              <a:t> or </a:t>
            </a:r>
            <a:r>
              <a:rPr lang="en-GB" b="1" dirty="0"/>
              <a:t>Gini impurity</a:t>
            </a:r>
            <a:r>
              <a:rPr lang="en-GB" dirty="0"/>
              <a:t> reduction from further splits is less than a specified threshold.</a:t>
            </a:r>
          </a:p>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BD65194-0381-E0C3-4D37-9E7D1D665EDA}"/>
              </a:ext>
            </a:extLst>
          </p:cNvPr>
          <p:cNvSpPr>
            <a:spLocks noGrp="1"/>
          </p:cNvSpPr>
          <p:nvPr>
            <p:ph type="sldNum" sz="quarter" idx="10"/>
          </p:nvPr>
        </p:nvSpPr>
        <p:spPr/>
        <p:txBody>
          <a:bodyPr/>
          <a:lstStyle/>
          <a:p>
            <a:fld id="{8A6A10D0-20D9-4461-9337-5FE1B4A402F6}" type="slidenum">
              <a:rPr lang="en-GB" smtClean="0"/>
              <a:t>26</a:t>
            </a:fld>
            <a:endParaRPr lang="en-GB" dirty="0"/>
          </a:p>
        </p:txBody>
      </p:sp>
    </p:spTree>
    <p:extLst>
      <p:ext uri="{BB962C8B-B14F-4D97-AF65-F5344CB8AC3E}">
        <p14:creationId xmlns:p14="http://schemas.microsoft.com/office/powerpoint/2010/main" val="3708582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B78B6-B874-5F72-83B0-D833A10EB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38452-ECAF-E71F-AB18-04B2D33AB5C9}"/>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E8005908-F5EC-8593-B841-716C1977E6C0}"/>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99A2A1D-FEED-4E6C-70B6-C8FCB5BC9CB3}"/>
              </a:ext>
            </a:extLst>
          </p:cNvPr>
          <p:cNvSpPr>
            <a:spLocks noGrp="1"/>
          </p:cNvSpPr>
          <p:nvPr>
            <p:ph type="sldNum" sz="quarter" idx="10"/>
          </p:nvPr>
        </p:nvSpPr>
        <p:spPr/>
        <p:txBody>
          <a:bodyPr/>
          <a:lstStyle/>
          <a:p>
            <a:fld id="{8A6A10D0-20D9-4461-9337-5FE1B4A402F6}" type="slidenum">
              <a:rPr lang="en-GB" smtClean="0"/>
              <a:t>27</a:t>
            </a:fld>
            <a:endParaRPr lang="en-GB" dirty="0"/>
          </a:p>
        </p:txBody>
      </p:sp>
    </p:spTree>
    <p:extLst>
      <p:ext uri="{BB962C8B-B14F-4D97-AF65-F5344CB8AC3E}">
        <p14:creationId xmlns:p14="http://schemas.microsoft.com/office/powerpoint/2010/main" val="26153295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F5B9E-391D-F213-F1DE-070D88D89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2C6B3-6F5B-73A9-BE01-1E800A0E79C5}"/>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83C12980-3532-69DD-0C9A-773475BE5A7F}"/>
              </a:ext>
            </a:extLst>
          </p:cNvPr>
          <p:cNvSpPr>
            <a:spLocks noGrp="1"/>
          </p:cNvSpPr>
          <p:nvPr>
            <p:ph type="body" idx="1"/>
          </p:nvPr>
        </p:nvSpPr>
        <p:spPr/>
        <p:txBody>
          <a:bodyPr/>
          <a:lstStyle/>
          <a:p>
            <a:pPr>
              <a:buFont typeface="Arial" panose="020B0604020202020204" pitchFamily="34" charset="0"/>
              <a:buChar char="•"/>
            </a:pPr>
            <a:r>
              <a:rPr lang="en-GB" dirty="0"/>
              <a:t>Scale the data </a:t>
            </a:r>
          </a:p>
        </p:txBody>
      </p:sp>
      <p:sp>
        <p:nvSpPr>
          <p:cNvPr id="4" name="Slide Number Placeholder 3">
            <a:extLst>
              <a:ext uri="{FF2B5EF4-FFF2-40B4-BE49-F238E27FC236}">
                <a16:creationId xmlns:a16="http://schemas.microsoft.com/office/drawing/2014/main" id="{DF4EB30A-93E0-99F8-C31E-94AF814CBB1D}"/>
              </a:ext>
            </a:extLst>
          </p:cNvPr>
          <p:cNvSpPr>
            <a:spLocks noGrp="1"/>
          </p:cNvSpPr>
          <p:nvPr>
            <p:ph type="sldNum" sz="quarter" idx="10"/>
          </p:nvPr>
        </p:nvSpPr>
        <p:spPr/>
        <p:txBody>
          <a:bodyPr/>
          <a:lstStyle/>
          <a:p>
            <a:fld id="{8A6A10D0-20D9-4461-9337-5FE1B4A402F6}" type="slidenum">
              <a:rPr lang="en-GB" smtClean="0"/>
              <a:t>28</a:t>
            </a:fld>
            <a:endParaRPr lang="en-GB" dirty="0"/>
          </a:p>
        </p:txBody>
      </p:sp>
    </p:spTree>
    <p:extLst>
      <p:ext uri="{BB962C8B-B14F-4D97-AF65-F5344CB8AC3E}">
        <p14:creationId xmlns:p14="http://schemas.microsoft.com/office/powerpoint/2010/main" val="23194577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C839F-AFF0-916D-DBBD-682588A68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EBC30-B757-73A6-AF6D-77B9A846F715}"/>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C597A3BD-6BF8-DEB1-27FE-0979F3A0D7C3}"/>
              </a:ext>
            </a:extLst>
          </p:cNvPr>
          <p:cNvSpPr>
            <a:spLocks noGrp="1"/>
          </p:cNvSpPr>
          <p:nvPr>
            <p:ph type="body" idx="1"/>
          </p:nvPr>
        </p:nvSpPr>
        <p:spPr/>
        <p:txBody>
          <a:bodyPr/>
          <a:lstStyle/>
          <a:p>
            <a:pPr>
              <a:buFont typeface="Arial" panose="020B0604020202020204" pitchFamily="34" charset="0"/>
              <a:buChar char="•"/>
            </a:pPr>
            <a:r>
              <a:rPr lang="en-GB" dirty="0"/>
              <a:t>While we used the same random seed 42 in both Python and R. They generated different random number when splitting the test and training data, therefore generated different results.</a:t>
            </a:r>
          </a:p>
        </p:txBody>
      </p:sp>
      <p:sp>
        <p:nvSpPr>
          <p:cNvPr id="4" name="Slide Number Placeholder 3">
            <a:extLst>
              <a:ext uri="{FF2B5EF4-FFF2-40B4-BE49-F238E27FC236}">
                <a16:creationId xmlns:a16="http://schemas.microsoft.com/office/drawing/2014/main" id="{0F653F4F-E516-2486-7534-23ABB734078B}"/>
              </a:ext>
            </a:extLst>
          </p:cNvPr>
          <p:cNvSpPr>
            <a:spLocks noGrp="1"/>
          </p:cNvSpPr>
          <p:nvPr>
            <p:ph type="sldNum" sz="quarter" idx="10"/>
          </p:nvPr>
        </p:nvSpPr>
        <p:spPr/>
        <p:txBody>
          <a:bodyPr/>
          <a:lstStyle/>
          <a:p>
            <a:fld id="{8A6A10D0-20D9-4461-9337-5FE1B4A402F6}" type="slidenum">
              <a:rPr lang="en-GB" smtClean="0"/>
              <a:t>29</a:t>
            </a:fld>
            <a:endParaRPr lang="en-GB" dirty="0"/>
          </a:p>
        </p:txBody>
      </p:sp>
    </p:spTree>
    <p:extLst>
      <p:ext uri="{BB962C8B-B14F-4D97-AF65-F5344CB8AC3E}">
        <p14:creationId xmlns:p14="http://schemas.microsoft.com/office/powerpoint/2010/main" val="29579870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13EB1-AD90-88A9-B18F-38ACC7EA1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76C0A-5641-2D9A-575F-8D22D108E733}"/>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E9D2D60C-9446-0E40-D493-AAD829210733}"/>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5DDF7F6E-B360-B971-7DA2-62FA8812AB7F}"/>
              </a:ext>
            </a:extLst>
          </p:cNvPr>
          <p:cNvSpPr>
            <a:spLocks noGrp="1"/>
          </p:cNvSpPr>
          <p:nvPr>
            <p:ph type="sldNum" sz="quarter" idx="10"/>
          </p:nvPr>
        </p:nvSpPr>
        <p:spPr/>
        <p:txBody>
          <a:bodyPr/>
          <a:lstStyle/>
          <a:p>
            <a:fld id="{8A6A10D0-20D9-4461-9337-5FE1B4A402F6}" type="slidenum">
              <a:rPr lang="en-GB" smtClean="0"/>
              <a:t>30</a:t>
            </a:fld>
            <a:endParaRPr lang="en-GB" dirty="0"/>
          </a:p>
        </p:txBody>
      </p:sp>
    </p:spTree>
    <p:extLst>
      <p:ext uri="{BB962C8B-B14F-4D97-AF65-F5344CB8AC3E}">
        <p14:creationId xmlns:p14="http://schemas.microsoft.com/office/powerpoint/2010/main" val="20481609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302FD-A906-43A2-FE4A-435F34867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782E49-C606-11F3-C624-36CD38185A6C}"/>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B26B7D2E-9E96-C532-292B-F0C7A2DED86A}"/>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28ACA051-CC8D-DC98-6C78-50C2508B9D24}"/>
              </a:ext>
            </a:extLst>
          </p:cNvPr>
          <p:cNvSpPr>
            <a:spLocks noGrp="1"/>
          </p:cNvSpPr>
          <p:nvPr>
            <p:ph type="sldNum" sz="quarter" idx="10"/>
          </p:nvPr>
        </p:nvSpPr>
        <p:spPr/>
        <p:txBody>
          <a:bodyPr/>
          <a:lstStyle/>
          <a:p>
            <a:fld id="{8A6A10D0-20D9-4461-9337-5FE1B4A402F6}" type="slidenum">
              <a:rPr lang="en-GB" smtClean="0"/>
              <a:t>31</a:t>
            </a:fld>
            <a:endParaRPr lang="en-GB" dirty="0"/>
          </a:p>
        </p:txBody>
      </p:sp>
    </p:spTree>
    <p:extLst>
      <p:ext uri="{BB962C8B-B14F-4D97-AF65-F5344CB8AC3E}">
        <p14:creationId xmlns:p14="http://schemas.microsoft.com/office/powerpoint/2010/main" val="32577111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B3907-6D1B-B1CA-3934-1120712FE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CD2DB-4C63-552E-68A0-AE5508348DAF}"/>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27D06A9F-F693-7924-60CB-1D33C4C72A79}"/>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28715D93-C7B8-851A-34B3-55F4E1C3DA98}"/>
              </a:ext>
            </a:extLst>
          </p:cNvPr>
          <p:cNvSpPr>
            <a:spLocks noGrp="1"/>
          </p:cNvSpPr>
          <p:nvPr>
            <p:ph type="sldNum" sz="quarter" idx="10"/>
          </p:nvPr>
        </p:nvSpPr>
        <p:spPr/>
        <p:txBody>
          <a:bodyPr/>
          <a:lstStyle/>
          <a:p>
            <a:fld id="{8A6A10D0-20D9-4461-9337-5FE1B4A402F6}" type="slidenum">
              <a:rPr lang="en-GB" smtClean="0"/>
              <a:t>32</a:t>
            </a:fld>
            <a:endParaRPr lang="en-GB" dirty="0"/>
          </a:p>
        </p:txBody>
      </p:sp>
    </p:spTree>
    <p:extLst>
      <p:ext uri="{BB962C8B-B14F-4D97-AF65-F5344CB8AC3E}">
        <p14:creationId xmlns:p14="http://schemas.microsoft.com/office/powerpoint/2010/main" val="25413304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736D0-44E6-BE63-8B42-B80843920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9211C-7CBF-CA6D-D33E-5BCB068C23B7}"/>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C4C16425-14B8-C22F-BE28-D6BFD40EF370}"/>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15B1BCED-FAC1-BC7B-0139-40DB848FEA0B}"/>
              </a:ext>
            </a:extLst>
          </p:cNvPr>
          <p:cNvSpPr>
            <a:spLocks noGrp="1"/>
          </p:cNvSpPr>
          <p:nvPr>
            <p:ph type="sldNum" sz="quarter" idx="10"/>
          </p:nvPr>
        </p:nvSpPr>
        <p:spPr/>
        <p:txBody>
          <a:bodyPr/>
          <a:lstStyle/>
          <a:p>
            <a:fld id="{8A6A10D0-20D9-4461-9337-5FE1B4A402F6}" type="slidenum">
              <a:rPr lang="en-GB" smtClean="0"/>
              <a:t>33</a:t>
            </a:fld>
            <a:endParaRPr lang="en-GB" dirty="0"/>
          </a:p>
        </p:txBody>
      </p:sp>
    </p:spTree>
    <p:extLst>
      <p:ext uri="{BB962C8B-B14F-4D97-AF65-F5344CB8AC3E}">
        <p14:creationId xmlns:p14="http://schemas.microsoft.com/office/powerpoint/2010/main" val="9848231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78ACA-9DD9-B0A5-3AAD-2BD43AF62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DE8FC-2BEC-800F-2C7E-AE132EC62806}"/>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0795EFAB-538D-9CB6-9727-CF5D1C691400}"/>
              </a:ext>
            </a:extLst>
          </p:cNvPr>
          <p:cNvSpPr>
            <a:spLocks noGrp="1"/>
          </p:cNvSpPr>
          <p:nvPr>
            <p:ph type="body" idx="1"/>
          </p:nvPr>
        </p:nvSpPr>
        <p:spPr/>
        <p:txBody>
          <a:bodyPr/>
          <a:lstStyle/>
          <a:p>
            <a:pPr>
              <a:buFont typeface="Arial" panose="020B0604020202020204" pitchFamily="34" charset="0"/>
              <a:buChar char="•"/>
            </a:pPr>
            <a:r>
              <a:rPr lang="en-GB" dirty="0"/>
              <a:t>You assume that a your input is linearly related to output</a:t>
            </a:r>
          </a:p>
          <a:p>
            <a:pPr>
              <a:buFont typeface="Arial" panose="020B0604020202020204" pitchFamily="34" charset="0"/>
              <a:buChar char="•"/>
            </a:pPr>
            <a:r>
              <a:rPr lang="en-GB" dirty="0"/>
              <a:t>Can you want to find the line that represent this trend. </a:t>
            </a:r>
          </a:p>
          <a:p>
            <a:pPr>
              <a:buFont typeface="Arial" panose="020B0604020202020204" pitchFamily="34" charset="0"/>
              <a:buChar char="•"/>
            </a:pPr>
            <a:endParaRPr lang="en-GB" dirty="0"/>
          </a:p>
          <a:p>
            <a:pPr>
              <a:buFont typeface="Arial" panose="020B0604020202020204" pitchFamily="34" charset="0"/>
              <a:buChar char="•"/>
            </a:pPr>
            <a:r>
              <a:rPr lang="en-GB" dirty="0"/>
              <a:t>Can you think of an example?</a:t>
            </a:r>
          </a:p>
          <a:p>
            <a:pPr>
              <a:buFont typeface="Arial" panose="020B0604020202020204" pitchFamily="34" charset="0"/>
              <a:buChar char="•"/>
            </a:pPr>
            <a:endParaRPr lang="en-GB" dirty="0"/>
          </a:p>
          <a:p>
            <a:pPr>
              <a:buFont typeface="Arial" panose="020B0604020202020204" pitchFamily="34" charset="0"/>
              <a:buChar char="•"/>
            </a:pPr>
            <a:r>
              <a:rPr lang="en-GB" dirty="0"/>
              <a:t>So regression can be non-linear too such as </a:t>
            </a:r>
            <a:r>
              <a:rPr lang="en-GB" sz="2000" b="1" i="0" u="none" strike="noStrike" kern="1200" cap="none" dirty="0">
                <a:ln>
                  <a:noFill/>
                </a:ln>
                <a:effectLst/>
                <a:highlight>
                  <a:scrgbClr r="0" g="0" b="0">
                    <a:alpha val="0"/>
                  </a:scrgbClr>
                </a:highlight>
                <a:latin typeface="Liberation Sans" pitchFamily="18"/>
              </a:rPr>
              <a:t>Polynomial, or sigmoid function.</a:t>
            </a:r>
          </a:p>
        </p:txBody>
      </p:sp>
      <p:sp>
        <p:nvSpPr>
          <p:cNvPr id="4" name="Slide Number Placeholder 3">
            <a:extLst>
              <a:ext uri="{FF2B5EF4-FFF2-40B4-BE49-F238E27FC236}">
                <a16:creationId xmlns:a16="http://schemas.microsoft.com/office/drawing/2014/main" id="{B950D9E1-7948-6D20-D27D-406850A9C3A1}"/>
              </a:ext>
            </a:extLst>
          </p:cNvPr>
          <p:cNvSpPr>
            <a:spLocks noGrp="1"/>
          </p:cNvSpPr>
          <p:nvPr>
            <p:ph type="sldNum" sz="quarter" idx="10"/>
          </p:nvPr>
        </p:nvSpPr>
        <p:spPr/>
        <p:txBody>
          <a:bodyPr/>
          <a:lstStyle/>
          <a:p>
            <a:fld id="{8A6A10D0-20D9-4461-9337-5FE1B4A402F6}" type="slidenum">
              <a:rPr lang="en-GB" smtClean="0"/>
              <a:t>34</a:t>
            </a:fld>
            <a:endParaRPr lang="en-GB" dirty="0"/>
          </a:p>
        </p:txBody>
      </p:sp>
    </p:spTree>
    <p:extLst>
      <p:ext uri="{BB962C8B-B14F-4D97-AF65-F5344CB8AC3E}">
        <p14:creationId xmlns:p14="http://schemas.microsoft.com/office/powerpoint/2010/main" val="5156148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907E9-C893-12C6-9218-9F66D675E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8DDB1-E149-35CE-9648-2A4C2F44D8D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08F7E9EF-7B93-F344-EADF-6340BDD305E5}"/>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00A25C10-63CD-F24E-88ED-075F32290C9E}"/>
              </a:ext>
            </a:extLst>
          </p:cNvPr>
          <p:cNvSpPr>
            <a:spLocks noGrp="1"/>
          </p:cNvSpPr>
          <p:nvPr>
            <p:ph type="sldNum" sz="quarter" idx="10"/>
          </p:nvPr>
        </p:nvSpPr>
        <p:spPr/>
        <p:txBody>
          <a:bodyPr/>
          <a:lstStyle/>
          <a:p>
            <a:fld id="{8A6A10D0-20D9-4461-9337-5FE1B4A402F6}" type="slidenum">
              <a:rPr lang="en-GB" smtClean="0"/>
              <a:t>35</a:t>
            </a:fld>
            <a:endParaRPr lang="en-GB" dirty="0"/>
          </a:p>
        </p:txBody>
      </p:sp>
    </p:spTree>
    <p:extLst>
      <p:ext uri="{BB962C8B-B14F-4D97-AF65-F5344CB8AC3E}">
        <p14:creationId xmlns:p14="http://schemas.microsoft.com/office/powerpoint/2010/main" val="27575250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GB" b="1" dirty="0"/>
              <a:t>MAE</a:t>
            </a:r>
            <a:r>
              <a:rPr lang="en-GB" dirty="0"/>
              <a:t> — average error in the same units as the target (e.g. so if we want to predict the grade of the wine that ranges between 1-10,  an error of 1 means 10 percent)</a:t>
            </a:r>
          </a:p>
          <a:p>
            <a:r>
              <a:rPr lang="en-GB" b="1" dirty="0"/>
              <a:t>MSE</a:t>
            </a:r>
            <a:r>
              <a:rPr lang="en-GB" dirty="0"/>
              <a:t> — penalises large errors more heavily </a:t>
            </a:r>
          </a:p>
          <a:p>
            <a:r>
              <a:rPr lang="en-GB" b="1" dirty="0"/>
              <a:t>R²</a:t>
            </a:r>
            <a:r>
              <a:rPr lang="en-GB" dirty="0"/>
              <a:t> — how much of the variation does the model explain? (0 = no better than guessing the mean, 1 = perfect) ideally, 0.7-0.8 would be really good and 0.5 would acceptable</a:t>
            </a:r>
            <a:endParaRPr lang="en-US" dirty="0"/>
          </a:p>
        </p:txBody>
      </p:sp>
      <p:sp>
        <p:nvSpPr>
          <p:cNvPr id="4" name="Slide Number Placeholder 3"/>
          <p:cNvSpPr>
            <a:spLocks noGrp="1"/>
          </p:cNvSpPr>
          <p:nvPr>
            <p:ph type="sldNum" sz="quarter" idx="5"/>
          </p:nvPr>
        </p:nvSpPr>
        <p:spPr/>
        <p:txBody>
          <a:bodyPr/>
          <a:lstStyle/>
          <a:p>
            <a:pPr lvl="0"/>
            <a:fld id="{8E2BB4A0-B145-1246-A0C1-B534948BCD4F}" type="slidenum">
              <a:rPr lang="en-GB" smtClean="0"/>
              <a:t>36</a:t>
            </a:fld>
            <a:endParaRPr lang="en-GB"/>
          </a:p>
        </p:txBody>
      </p:sp>
    </p:spTree>
    <p:extLst>
      <p:ext uri="{BB962C8B-B14F-4D97-AF65-F5344CB8AC3E}">
        <p14:creationId xmlns:p14="http://schemas.microsoft.com/office/powerpoint/2010/main" val="9287304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97722-E9A6-1CCD-7087-DF7651445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4BAEB-0E15-79C5-C9FC-E2F398746195}"/>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75BE340E-A52B-A3E4-172D-EEE4CD913572}"/>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3589D1C8-3593-D422-1BFF-695987A3909E}"/>
              </a:ext>
            </a:extLst>
          </p:cNvPr>
          <p:cNvSpPr>
            <a:spLocks noGrp="1"/>
          </p:cNvSpPr>
          <p:nvPr>
            <p:ph type="sldNum" sz="quarter" idx="10"/>
          </p:nvPr>
        </p:nvSpPr>
        <p:spPr/>
        <p:txBody>
          <a:bodyPr/>
          <a:lstStyle/>
          <a:p>
            <a:fld id="{8A6A10D0-20D9-4461-9337-5FE1B4A402F6}" type="slidenum">
              <a:rPr lang="en-GB" smtClean="0"/>
              <a:t>37</a:t>
            </a:fld>
            <a:endParaRPr lang="en-GB" dirty="0"/>
          </a:p>
        </p:txBody>
      </p:sp>
    </p:spTree>
    <p:extLst>
      <p:ext uri="{BB962C8B-B14F-4D97-AF65-F5344CB8AC3E}">
        <p14:creationId xmlns:p14="http://schemas.microsoft.com/office/powerpoint/2010/main" val="32661117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90BCF-952B-D203-C846-79559C080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6A0C00-32FF-32C7-A175-784B3F74AEAE}"/>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6D92F9D-DE9A-B1B0-B4FD-0E23CF0BE2C4}"/>
              </a:ext>
            </a:extLst>
          </p:cNvPr>
          <p:cNvSpPr>
            <a:spLocks noGrp="1"/>
          </p:cNvSpPr>
          <p:nvPr>
            <p:ph type="body" idx="1"/>
          </p:nvPr>
        </p:nvSpPr>
        <p:spPr/>
        <p:txBody>
          <a:bodyPr/>
          <a:lstStyle/>
          <a:p>
            <a:pPr>
              <a:buFont typeface="Arial" panose="020B0604020202020204" pitchFamily="34" charset="0"/>
              <a:buChar char="•"/>
            </a:pPr>
            <a:r>
              <a:rPr lang="en-GB" dirty="0"/>
              <a:t>There are many ways to do feature selection. </a:t>
            </a:r>
          </a:p>
          <a:p>
            <a:pPr>
              <a:buFont typeface="Arial" panose="020B0604020202020204" pitchFamily="34" charset="0"/>
              <a:buChar char="•"/>
            </a:pPr>
            <a:r>
              <a:rPr lang="en-GB" dirty="0"/>
              <a:t>For linear regression you can check the correlation between the features and the label, for example, the survival rate has higher correlation to age and sex, but not the port you embarked on </a:t>
            </a:r>
          </a:p>
          <a:p>
            <a:pPr>
              <a:buFont typeface="Arial" panose="020B0604020202020204" pitchFamily="34" charset="0"/>
              <a:buChar char="•"/>
            </a:pPr>
            <a:r>
              <a:rPr lang="en-GB" dirty="0"/>
              <a:t>You can also train the model using different features and see their performance.</a:t>
            </a:r>
          </a:p>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44F7F76E-F24B-7021-54E6-24654DFB61BD}"/>
              </a:ext>
            </a:extLst>
          </p:cNvPr>
          <p:cNvSpPr>
            <a:spLocks noGrp="1"/>
          </p:cNvSpPr>
          <p:nvPr>
            <p:ph type="sldNum" sz="quarter" idx="10"/>
          </p:nvPr>
        </p:nvSpPr>
        <p:spPr/>
        <p:txBody>
          <a:bodyPr/>
          <a:lstStyle/>
          <a:p>
            <a:fld id="{8A6A10D0-20D9-4461-9337-5FE1B4A402F6}" type="slidenum">
              <a:rPr lang="en-GB" smtClean="0"/>
              <a:t>38</a:t>
            </a:fld>
            <a:endParaRPr lang="en-GB" dirty="0"/>
          </a:p>
        </p:txBody>
      </p:sp>
    </p:spTree>
    <p:extLst>
      <p:ext uri="{BB962C8B-B14F-4D97-AF65-F5344CB8AC3E}">
        <p14:creationId xmlns:p14="http://schemas.microsoft.com/office/powerpoint/2010/main" val="3429750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F0C96-B8A7-E444-2A06-D215364E0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E537C-968B-22F3-5DF6-16E923ABAAB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C18471EB-409D-38FF-DBB7-F62A4C30FE45}"/>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E63E07BC-50F3-4181-EF78-85704D714E55}"/>
              </a:ext>
            </a:extLst>
          </p:cNvPr>
          <p:cNvSpPr>
            <a:spLocks noGrp="1"/>
          </p:cNvSpPr>
          <p:nvPr>
            <p:ph type="sldNum" sz="quarter" idx="10"/>
          </p:nvPr>
        </p:nvSpPr>
        <p:spPr/>
        <p:txBody>
          <a:bodyPr/>
          <a:lstStyle/>
          <a:p>
            <a:fld id="{8A6A10D0-20D9-4461-9337-5FE1B4A402F6}" type="slidenum">
              <a:rPr lang="en-GB" smtClean="0"/>
              <a:t>39</a:t>
            </a:fld>
            <a:endParaRPr lang="en-GB" dirty="0"/>
          </a:p>
        </p:txBody>
      </p:sp>
    </p:spTree>
    <p:extLst>
      <p:ext uri="{BB962C8B-B14F-4D97-AF65-F5344CB8AC3E}">
        <p14:creationId xmlns:p14="http://schemas.microsoft.com/office/powerpoint/2010/main" val="25738125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CA79E-6AB0-F77B-1477-585FAE019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E5A2B-84C1-75B1-2CFA-60F3B19F0E4D}"/>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C3ECEC1D-994D-2354-5877-03153B53B50F}"/>
              </a:ext>
            </a:extLst>
          </p:cNvPr>
          <p:cNvSpPr>
            <a:spLocks noGrp="1"/>
          </p:cNvSpPr>
          <p:nvPr>
            <p:ph type="body" idx="1"/>
          </p:nvPr>
        </p:nvSpPr>
        <p:spPr/>
        <p:txBody>
          <a:bodyPr/>
          <a:lstStyle/>
          <a:p>
            <a:r>
              <a:rPr lang="en-GB" dirty="0">
                <a:highlight>
                  <a:scrgbClr r="0" g="0" b="0">
                    <a:alpha val="0"/>
                  </a:scrgbClr>
                </a:highlight>
              </a:rPr>
              <a:t>Train–test contamination: you preprocess using the whole dataset before splitting (or you “peek” at test data). </a:t>
            </a:r>
          </a:p>
          <a:p>
            <a:r>
              <a:rPr lang="en-GB" dirty="0">
                <a:highlight>
                  <a:scrgbClr r="0" g="0" b="0">
                    <a:alpha val="0"/>
                  </a:scrgbClr>
                </a:highlight>
              </a:rPr>
              <a:t>Example: </a:t>
            </a:r>
            <a:r>
              <a:rPr lang="en-GB" dirty="0"/>
              <a:t>You have missing values, so you compute the median of each feature using </a:t>
            </a:r>
            <a:r>
              <a:rPr lang="en-GB" i="1" dirty="0"/>
              <a:t>all</a:t>
            </a:r>
            <a:r>
              <a:rPr lang="en-GB" dirty="0"/>
              <a:t> data (train + test).</a:t>
            </a:r>
          </a:p>
          <a:p>
            <a:r>
              <a:rPr lang="en-GB" dirty="0"/>
              <a:t>Then you use those medians to impute missing values in both the training data and the test data.</a:t>
            </a:r>
          </a:p>
          <a:p>
            <a:endParaRPr lang="en-GB" dirty="0">
              <a:highlight>
                <a:scrgbClr r="0" g="0" b="0">
                  <a:alpha val="0"/>
                </a:scrgbClr>
              </a:highlight>
            </a:endParaRPr>
          </a:p>
          <a:p>
            <a:r>
              <a:rPr lang="en-GB" dirty="0">
                <a:highlight>
                  <a:scrgbClr r="0" g="0" b="0">
                    <a:alpha val="0"/>
                  </a:scrgbClr>
                </a:highlight>
              </a:rPr>
              <a:t>Target leakage (leaky features): </a:t>
            </a:r>
            <a:r>
              <a:rPr lang="en-GB" dirty="0"/>
              <a:t>a feature gives away the outcome because it was recorded after the prediction point.</a:t>
            </a:r>
          </a:p>
          <a:p>
            <a:r>
              <a:rPr lang="en-GB" dirty="0">
                <a:highlight>
                  <a:scrgbClr r="0" g="0" b="0">
                    <a:alpha val="0"/>
                  </a:scrgbClr>
                </a:highlight>
              </a:rPr>
              <a:t>	 </a:t>
            </a:r>
            <a:r>
              <a:rPr lang="en-GB" dirty="0"/>
              <a:t>Example: You want to predict “Will the team win the league?” But you include “final league rank at the end of the season” as an input feature. </a:t>
            </a:r>
            <a:endParaRPr lang="en-GB" dirty="0">
              <a:highlight>
                <a:scrgbClr r="0" g="0" b="0">
                  <a:alpha val="0"/>
                </a:scrgbClr>
              </a:highlight>
            </a:endParaRPr>
          </a:p>
          <a:p>
            <a:endParaRPr lang="en-GB" dirty="0">
              <a:highlight>
                <a:scrgbClr r="0" g="0" b="0">
                  <a:alpha val="0"/>
                </a:scrgbClr>
              </a:highlight>
            </a:endParaRPr>
          </a:p>
          <a:p>
            <a:r>
              <a:rPr lang="en-GB" dirty="0">
                <a:highlight>
                  <a:scrgbClr r="0" g="0" b="0">
                    <a:alpha val="0"/>
                  </a:scrgbClr>
                </a:highlight>
              </a:rPr>
              <a:t>Time leakage: using future data to predict the past. </a:t>
            </a:r>
          </a:p>
          <a:p>
            <a:pPr lvl="1"/>
            <a:r>
              <a:rPr lang="en-GB" dirty="0">
                <a:highlight>
                  <a:scrgbClr r="0" g="0" b="0">
                    <a:alpha val="0"/>
                  </a:scrgbClr>
                </a:highlight>
              </a:rPr>
              <a:t>Example: predicting next month’s sales using “total sales next month” or features computed with data from after the prediction date.</a:t>
            </a:r>
          </a:p>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C52EC13F-EF17-6D95-9DD3-F8597F25AE8C}"/>
              </a:ext>
            </a:extLst>
          </p:cNvPr>
          <p:cNvSpPr>
            <a:spLocks noGrp="1"/>
          </p:cNvSpPr>
          <p:nvPr>
            <p:ph type="sldNum" sz="quarter" idx="10"/>
          </p:nvPr>
        </p:nvSpPr>
        <p:spPr/>
        <p:txBody>
          <a:bodyPr/>
          <a:lstStyle/>
          <a:p>
            <a:fld id="{8A6A10D0-20D9-4461-9337-5FE1B4A402F6}" type="slidenum">
              <a:rPr lang="en-GB" smtClean="0"/>
              <a:t>40</a:t>
            </a:fld>
            <a:endParaRPr lang="en-GB" dirty="0"/>
          </a:p>
        </p:txBody>
      </p:sp>
    </p:spTree>
    <p:extLst>
      <p:ext uri="{BB962C8B-B14F-4D97-AF65-F5344CB8AC3E}">
        <p14:creationId xmlns:p14="http://schemas.microsoft.com/office/powerpoint/2010/main" val="7268382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6E26A-7F03-D15D-0043-7D7AD2F2DB9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6A941A3-BD74-E8D1-B1A7-67C5465E9B54}"/>
              </a:ext>
            </a:extLst>
          </p:cNvPr>
          <p:cNvSpPr txBox="1">
            <a:spLocks noGrp="1"/>
          </p:cNvSpPr>
          <p:nvPr>
            <p:ph type="sldNum" sz="quarter" idx="5"/>
          </p:nvPr>
        </p:nvSpPr>
        <p:spPr>
          <a:ln/>
        </p:spPr>
        <p:txBody>
          <a:bodyPr vert="horz" lIns="0" tIns="0" rIns="0" bIns="0" anchor="b" anchorCtr="0">
            <a:noAutofit/>
          </a:bodyPr>
          <a:lstStyle/>
          <a:p>
            <a:pPr lvl="0"/>
            <a:fld id="{691AEF84-A490-024A-83F5-8587B043CF37}" type="slidenum">
              <a:t>41</a:t>
            </a:fld>
            <a:endParaRPr lang="en-GB"/>
          </a:p>
        </p:txBody>
      </p:sp>
      <p:sp>
        <p:nvSpPr>
          <p:cNvPr id="2" name="Slide Image Placeholder 1">
            <a:extLst>
              <a:ext uri="{FF2B5EF4-FFF2-40B4-BE49-F238E27FC236}">
                <a16:creationId xmlns:a16="http://schemas.microsoft.com/office/drawing/2014/main" id="{D0B6A1BC-6518-0A89-B8D7-3564F13715E5}"/>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CFF94E9-4852-5844-5DAE-CD25A4B09F14}"/>
              </a:ext>
            </a:extLst>
          </p:cNvPr>
          <p:cNvSpPr txBox="1">
            <a:spLocks noGrp="1"/>
          </p:cNvSpPr>
          <p:nvPr>
            <p:ph type="body" sz="quarter" idx="1"/>
          </p:nvPr>
        </p:nvSpPr>
        <p:spPr/>
        <p:txBody>
          <a:bodyPr vert="horz">
            <a:spAutoFit/>
          </a:bodyPr>
          <a:lstStyle/>
          <a:p>
            <a:endParaRPr lang="en-GB" dirty="0"/>
          </a:p>
        </p:txBody>
      </p:sp>
    </p:spTree>
    <p:extLst>
      <p:ext uri="{BB962C8B-B14F-4D97-AF65-F5344CB8AC3E}">
        <p14:creationId xmlns:p14="http://schemas.microsoft.com/office/powerpoint/2010/main" val="1840593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D5955-472C-48BC-9F09-39B6FFF50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6159C-FA02-ACEF-D1A2-2869F5C787D4}"/>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CCB1FDE3-B4D0-47D7-F035-9F6288405141}"/>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74B6BE50-00D6-FCE6-CFB9-ED300D15FF44}"/>
              </a:ext>
            </a:extLst>
          </p:cNvPr>
          <p:cNvSpPr>
            <a:spLocks noGrp="1"/>
          </p:cNvSpPr>
          <p:nvPr>
            <p:ph type="sldNum" sz="quarter" idx="10"/>
          </p:nvPr>
        </p:nvSpPr>
        <p:spPr/>
        <p:txBody>
          <a:bodyPr/>
          <a:lstStyle/>
          <a:p>
            <a:fld id="{8A6A10D0-20D9-4461-9337-5FE1B4A402F6}" type="slidenum">
              <a:rPr lang="en-GB" smtClean="0"/>
              <a:t>42</a:t>
            </a:fld>
            <a:endParaRPr lang="en-GB" dirty="0"/>
          </a:p>
        </p:txBody>
      </p:sp>
    </p:spTree>
    <p:extLst>
      <p:ext uri="{BB962C8B-B14F-4D97-AF65-F5344CB8AC3E}">
        <p14:creationId xmlns:p14="http://schemas.microsoft.com/office/powerpoint/2010/main" val="19258561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4F487-D5B4-6B30-F02D-01AB9D58A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2B25B-CDC7-ECC4-E9FE-A4A82CE42A5D}"/>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214A4B64-4870-8129-9D02-C38B2BD344DF}"/>
              </a:ext>
            </a:extLst>
          </p:cNvPr>
          <p:cNvSpPr>
            <a:spLocks noGrp="1"/>
          </p:cNvSpPr>
          <p:nvPr>
            <p:ph type="body" idx="1"/>
          </p:nvPr>
        </p:nvSpPr>
        <p:spPr/>
        <p:txBody>
          <a:bodyPr/>
          <a:lstStyle/>
          <a:p>
            <a:pPr>
              <a:buFont typeface="Arial" panose="020B0604020202020204" pitchFamily="34" charset="0"/>
              <a:buChar char="•"/>
            </a:pPr>
            <a:r>
              <a:rPr lang="en-GB" dirty="0"/>
              <a:t>Intercept is the base line of the training data. It is the base line </a:t>
            </a:r>
            <a:r>
              <a:rPr lang="en-GB" dirty="0" err="1"/>
              <a:t>varlue</a:t>
            </a:r>
            <a:r>
              <a:rPr lang="en-GB" dirty="0"/>
              <a:t> when all other variables are zero. </a:t>
            </a:r>
            <a:br>
              <a:rPr lang="en-GB" dirty="0"/>
            </a:br>
            <a:r>
              <a:rPr lang="en-GB" dirty="0"/>
              <a:t>For example, imagine you are marking your student essay based on a scale between 0-10. let’s say most student get the effort point, so your mark actually range between 5-10.</a:t>
            </a:r>
          </a:p>
        </p:txBody>
      </p:sp>
      <p:sp>
        <p:nvSpPr>
          <p:cNvPr id="4" name="Slide Number Placeholder 3">
            <a:extLst>
              <a:ext uri="{FF2B5EF4-FFF2-40B4-BE49-F238E27FC236}">
                <a16:creationId xmlns:a16="http://schemas.microsoft.com/office/drawing/2014/main" id="{32C33732-A0CE-B972-5A62-7CAEF03001AF}"/>
              </a:ext>
            </a:extLst>
          </p:cNvPr>
          <p:cNvSpPr>
            <a:spLocks noGrp="1"/>
          </p:cNvSpPr>
          <p:nvPr>
            <p:ph type="sldNum" sz="quarter" idx="10"/>
          </p:nvPr>
        </p:nvSpPr>
        <p:spPr/>
        <p:txBody>
          <a:bodyPr/>
          <a:lstStyle/>
          <a:p>
            <a:fld id="{8A6A10D0-20D9-4461-9337-5FE1B4A402F6}" type="slidenum">
              <a:rPr lang="en-GB" smtClean="0"/>
              <a:t>43</a:t>
            </a:fld>
            <a:endParaRPr lang="en-GB" dirty="0"/>
          </a:p>
        </p:txBody>
      </p:sp>
    </p:spTree>
    <p:extLst>
      <p:ext uri="{BB962C8B-B14F-4D97-AF65-F5344CB8AC3E}">
        <p14:creationId xmlns:p14="http://schemas.microsoft.com/office/powerpoint/2010/main" val="12649412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1320-6EF0-B921-57BD-81180E29F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D1524-2158-0D64-2FC4-F2D7F6927002}"/>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7C45D265-76CF-70C9-CB5F-BB36DE6CB2AA}"/>
              </a:ext>
            </a:extLst>
          </p:cNvPr>
          <p:cNvSpPr>
            <a:spLocks noGrp="1"/>
          </p:cNvSpPr>
          <p:nvPr>
            <p:ph type="body" idx="1"/>
          </p:nvPr>
        </p:nvSpPr>
        <p:spPr/>
        <p:txBody>
          <a:bodyPr/>
          <a:lstStyle/>
          <a:p>
            <a:pPr>
              <a:buFont typeface="Arial" panose="020B0604020202020204" pitchFamily="34" charset="0"/>
              <a:buChar char="•"/>
            </a:pPr>
            <a:r>
              <a:rPr lang="en-GB" dirty="0"/>
              <a:t>This indicates that the model explains far less of the variance in the red wine dataset compared to the white wine test set.</a:t>
            </a:r>
          </a:p>
          <a:p>
            <a:pPr>
              <a:buFont typeface="Arial" panose="020B0604020202020204" pitchFamily="34" charset="0"/>
              <a:buChar char="•"/>
            </a:pPr>
            <a:endParaRPr lang="en-GB" dirty="0"/>
          </a:p>
          <a:p>
            <a:pPr>
              <a:buFont typeface="Arial" panose="020B0604020202020204" pitchFamily="34" charset="0"/>
              <a:buChar char="•"/>
            </a:pPr>
            <a:r>
              <a:rPr lang="en-GB" dirty="0"/>
              <a:t>The performance drop likely stems from differences in the underlying characteristics of red and white wine datasets. Although they may have similar feature names, the relationships between those features and wine quality could vary significantly. For example, red wine may rely more heavily on different chemical properties (e.g. tannins, colour intensity) that are either underrepresented or absent in the white wine training data. This would lead to poorer generalisation when the model is applied to red wine.</a:t>
            </a:r>
          </a:p>
        </p:txBody>
      </p:sp>
      <p:sp>
        <p:nvSpPr>
          <p:cNvPr id="4" name="Slide Number Placeholder 3">
            <a:extLst>
              <a:ext uri="{FF2B5EF4-FFF2-40B4-BE49-F238E27FC236}">
                <a16:creationId xmlns:a16="http://schemas.microsoft.com/office/drawing/2014/main" id="{696E374D-F9B5-BD82-5DA9-2E0970239161}"/>
              </a:ext>
            </a:extLst>
          </p:cNvPr>
          <p:cNvSpPr>
            <a:spLocks noGrp="1"/>
          </p:cNvSpPr>
          <p:nvPr>
            <p:ph type="sldNum" sz="quarter" idx="10"/>
          </p:nvPr>
        </p:nvSpPr>
        <p:spPr/>
        <p:txBody>
          <a:bodyPr/>
          <a:lstStyle/>
          <a:p>
            <a:fld id="{8A6A10D0-20D9-4461-9337-5FE1B4A402F6}" type="slidenum">
              <a:rPr lang="en-GB" smtClean="0"/>
              <a:t>44</a:t>
            </a:fld>
            <a:endParaRPr lang="en-GB" dirty="0"/>
          </a:p>
        </p:txBody>
      </p:sp>
    </p:spTree>
    <p:extLst>
      <p:ext uri="{BB962C8B-B14F-4D97-AF65-F5344CB8AC3E}">
        <p14:creationId xmlns:p14="http://schemas.microsoft.com/office/powerpoint/2010/main" val="22892625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0807-A810-EB76-6552-704B9917F6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4DB4C-A616-B4BE-A8B8-38C019DE66D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74897A6F-B8A5-BD3B-58F4-3BF0B7FEEBBC}"/>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F204138E-E0E8-E41F-D14A-BF490084F77D}"/>
              </a:ext>
            </a:extLst>
          </p:cNvPr>
          <p:cNvSpPr>
            <a:spLocks noGrp="1"/>
          </p:cNvSpPr>
          <p:nvPr>
            <p:ph type="sldNum" sz="quarter" idx="10"/>
          </p:nvPr>
        </p:nvSpPr>
        <p:spPr/>
        <p:txBody>
          <a:bodyPr/>
          <a:lstStyle/>
          <a:p>
            <a:fld id="{8A6A10D0-20D9-4461-9337-5FE1B4A402F6}" type="slidenum">
              <a:rPr lang="en-GB" smtClean="0"/>
              <a:t>45</a:t>
            </a:fld>
            <a:endParaRPr lang="en-GB" dirty="0"/>
          </a:p>
        </p:txBody>
      </p:sp>
    </p:spTree>
    <p:extLst>
      <p:ext uri="{BB962C8B-B14F-4D97-AF65-F5344CB8AC3E}">
        <p14:creationId xmlns:p14="http://schemas.microsoft.com/office/powerpoint/2010/main" val="20905843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9AF3-C8BE-54AF-1F9A-70BD55BDFF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A488AE-A838-FFB8-0CC6-82144D9346E1}"/>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22007F44-0CEB-D3DD-2848-6941E831466B}"/>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61D7AF1C-CD36-44FE-2D81-0A9A117E2234}"/>
              </a:ext>
            </a:extLst>
          </p:cNvPr>
          <p:cNvSpPr>
            <a:spLocks noGrp="1"/>
          </p:cNvSpPr>
          <p:nvPr>
            <p:ph type="sldNum" sz="quarter" idx="10"/>
          </p:nvPr>
        </p:nvSpPr>
        <p:spPr/>
        <p:txBody>
          <a:bodyPr/>
          <a:lstStyle/>
          <a:p>
            <a:fld id="{8A6A10D0-20D9-4461-9337-5FE1B4A402F6}" type="slidenum">
              <a:rPr lang="en-GB" smtClean="0"/>
              <a:t>46</a:t>
            </a:fld>
            <a:endParaRPr lang="en-GB" dirty="0"/>
          </a:p>
        </p:txBody>
      </p:sp>
    </p:spTree>
    <p:extLst>
      <p:ext uri="{BB962C8B-B14F-4D97-AF65-F5344CB8AC3E}">
        <p14:creationId xmlns:p14="http://schemas.microsoft.com/office/powerpoint/2010/main" val="41827891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24EB-91B6-FADE-262F-16CE430DE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16672-31E9-C855-9C13-178B2230DC89}"/>
              </a:ext>
            </a:extLst>
          </p:cNvPr>
          <p:cNvSpPr>
            <a:spLocks noGrp="1" noRot="1" noChangeAspect="1"/>
          </p:cNvSpPr>
          <p:nvPr>
            <p:ph type="sldImg"/>
          </p:nvPr>
        </p:nvSpPr>
        <p:spPr>
          <a:xfrm>
            <a:off x="217488" y="812800"/>
            <a:ext cx="7124700" cy="4008438"/>
          </a:xfrm>
        </p:spPr>
      </p:sp>
      <p:sp>
        <p:nvSpPr>
          <p:cNvPr id="3" name="Notes Placeholder 2">
            <a:extLst>
              <a:ext uri="{FF2B5EF4-FFF2-40B4-BE49-F238E27FC236}">
                <a16:creationId xmlns:a16="http://schemas.microsoft.com/office/drawing/2014/main" id="{1DB9DB9C-8C5E-8F3D-45A0-60E65177841B}"/>
              </a:ext>
            </a:extLst>
          </p:cNvPr>
          <p:cNvSpPr>
            <a:spLocks noGrp="1"/>
          </p:cNvSpPr>
          <p:nvPr>
            <p:ph type="body" idx="1"/>
          </p:nvPr>
        </p:nvSpPr>
        <p:spPr/>
        <p:txBody>
          <a:bodyPr/>
          <a:lstStyle/>
          <a:p>
            <a:pPr>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A2FE181-4B62-9EE8-00EF-D68A17F8A085}"/>
              </a:ext>
            </a:extLst>
          </p:cNvPr>
          <p:cNvSpPr>
            <a:spLocks noGrp="1"/>
          </p:cNvSpPr>
          <p:nvPr>
            <p:ph type="sldNum" sz="quarter" idx="10"/>
          </p:nvPr>
        </p:nvSpPr>
        <p:spPr/>
        <p:txBody>
          <a:bodyPr/>
          <a:lstStyle/>
          <a:p>
            <a:fld id="{8A6A10D0-20D9-4461-9337-5FE1B4A402F6}" type="slidenum">
              <a:rPr lang="en-GB" smtClean="0"/>
              <a:t>47</a:t>
            </a:fld>
            <a:endParaRPr lang="en-GB" dirty="0"/>
          </a:p>
        </p:txBody>
      </p:sp>
    </p:spTree>
    <p:extLst>
      <p:ext uri="{BB962C8B-B14F-4D97-AF65-F5344CB8AC3E}">
        <p14:creationId xmlns:p14="http://schemas.microsoft.com/office/powerpoint/2010/main" val="4124705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83E72-F8A2-1CBA-146D-E9512F376707}"/>
              </a:ext>
            </a:extLst>
          </p:cNvPr>
          <p:cNvSpPr>
            <a:spLocks noGrp="1"/>
          </p:cNvSpPr>
          <p:nvPr>
            <p:ph type="ctrTitle"/>
          </p:nvPr>
        </p:nvSpPr>
        <p:spPr>
          <a:xfrm>
            <a:off x="1260078" y="928028"/>
            <a:ext cx="7560469" cy="1974191"/>
          </a:xfrm>
        </p:spPr>
        <p:txBody>
          <a:bodyPr anchor="b"/>
          <a:lstStyle>
            <a:lvl1pPr algn="ctr">
              <a:defRPr sz="4961"/>
            </a:lvl1pPr>
          </a:lstStyle>
          <a:p>
            <a:r>
              <a:rPr lang="en-GB"/>
              <a:t>Click to edit Master title style</a:t>
            </a:r>
            <a:endParaRPr lang="en-US"/>
          </a:p>
        </p:txBody>
      </p:sp>
      <p:sp>
        <p:nvSpPr>
          <p:cNvPr id="3" name="Subtitle 2">
            <a:extLst>
              <a:ext uri="{FF2B5EF4-FFF2-40B4-BE49-F238E27FC236}">
                <a16:creationId xmlns:a16="http://schemas.microsoft.com/office/drawing/2014/main" id="{0044523C-77F6-A768-F211-3D7293603E37}"/>
              </a:ext>
            </a:extLst>
          </p:cNvPr>
          <p:cNvSpPr>
            <a:spLocks noGrp="1"/>
          </p:cNvSpPr>
          <p:nvPr>
            <p:ph type="subTitle" idx="1"/>
          </p:nvPr>
        </p:nvSpPr>
        <p:spPr>
          <a:xfrm>
            <a:off x="1260078" y="2978352"/>
            <a:ext cx="7560469" cy="1369070"/>
          </a:xfrm>
        </p:spPr>
        <p:txBody>
          <a:bodyPr/>
          <a:lstStyle>
            <a:lvl1pPr marL="0" indent="0" algn="ctr">
              <a:buNone/>
              <a:defRPr sz="1984"/>
            </a:lvl1pPr>
            <a:lvl2pPr marL="378013" indent="0" algn="ctr">
              <a:buNone/>
              <a:defRPr sz="1654"/>
            </a:lvl2pPr>
            <a:lvl3pPr marL="756026" indent="0" algn="ctr">
              <a:buNone/>
              <a:defRPr sz="1488"/>
            </a:lvl3pPr>
            <a:lvl4pPr marL="1134039" indent="0" algn="ctr">
              <a:buNone/>
              <a:defRPr sz="1323"/>
            </a:lvl4pPr>
            <a:lvl5pPr marL="1512052" indent="0" algn="ctr">
              <a:buNone/>
              <a:defRPr sz="1323"/>
            </a:lvl5pPr>
            <a:lvl6pPr marL="1890065" indent="0" algn="ctr">
              <a:buNone/>
              <a:defRPr sz="1323"/>
            </a:lvl6pPr>
            <a:lvl7pPr marL="2268078" indent="0" algn="ctr">
              <a:buNone/>
              <a:defRPr sz="1323"/>
            </a:lvl7pPr>
            <a:lvl8pPr marL="2646091" indent="0" algn="ctr">
              <a:buNone/>
              <a:defRPr sz="1323"/>
            </a:lvl8pPr>
            <a:lvl9pPr marL="3024104" indent="0" algn="ctr">
              <a:buNone/>
              <a:defRPr sz="1323"/>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154548-994D-9BC4-DC79-6D92E17A0DAC}"/>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5" name="Footer Placeholder 4">
            <a:extLst>
              <a:ext uri="{FF2B5EF4-FFF2-40B4-BE49-F238E27FC236}">
                <a16:creationId xmlns:a16="http://schemas.microsoft.com/office/drawing/2014/main" id="{043A6934-29C6-83CA-857A-FC9F87DB3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0DFD47-51E7-387D-952F-D0FCA976A314}"/>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2291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A0BED-971D-5BA2-B20A-198319C99E0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CB508AF-AD71-07DF-3AE6-B18648C5340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837632A-45C8-7A11-F41B-90FEC34FEB43}"/>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5" name="Footer Placeholder 4">
            <a:extLst>
              <a:ext uri="{FF2B5EF4-FFF2-40B4-BE49-F238E27FC236}">
                <a16:creationId xmlns:a16="http://schemas.microsoft.com/office/drawing/2014/main" id="{FA3CD5A7-3AF5-C447-4A93-6B5DDA829A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B2CE21-C1AF-6FD1-25B5-A14C064F6773}"/>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1013933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A5D6-D07D-A977-57BB-1A7D32330206}"/>
              </a:ext>
            </a:extLst>
          </p:cNvPr>
          <p:cNvSpPr>
            <a:spLocks noGrp="1"/>
          </p:cNvSpPr>
          <p:nvPr>
            <p:ph type="title"/>
          </p:nvPr>
        </p:nvSpPr>
        <p:spPr>
          <a:xfrm>
            <a:off x="687793" y="1413700"/>
            <a:ext cx="8694539" cy="2358791"/>
          </a:xfrm>
        </p:spPr>
        <p:txBody>
          <a:bodyPr anchor="b"/>
          <a:lstStyle>
            <a:lvl1pPr>
              <a:defRPr sz="4961"/>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458A0BD-5C82-A8A1-6BB9-0C51BF857CFD}"/>
              </a:ext>
            </a:extLst>
          </p:cNvPr>
          <p:cNvSpPr>
            <a:spLocks noGrp="1"/>
          </p:cNvSpPr>
          <p:nvPr>
            <p:ph type="body" idx="1"/>
          </p:nvPr>
        </p:nvSpPr>
        <p:spPr>
          <a:xfrm>
            <a:off x="687793" y="3794807"/>
            <a:ext cx="8694539" cy="1240432"/>
          </a:xfrm>
        </p:spPr>
        <p:txBody>
          <a:bodyPr/>
          <a:lstStyle>
            <a:lvl1pPr marL="0" indent="0">
              <a:buNone/>
              <a:defRPr sz="1984">
                <a:solidFill>
                  <a:schemeClr val="tx1">
                    <a:tint val="82000"/>
                  </a:schemeClr>
                </a:solidFill>
              </a:defRPr>
            </a:lvl1pPr>
            <a:lvl2pPr marL="378013" indent="0">
              <a:buNone/>
              <a:defRPr sz="1654">
                <a:solidFill>
                  <a:schemeClr val="tx1">
                    <a:tint val="82000"/>
                  </a:schemeClr>
                </a:solidFill>
              </a:defRPr>
            </a:lvl2pPr>
            <a:lvl3pPr marL="756026" indent="0">
              <a:buNone/>
              <a:defRPr sz="1488">
                <a:solidFill>
                  <a:schemeClr val="tx1">
                    <a:tint val="82000"/>
                  </a:schemeClr>
                </a:solidFill>
              </a:defRPr>
            </a:lvl3pPr>
            <a:lvl4pPr marL="1134039" indent="0">
              <a:buNone/>
              <a:defRPr sz="1323">
                <a:solidFill>
                  <a:schemeClr val="tx1">
                    <a:tint val="82000"/>
                  </a:schemeClr>
                </a:solidFill>
              </a:defRPr>
            </a:lvl4pPr>
            <a:lvl5pPr marL="1512052" indent="0">
              <a:buNone/>
              <a:defRPr sz="1323">
                <a:solidFill>
                  <a:schemeClr val="tx1">
                    <a:tint val="82000"/>
                  </a:schemeClr>
                </a:solidFill>
              </a:defRPr>
            </a:lvl5pPr>
            <a:lvl6pPr marL="1890065" indent="0">
              <a:buNone/>
              <a:defRPr sz="1323">
                <a:solidFill>
                  <a:schemeClr val="tx1">
                    <a:tint val="82000"/>
                  </a:schemeClr>
                </a:solidFill>
              </a:defRPr>
            </a:lvl6pPr>
            <a:lvl7pPr marL="2268078" indent="0">
              <a:buNone/>
              <a:defRPr sz="1323">
                <a:solidFill>
                  <a:schemeClr val="tx1">
                    <a:tint val="82000"/>
                  </a:schemeClr>
                </a:solidFill>
              </a:defRPr>
            </a:lvl7pPr>
            <a:lvl8pPr marL="2646091" indent="0">
              <a:buNone/>
              <a:defRPr sz="1323">
                <a:solidFill>
                  <a:schemeClr val="tx1">
                    <a:tint val="82000"/>
                  </a:schemeClr>
                </a:solidFill>
              </a:defRPr>
            </a:lvl8pPr>
            <a:lvl9pPr marL="3024104" indent="0">
              <a:buNone/>
              <a:defRPr sz="1323">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8D95A6F-C6BB-F3E7-0D8D-93FA8C051518}"/>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5" name="Footer Placeholder 4">
            <a:extLst>
              <a:ext uri="{FF2B5EF4-FFF2-40B4-BE49-F238E27FC236}">
                <a16:creationId xmlns:a16="http://schemas.microsoft.com/office/drawing/2014/main" id="{2E436DD3-38BA-5283-E431-2D5F20798C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6CCC18-2C9D-71DD-54FF-E0E3B8D02946}"/>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403822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C8B86-8D63-810A-9BD4-16384DFF445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601C782-66ED-0AF0-9605-F21050703A89}"/>
              </a:ext>
            </a:extLst>
          </p:cNvPr>
          <p:cNvSpPr>
            <a:spLocks noGrp="1"/>
          </p:cNvSpPr>
          <p:nvPr>
            <p:ph sz="half" idx="1"/>
          </p:nvPr>
        </p:nvSpPr>
        <p:spPr>
          <a:xfrm>
            <a:off x="693043" y="1509521"/>
            <a:ext cx="4284266" cy="35979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B763A9-50B6-B27B-84FE-2ECF1F0084D9}"/>
              </a:ext>
            </a:extLst>
          </p:cNvPr>
          <p:cNvSpPr>
            <a:spLocks noGrp="1"/>
          </p:cNvSpPr>
          <p:nvPr>
            <p:ph sz="half" idx="2"/>
          </p:nvPr>
        </p:nvSpPr>
        <p:spPr>
          <a:xfrm>
            <a:off x="5103316" y="1509521"/>
            <a:ext cx="4284266" cy="359791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BD378C8-97AB-667F-AECC-3C75C6C9B9E0}"/>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6" name="Footer Placeholder 5">
            <a:extLst>
              <a:ext uri="{FF2B5EF4-FFF2-40B4-BE49-F238E27FC236}">
                <a16:creationId xmlns:a16="http://schemas.microsoft.com/office/drawing/2014/main" id="{8EED5E19-C157-5E57-FDC2-ADC35BC42E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BACE16-C70C-3DFC-CAAA-04CA1122FB59}"/>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4210903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1747A-8578-06D8-3212-3BADACE84EA8}"/>
              </a:ext>
            </a:extLst>
          </p:cNvPr>
          <p:cNvSpPr>
            <a:spLocks noGrp="1"/>
          </p:cNvSpPr>
          <p:nvPr>
            <p:ph type="title"/>
          </p:nvPr>
        </p:nvSpPr>
        <p:spPr>
          <a:xfrm>
            <a:off x="694356" y="301905"/>
            <a:ext cx="8694539" cy="1096044"/>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2CD2617-5D50-299B-2885-AC36EBF56B3B}"/>
              </a:ext>
            </a:extLst>
          </p:cNvPr>
          <p:cNvSpPr>
            <a:spLocks noGrp="1"/>
          </p:cNvSpPr>
          <p:nvPr>
            <p:ph type="body" idx="1"/>
          </p:nvPr>
        </p:nvSpPr>
        <p:spPr>
          <a:xfrm>
            <a:off x="694357" y="1390073"/>
            <a:ext cx="4264576" cy="681253"/>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4" name="Content Placeholder 3">
            <a:extLst>
              <a:ext uri="{FF2B5EF4-FFF2-40B4-BE49-F238E27FC236}">
                <a16:creationId xmlns:a16="http://schemas.microsoft.com/office/drawing/2014/main" id="{10E243DB-8FE2-6420-A86B-8D21D63D0706}"/>
              </a:ext>
            </a:extLst>
          </p:cNvPr>
          <p:cNvSpPr>
            <a:spLocks noGrp="1"/>
          </p:cNvSpPr>
          <p:nvPr>
            <p:ph sz="half" idx="2"/>
          </p:nvPr>
        </p:nvSpPr>
        <p:spPr>
          <a:xfrm>
            <a:off x="694357" y="2071326"/>
            <a:ext cx="4264576" cy="304660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C5A511-C32C-76D5-E000-B842E607DE95}"/>
              </a:ext>
            </a:extLst>
          </p:cNvPr>
          <p:cNvSpPr>
            <a:spLocks noGrp="1"/>
          </p:cNvSpPr>
          <p:nvPr>
            <p:ph type="body" sz="quarter" idx="3"/>
          </p:nvPr>
        </p:nvSpPr>
        <p:spPr>
          <a:xfrm>
            <a:off x="5103316" y="1390073"/>
            <a:ext cx="4285579" cy="681253"/>
          </a:xfrm>
        </p:spPr>
        <p:txBody>
          <a:bodyPr anchor="b"/>
          <a:lstStyle>
            <a:lvl1pPr marL="0" indent="0">
              <a:buNone/>
              <a:defRPr sz="1984" b="1"/>
            </a:lvl1pPr>
            <a:lvl2pPr marL="378013" indent="0">
              <a:buNone/>
              <a:defRPr sz="1654" b="1"/>
            </a:lvl2pPr>
            <a:lvl3pPr marL="756026" indent="0">
              <a:buNone/>
              <a:defRPr sz="1488" b="1"/>
            </a:lvl3pPr>
            <a:lvl4pPr marL="1134039" indent="0">
              <a:buNone/>
              <a:defRPr sz="1323" b="1"/>
            </a:lvl4pPr>
            <a:lvl5pPr marL="1512052" indent="0">
              <a:buNone/>
              <a:defRPr sz="1323" b="1"/>
            </a:lvl5pPr>
            <a:lvl6pPr marL="1890065" indent="0">
              <a:buNone/>
              <a:defRPr sz="1323" b="1"/>
            </a:lvl6pPr>
            <a:lvl7pPr marL="2268078" indent="0">
              <a:buNone/>
              <a:defRPr sz="1323" b="1"/>
            </a:lvl7pPr>
            <a:lvl8pPr marL="2646091" indent="0">
              <a:buNone/>
              <a:defRPr sz="1323" b="1"/>
            </a:lvl8pPr>
            <a:lvl9pPr marL="3024104" indent="0">
              <a:buNone/>
              <a:defRPr sz="1323" b="1"/>
            </a:lvl9pPr>
          </a:lstStyle>
          <a:p>
            <a:pPr lvl="0"/>
            <a:r>
              <a:rPr lang="en-GB"/>
              <a:t>Click to edit Master text styles</a:t>
            </a:r>
          </a:p>
        </p:txBody>
      </p:sp>
      <p:sp>
        <p:nvSpPr>
          <p:cNvPr id="6" name="Content Placeholder 5">
            <a:extLst>
              <a:ext uri="{FF2B5EF4-FFF2-40B4-BE49-F238E27FC236}">
                <a16:creationId xmlns:a16="http://schemas.microsoft.com/office/drawing/2014/main" id="{72FD0C36-1E26-B46C-64DB-94C68CD794D5}"/>
              </a:ext>
            </a:extLst>
          </p:cNvPr>
          <p:cNvSpPr>
            <a:spLocks noGrp="1"/>
          </p:cNvSpPr>
          <p:nvPr>
            <p:ph sz="quarter" idx="4"/>
          </p:nvPr>
        </p:nvSpPr>
        <p:spPr>
          <a:xfrm>
            <a:off x="5103316" y="2071326"/>
            <a:ext cx="4285579" cy="304660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8410892-491F-AAB4-3612-3053359C9646}"/>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8" name="Footer Placeholder 7">
            <a:extLst>
              <a:ext uri="{FF2B5EF4-FFF2-40B4-BE49-F238E27FC236}">
                <a16:creationId xmlns:a16="http://schemas.microsoft.com/office/drawing/2014/main" id="{10A9CEA5-D2EA-3F7C-05DC-9D41A9F3907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3EAB44-9BE1-ED5F-5143-14D2BB22FB34}"/>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3470024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262C2-3402-CE24-1023-B61BB418E26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DE97330-CD82-F14C-0394-4140A82B46B1}"/>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4" name="Footer Placeholder 3">
            <a:extLst>
              <a:ext uri="{FF2B5EF4-FFF2-40B4-BE49-F238E27FC236}">
                <a16:creationId xmlns:a16="http://schemas.microsoft.com/office/drawing/2014/main" id="{A10414F9-D82C-12AC-EB0A-65FE1940FB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2E8161-93B4-8496-6FA0-C52ED628D950}"/>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2898277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27551D-0F7D-35B5-541F-6CB2695ABA7B}"/>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3" name="Footer Placeholder 2">
            <a:extLst>
              <a:ext uri="{FF2B5EF4-FFF2-40B4-BE49-F238E27FC236}">
                <a16:creationId xmlns:a16="http://schemas.microsoft.com/office/drawing/2014/main" id="{5371D576-A6FF-83B5-4FF8-770106E18D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4AE8B9-6B2A-690A-A603-91C6011B78A8}"/>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392570063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8796D-D254-281F-C79A-A8797C674695}"/>
              </a:ext>
            </a:extLst>
          </p:cNvPr>
          <p:cNvSpPr>
            <a:spLocks noGrp="1"/>
          </p:cNvSpPr>
          <p:nvPr>
            <p:ph type="title"/>
          </p:nvPr>
        </p:nvSpPr>
        <p:spPr>
          <a:xfrm>
            <a:off x="694356" y="378037"/>
            <a:ext cx="3251264" cy="1323128"/>
          </a:xfrm>
        </p:spPr>
        <p:txBody>
          <a:bodyPr anchor="b"/>
          <a:lstStyle>
            <a:lvl1pPr>
              <a:defRPr sz="2646"/>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DA237DE-BC77-A390-89D5-2A8D01CC75C3}"/>
              </a:ext>
            </a:extLst>
          </p:cNvPr>
          <p:cNvSpPr>
            <a:spLocks noGrp="1"/>
          </p:cNvSpPr>
          <p:nvPr>
            <p:ph idx="1"/>
          </p:nvPr>
        </p:nvSpPr>
        <p:spPr>
          <a:xfrm>
            <a:off x="4285579" y="816455"/>
            <a:ext cx="5103316" cy="4029766"/>
          </a:xfrm>
        </p:spPr>
        <p:txBody>
          <a:bodyPr/>
          <a:lstStyle>
            <a:lvl1pPr>
              <a:defRPr sz="2646"/>
            </a:lvl1pPr>
            <a:lvl2pPr>
              <a:defRPr sz="2315"/>
            </a:lvl2pPr>
            <a:lvl3pPr>
              <a:defRPr sz="1984"/>
            </a:lvl3pPr>
            <a:lvl4pPr>
              <a:defRPr sz="1654"/>
            </a:lvl4pPr>
            <a:lvl5pPr>
              <a:defRPr sz="1654"/>
            </a:lvl5pPr>
            <a:lvl6pPr>
              <a:defRPr sz="1654"/>
            </a:lvl6pPr>
            <a:lvl7pPr>
              <a:defRPr sz="1654"/>
            </a:lvl7pPr>
            <a:lvl8pPr>
              <a:defRPr sz="1654"/>
            </a:lvl8pPr>
            <a:lvl9pPr>
              <a:defRPr sz="1654"/>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DCF3131-5B52-74E3-4305-0B3113F1965C}"/>
              </a:ext>
            </a:extLst>
          </p:cNvPr>
          <p:cNvSpPr>
            <a:spLocks noGrp="1"/>
          </p:cNvSpPr>
          <p:nvPr>
            <p:ph type="body" sz="half" idx="2"/>
          </p:nvPr>
        </p:nvSpPr>
        <p:spPr>
          <a:xfrm>
            <a:off x="694356" y="1701165"/>
            <a:ext cx="3251264" cy="3151619"/>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n-GB"/>
              <a:t>Click to edit Master text styles</a:t>
            </a:r>
          </a:p>
        </p:txBody>
      </p:sp>
      <p:sp>
        <p:nvSpPr>
          <p:cNvPr id="5" name="Date Placeholder 4">
            <a:extLst>
              <a:ext uri="{FF2B5EF4-FFF2-40B4-BE49-F238E27FC236}">
                <a16:creationId xmlns:a16="http://schemas.microsoft.com/office/drawing/2014/main" id="{555DAA8D-B86B-FA76-ADB1-61608FE43BEA}"/>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6" name="Footer Placeholder 5">
            <a:extLst>
              <a:ext uri="{FF2B5EF4-FFF2-40B4-BE49-F238E27FC236}">
                <a16:creationId xmlns:a16="http://schemas.microsoft.com/office/drawing/2014/main" id="{8E8F4154-8088-4B1E-ADAD-A9B7784F7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531825-E3BF-C013-333C-2036FD33B11B}"/>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223339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F927-5B9F-68A5-C764-FFDF61138DC7}"/>
              </a:ext>
            </a:extLst>
          </p:cNvPr>
          <p:cNvSpPr>
            <a:spLocks noGrp="1"/>
          </p:cNvSpPr>
          <p:nvPr>
            <p:ph type="title"/>
          </p:nvPr>
        </p:nvSpPr>
        <p:spPr>
          <a:xfrm>
            <a:off x="694356" y="378037"/>
            <a:ext cx="3251264" cy="1323128"/>
          </a:xfrm>
        </p:spPr>
        <p:txBody>
          <a:bodyPr anchor="b"/>
          <a:lstStyle>
            <a:lvl1pPr>
              <a:defRPr sz="2646"/>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9865903-CD88-A779-9EFC-5853DAF9BDA0}"/>
              </a:ext>
            </a:extLst>
          </p:cNvPr>
          <p:cNvSpPr>
            <a:spLocks noGrp="1"/>
          </p:cNvSpPr>
          <p:nvPr>
            <p:ph type="pic" idx="1"/>
          </p:nvPr>
        </p:nvSpPr>
        <p:spPr>
          <a:xfrm>
            <a:off x="4285579" y="816455"/>
            <a:ext cx="5103316" cy="4029766"/>
          </a:xfrm>
        </p:spPr>
        <p:txBody>
          <a:bodyPr/>
          <a:lstStyle>
            <a:lvl1pPr marL="0" indent="0">
              <a:buNone/>
              <a:defRPr sz="2646"/>
            </a:lvl1pPr>
            <a:lvl2pPr marL="378013" indent="0">
              <a:buNone/>
              <a:defRPr sz="2315"/>
            </a:lvl2pPr>
            <a:lvl3pPr marL="756026" indent="0">
              <a:buNone/>
              <a:defRPr sz="1984"/>
            </a:lvl3pPr>
            <a:lvl4pPr marL="1134039" indent="0">
              <a:buNone/>
              <a:defRPr sz="1654"/>
            </a:lvl4pPr>
            <a:lvl5pPr marL="1512052" indent="0">
              <a:buNone/>
              <a:defRPr sz="1654"/>
            </a:lvl5pPr>
            <a:lvl6pPr marL="1890065" indent="0">
              <a:buNone/>
              <a:defRPr sz="1654"/>
            </a:lvl6pPr>
            <a:lvl7pPr marL="2268078" indent="0">
              <a:buNone/>
              <a:defRPr sz="1654"/>
            </a:lvl7pPr>
            <a:lvl8pPr marL="2646091" indent="0">
              <a:buNone/>
              <a:defRPr sz="1654"/>
            </a:lvl8pPr>
            <a:lvl9pPr marL="3024104" indent="0">
              <a:buNone/>
              <a:defRPr sz="1654"/>
            </a:lvl9pPr>
          </a:lstStyle>
          <a:p>
            <a:endParaRPr lang="en-US"/>
          </a:p>
        </p:txBody>
      </p:sp>
      <p:sp>
        <p:nvSpPr>
          <p:cNvPr id="4" name="Text Placeholder 3">
            <a:extLst>
              <a:ext uri="{FF2B5EF4-FFF2-40B4-BE49-F238E27FC236}">
                <a16:creationId xmlns:a16="http://schemas.microsoft.com/office/drawing/2014/main" id="{BC8FFFA3-0DB8-663D-C8D4-9A81AEA070CB}"/>
              </a:ext>
            </a:extLst>
          </p:cNvPr>
          <p:cNvSpPr>
            <a:spLocks noGrp="1"/>
          </p:cNvSpPr>
          <p:nvPr>
            <p:ph type="body" sz="half" idx="2"/>
          </p:nvPr>
        </p:nvSpPr>
        <p:spPr>
          <a:xfrm>
            <a:off x="694356" y="1701165"/>
            <a:ext cx="3251264" cy="3151619"/>
          </a:xfrm>
        </p:spPr>
        <p:txBody>
          <a:bodyPr/>
          <a:lstStyle>
            <a:lvl1pPr marL="0" indent="0">
              <a:buNone/>
              <a:defRPr sz="1323"/>
            </a:lvl1pPr>
            <a:lvl2pPr marL="378013" indent="0">
              <a:buNone/>
              <a:defRPr sz="1158"/>
            </a:lvl2pPr>
            <a:lvl3pPr marL="756026" indent="0">
              <a:buNone/>
              <a:defRPr sz="992"/>
            </a:lvl3pPr>
            <a:lvl4pPr marL="1134039" indent="0">
              <a:buNone/>
              <a:defRPr sz="827"/>
            </a:lvl4pPr>
            <a:lvl5pPr marL="1512052" indent="0">
              <a:buNone/>
              <a:defRPr sz="827"/>
            </a:lvl5pPr>
            <a:lvl6pPr marL="1890065" indent="0">
              <a:buNone/>
              <a:defRPr sz="827"/>
            </a:lvl6pPr>
            <a:lvl7pPr marL="2268078" indent="0">
              <a:buNone/>
              <a:defRPr sz="827"/>
            </a:lvl7pPr>
            <a:lvl8pPr marL="2646091" indent="0">
              <a:buNone/>
              <a:defRPr sz="827"/>
            </a:lvl8pPr>
            <a:lvl9pPr marL="3024104" indent="0">
              <a:buNone/>
              <a:defRPr sz="827"/>
            </a:lvl9pPr>
          </a:lstStyle>
          <a:p>
            <a:pPr lvl="0"/>
            <a:r>
              <a:rPr lang="en-GB"/>
              <a:t>Click to edit Master text styles</a:t>
            </a:r>
          </a:p>
        </p:txBody>
      </p:sp>
      <p:sp>
        <p:nvSpPr>
          <p:cNvPr id="5" name="Date Placeholder 4">
            <a:extLst>
              <a:ext uri="{FF2B5EF4-FFF2-40B4-BE49-F238E27FC236}">
                <a16:creationId xmlns:a16="http://schemas.microsoft.com/office/drawing/2014/main" id="{59F5FAF7-B202-777C-7C5A-42210BC6ABDB}"/>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6" name="Footer Placeholder 5">
            <a:extLst>
              <a:ext uri="{FF2B5EF4-FFF2-40B4-BE49-F238E27FC236}">
                <a16:creationId xmlns:a16="http://schemas.microsoft.com/office/drawing/2014/main" id="{419A3F6A-45CB-37D3-47E0-E92B189F62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7B4A30-41A2-10E0-D083-57D7798B8253}"/>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2391539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8C98-0826-E9D0-EFC9-12D08816229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DE641-33C0-74EA-40BB-DDE2774A707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BD30ED9-BD1D-41F6-C1FC-13F7D184ECF4}"/>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5" name="Footer Placeholder 4">
            <a:extLst>
              <a:ext uri="{FF2B5EF4-FFF2-40B4-BE49-F238E27FC236}">
                <a16:creationId xmlns:a16="http://schemas.microsoft.com/office/drawing/2014/main" id="{83D69753-BC12-15D3-57B9-6D731A1A3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4FB002-4F2C-9B26-8343-31A1C174653B}"/>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327879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95A63D-3714-2EBB-C187-A81A5992BA51}"/>
              </a:ext>
            </a:extLst>
          </p:cNvPr>
          <p:cNvSpPr>
            <a:spLocks noGrp="1"/>
          </p:cNvSpPr>
          <p:nvPr>
            <p:ph type="title" orient="vert"/>
          </p:nvPr>
        </p:nvSpPr>
        <p:spPr>
          <a:xfrm>
            <a:off x="7213947" y="301904"/>
            <a:ext cx="2173635" cy="4805529"/>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C4AAE00-55BC-E47E-5F0C-33388E438488}"/>
              </a:ext>
            </a:extLst>
          </p:cNvPr>
          <p:cNvSpPr>
            <a:spLocks noGrp="1"/>
          </p:cNvSpPr>
          <p:nvPr>
            <p:ph type="body" orient="vert" idx="1"/>
          </p:nvPr>
        </p:nvSpPr>
        <p:spPr>
          <a:xfrm>
            <a:off x="693043" y="301904"/>
            <a:ext cx="6394896" cy="480552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E3B8E59-673D-0444-E00D-E1E095947D5F}"/>
              </a:ext>
            </a:extLst>
          </p:cNvPr>
          <p:cNvSpPr>
            <a:spLocks noGrp="1"/>
          </p:cNvSpPr>
          <p:nvPr>
            <p:ph type="dt" sz="half" idx="10"/>
          </p:nvPr>
        </p:nvSpPr>
        <p:spPr/>
        <p:txBody>
          <a:bodyPr/>
          <a:lstStyle/>
          <a:p>
            <a:fld id="{3113A866-3C2A-5245-AB24-5AA56676294E}" type="datetimeFigureOut">
              <a:rPr lang="en-US" smtClean="0"/>
              <a:t>3/30/26</a:t>
            </a:fld>
            <a:endParaRPr lang="en-US"/>
          </a:p>
        </p:txBody>
      </p:sp>
      <p:sp>
        <p:nvSpPr>
          <p:cNvPr id="5" name="Footer Placeholder 4">
            <a:extLst>
              <a:ext uri="{FF2B5EF4-FFF2-40B4-BE49-F238E27FC236}">
                <a16:creationId xmlns:a16="http://schemas.microsoft.com/office/drawing/2014/main" id="{26CA678C-F059-71C9-075D-940207341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FA2A33-5234-1264-986B-8D0DBB94CCFF}"/>
              </a:ext>
            </a:extLst>
          </p:cNvPr>
          <p:cNvSpPr>
            <a:spLocks noGrp="1"/>
          </p:cNvSpPr>
          <p:nvPr>
            <p:ph type="sldNum" sz="quarter" idx="12"/>
          </p:nvPr>
        </p:nvSpPr>
        <p:spPr/>
        <p:txBody>
          <a:bodyPr/>
          <a:lstStyle/>
          <a:p>
            <a:fld id="{186E1D0E-71CE-DE43-BC35-5E286F22995E}" type="slidenum">
              <a:rPr lang="en-US" smtClean="0"/>
              <a:t>‹#›</a:t>
            </a:fld>
            <a:endParaRPr lang="en-US"/>
          </a:p>
        </p:txBody>
      </p:sp>
    </p:spTree>
    <p:extLst>
      <p:ext uri="{BB962C8B-B14F-4D97-AF65-F5344CB8AC3E}">
        <p14:creationId xmlns:p14="http://schemas.microsoft.com/office/powerpoint/2010/main" val="2916856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FABB53-9ABB-C1B5-F449-E6FB3BDF8519}"/>
              </a:ext>
            </a:extLst>
          </p:cNvPr>
          <p:cNvSpPr>
            <a:spLocks noGrp="1"/>
          </p:cNvSpPr>
          <p:nvPr>
            <p:ph type="title"/>
          </p:nvPr>
        </p:nvSpPr>
        <p:spPr>
          <a:xfrm>
            <a:off x="693043" y="301905"/>
            <a:ext cx="8694539" cy="10960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8C37447-5D0C-A75C-F9AE-DCA6425F23AA}"/>
              </a:ext>
            </a:extLst>
          </p:cNvPr>
          <p:cNvSpPr>
            <a:spLocks noGrp="1"/>
          </p:cNvSpPr>
          <p:nvPr>
            <p:ph type="body" idx="1"/>
          </p:nvPr>
        </p:nvSpPr>
        <p:spPr>
          <a:xfrm>
            <a:off x="693043" y="1509521"/>
            <a:ext cx="8694539" cy="359791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E64D8D-CA4E-D63C-2336-E4F1BF8EB07E}"/>
              </a:ext>
            </a:extLst>
          </p:cNvPr>
          <p:cNvSpPr>
            <a:spLocks noGrp="1"/>
          </p:cNvSpPr>
          <p:nvPr>
            <p:ph type="dt" sz="half" idx="2"/>
          </p:nvPr>
        </p:nvSpPr>
        <p:spPr>
          <a:xfrm>
            <a:off x="693043" y="5255760"/>
            <a:ext cx="2268141" cy="301904"/>
          </a:xfrm>
          <a:prstGeom prst="rect">
            <a:avLst/>
          </a:prstGeom>
        </p:spPr>
        <p:txBody>
          <a:bodyPr vert="horz" lIns="91440" tIns="45720" rIns="91440" bIns="45720" rtlCol="0" anchor="ctr"/>
          <a:lstStyle>
            <a:lvl1pPr algn="l">
              <a:defRPr sz="992">
                <a:solidFill>
                  <a:schemeClr val="tx1">
                    <a:tint val="82000"/>
                  </a:schemeClr>
                </a:solidFill>
              </a:defRPr>
            </a:lvl1pPr>
          </a:lstStyle>
          <a:p>
            <a:fld id="{3113A866-3C2A-5245-AB24-5AA56676294E}" type="datetimeFigureOut">
              <a:rPr lang="en-US" smtClean="0"/>
              <a:t>3/30/26</a:t>
            </a:fld>
            <a:endParaRPr lang="en-US"/>
          </a:p>
        </p:txBody>
      </p:sp>
      <p:sp>
        <p:nvSpPr>
          <p:cNvPr id="5" name="Footer Placeholder 4">
            <a:extLst>
              <a:ext uri="{FF2B5EF4-FFF2-40B4-BE49-F238E27FC236}">
                <a16:creationId xmlns:a16="http://schemas.microsoft.com/office/drawing/2014/main" id="{4A77C60C-A108-918D-A621-27131E5B7C95}"/>
              </a:ext>
            </a:extLst>
          </p:cNvPr>
          <p:cNvSpPr>
            <a:spLocks noGrp="1"/>
          </p:cNvSpPr>
          <p:nvPr>
            <p:ph type="ftr" sz="quarter" idx="3"/>
          </p:nvPr>
        </p:nvSpPr>
        <p:spPr>
          <a:xfrm>
            <a:off x="3339207" y="5255760"/>
            <a:ext cx="3402211" cy="301904"/>
          </a:xfrm>
          <a:prstGeom prst="rect">
            <a:avLst/>
          </a:prstGeom>
        </p:spPr>
        <p:txBody>
          <a:bodyPr vert="horz" lIns="91440" tIns="45720" rIns="91440" bIns="45720" rtlCol="0" anchor="ctr"/>
          <a:lstStyle>
            <a:lvl1pPr algn="ctr">
              <a:defRPr sz="992">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0C77E6-2825-BEE2-9F8B-CFD189B1092A}"/>
              </a:ext>
            </a:extLst>
          </p:cNvPr>
          <p:cNvSpPr>
            <a:spLocks noGrp="1"/>
          </p:cNvSpPr>
          <p:nvPr>
            <p:ph type="sldNum" sz="quarter" idx="4"/>
          </p:nvPr>
        </p:nvSpPr>
        <p:spPr>
          <a:xfrm>
            <a:off x="7119441" y="5255760"/>
            <a:ext cx="2268141" cy="301904"/>
          </a:xfrm>
          <a:prstGeom prst="rect">
            <a:avLst/>
          </a:prstGeom>
        </p:spPr>
        <p:txBody>
          <a:bodyPr vert="horz" lIns="91440" tIns="45720" rIns="91440" bIns="45720" rtlCol="0" anchor="ctr"/>
          <a:lstStyle>
            <a:lvl1pPr algn="r">
              <a:defRPr sz="992">
                <a:solidFill>
                  <a:schemeClr val="tx1">
                    <a:tint val="82000"/>
                  </a:schemeClr>
                </a:solidFill>
              </a:defRPr>
            </a:lvl1pPr>
          </a:lstStyle>
          <a:p>
            <a:fld id="{186E1D0E-71CE-DE43-BC35-5E286F22995E}" type="slidenum">
              <a:rPr lang="en-US" smtClean="0"/>
              <a:t>‹#›</a:t>
            </a:fld>
            <a:endParaRPr lang="en-US"/>
          </a:p>
        </p:txBody>
      </p:sp>
    </p:spTree>
    <p:extLst>
      <p:ext uri="{BB962C8B-B14F-4D97-AF65-F5344CB8AC3E}">
        <p14:creationId xmlns:p14="http://schemas.microsoft.com/office/powerpoint/2010/main" val="268467418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756026" rtl="0" eaLnBrk="1" latinLnBrk="0" hangingPunct="1">
        <a:lnSpc>
          <a:spcPct val="90000"/>
        </a:lnSpc>
        <a:spcBef>
          <a:spcPct val="0"/>
        </a:spcBef>
        <a:buNone/>
        <a:defRPr sz="3638" kern="1200">
          <a:solidFill>
            <a:schemeClr val="tx1"/>
          </a:solidFill>
          <a:latin typeface="+mj-lt"/>
          <a:ea typeface="+mj-ea"/>
          <a:cs typeface="+mj-cs"/>
        </a:defRPr>
      </a:lvl1pPr>
    </p:titleStyle>
    <p:bodyStyle>
      <a:lvl1pPr marL="189006" indent="-189006" algn="l" defTabSz="756026"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7019" indent="-189006" algn="l" defTabSz="756026"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5032" indent="-189006" algn="l" defTabSz="756026" rtl="0" eaLnBrk="1" latinLnBrk="0" hangingPunct="1">
        <a:lnSpc>
          <a:spcPct val="90000"/>
        </a:lnSpc>
        <a:spcBef>
          <a:spcPts val="413"/>
        </a:spcBef>
        <a:buFont typeface="Arial" panose="020B0604020202020204" pitchFamily="34" charset="0"/>
        <a:buChar char="•"/>
        <a:defRPr sz="1654" kern="1200">
          <a:solidFill>
            <a:schemeClr val="tx1"/>
          </a:solidFill>
          <a:latin typeface="+mn-lt"/>
          <a:ea typeface="+mn-ea"/>
          <a:cs typeface="+mn-cs"/>
        </a:defRPr>
      </a:lvl3pPr>
      <a:lvl4pPr marL="1323045"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1058"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9071"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7084"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5097"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3110" indent="-189006" algn="l" defTabSz="756026"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6026" rtl="0" eaLnBrk="1" latinLnBrk="0" hangingPunct="1">
        <a:defRPr sz="1488" kern="1200">
          <a:solidFill>
            <a:schemeClr val="tx1"/>
          </a:solidFill>
          <a:latin typeface="+mn-lt"/>
          <a:ea typeface="+mn-ea"/>
          <a:cs typeface="+mn-cs"/>
        </a:defRPr>
      </a:lvl1pPr>
      <a:lvl2pPr marL="378013" algn="l" defTabSz="756026" rtl="0" eaLnBrk="1" latinLnBrk="0" hangingPunct="1">
        <a:defRPr sz="1488" kern="1200">
          <a:solidFill>
            <a:schemeClr val="tx1"/>
          </a:solidFill>
          <a:latin typeface="+mn-lt"/>
          <a:ea typeface="+mn-ea"/>
          <a:cs typeface="+mn-cs"/>
        </a:defRPr>
      </a:lvl2pPr>
      <a:lvl3pPr marL="756026" algn="l" defTabSz="756026" rtl="0" eaLnBrk="1" latinLnBrk="0" hangingPunct="1">
        <a:defRPr sz="1488" kern="1200">
          <a:solidFill>
            <a:schemeClr val="tx1"/>
          </a:solidFill>
          <a:latin typeface="+mn-lt"/>
          <a:ea typeface="+mn-ea"/>
          <a:cs typeface="+mn-cs"/>
        </a:defRPr>
      </a:lvl3pPr>
      <a:lvl4pPr marL="1134039" algn="l" defTabSz="756026" rtl="0" eaLnBrk="1" latinLnBrk="0" hangingPunct="1">
        <a:defRPr sz="1488" kern="1200">
          <a:solidFill>
            <a:schemeClr val="tx1"/>
          </a:solidFill>
          <a:latin typeface="+mn-lt"/>
          <a:ea typeface="+mn-ea"/>
          <a:cs typeface="+mn-cs"/>
        </a:defRPr>
      </a:lvl4pPr>
      <a:lvl5pPr marL="1512052" algn="l" defTabSz="756026" rtl="0" eaLnBrk="1" latinLnBrk="0" hangingPunct="1">
        <a:defRPr sz="1488" kern="1200">
          <a:solidFill>
            <a:schemeClr val="tx1"/>
          </a:solidFill>
          <a:latin typeface="+mn-lt"/>
          <a:ea typeface="+mn-ea"/>
          <a:cs typeface="+mn-cs"/>
        </a:defRPr>
      </a:lvl5pPr>
      <a:lvl6pPr marL="1890065" algn="l" defTabSz="756026" rtl="0" eaLnBrk="1" latinLnBrk="0" hangingPunct="1">
        <a:defRPr sz="1488" kern="1200">
          <a:solidFill>
            <a:schemeClr val="tx1"/>
          </a:solidFill>
          <a:latin typeface="+mn-lt"/>
          <a:ea typeface="+mn-ea"/>
          <a:cs typeface="+mn-cs"/>
        </a:defRPr>
      </a:lvl6pPr>
      <a:lvl7pPr marL="2268078" algn="l" defTabSz="756026" rtl="0" eaLnBrk="1" latinLnBrk="0" hangingPunct="1">
        <a:defRPr sz="1488" kern="1200">
          <a:solidFill>
            <a:schemeClr val="tx1"/>
          </a:solidFill>
          <a:latin typeface="+mn-lt"/>
          <a:ea typeface="+mn-ea"/>
          <a:cs typeface="+mn-cs"/>
        </a:defRPr>
      </a:lvl7pPr>
      <a:lvl8pPr marL="2646091" algn="l" defTabSz="756026" rtl="0" eaLnBrk="1" latinLnBrk="0" hangingPunct="1">
        <a:defRPr sz="1488" kern="1200">
          <a:solidFill>
            <a:schemeClr val="tx1"/>
          </a:solidFill>
          <a:latin typeface="+mn-lt"/>
          <a:ea typeface="+mn-ea"/>
          <a:cs typeface="+mn-cs"/>
        </a:defRPr>
      </a:lvl8pPr>
      <a:lvl9pPr marL="3024104" algn="l" defTabSz="756026"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 Id="rId9"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3.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3.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66EDF-72D1-6952-6BBB-454D1A55378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0C6CEEC-702C-0376-ABFD-73DD99375889}"/>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7069DE78-5E1E-F0F4-3F83-3A334E46250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D68912C-E992-5713-8460-5E0292432BFC}"/>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sp>
        <p:nvSpPr>
          <p:cNvPr id="10" name="TextBox 9">
            <a:extLst>
              <a:ext uri="{FF2B5EF4-FFF2-40B4-BE49-F238E27FC236}">
                <a16:creationId xmlns:a16="http://schemas.microsoft.com/office/drawing/2014/main" id="{6314B45F-D864-B3B3-EA0B-D52568A7E7C2}"/>
              </a:ext>
            </a:extLst>
          </p:cNvPr>
          <p:cNvSpPr txBox="1"/>
          <p:nvPr/>
        </p:nvSpPr>
        <p:spPr>
          <a:xfrm>
            <a:off x="5746140" y="1320550"/>
            <a:ext cx="1076016" cy="992234"/>
          </a:xfrm>
          <a:prstGeom prst="rect">
            <a:avLst/>
          </a:prstGeom>
          <a:noFill/>
        </p:spPr>
        <p:txBody>
          <a:bodyPr wrap="none" lIns="75605" tIns="37802" rIns="75605" bIns="37802" rtlCol="0" anchor="t">
            <a:spAutoFit/>
          </a:bodyPr>
          <a:lstStyle/>
          <a:p>
            <a:endParaRPr lang="en-GB" sz="1488" dirty="0">
              <a:solidFill>
                <a:srgbClr val="002E5F"/>
              </a:solidFill>
              <a:latin typeface="Integral CF Bold" panose="00000800000000000000" pitchFamily="50" charset="0"/>
            </a:endParaRPr>
          </a:p>
          <a:p>
            <a:endParaRPr lang="en-GB" sz="1488" dirty="0">
              <a:solidFill>
                <a:srgbClr val="002E5F"/>
              </a:solidFill>
              <a:latin typeface="Integral CF Bold" panose="00000800000000000000" pitchFamily="50" charset="0"/>
            </a:endParaRPr>
          </a:p>
          <a:p>
            <a:r>
              <a:rPr lang="en-GB" sz="1488" dirty="0">
                <a:solidFill>
                  <a:srgbClr val="002E5F"/>
                </a:solidFill>
              </a:rPr>
              <a:t>	</a:t>
            </a:r>
            <a:endParaRPr lang="en-GB" sz="1488" i="1" dirty="0">
              <a:solidFill>
                <a:srgbClr val="002E5F"/>
              </a:solidFill>
              <a:cs typeface="Calibri" panose="020F0502020204030204"/>
            </a:endParaRPr>
          </a:p>
          <a:p>
            <a:r>
              <a:rPr lang="en-GB" sz="1488" dirty="0">
                <a:solidFill>
                  <a:srgbClr val="002E5F"/>
                </a:solidFill>
                <a:latin typeface="Integral CF Bold" panose="00000800000000000000" pitchFamily="50" charset="0"/>
              </a:rPr>
              <a:t> </a:t>
            </a:r>
          </a:p>
        </p:txBody>
      </p:sp>
      <p:sp>
        <p:nvSpPr>
          <p:cNvPr id="11" name="TextBox 10">
            <a:extLst>
              <a:ext uri="{FF2B5EF4-FFF2-40B4-BE49-F238E27FC236}">
                <a16:creationId xmlns:a16="http://schemas.microsoft.com/office/drawing/2014/main" id="{E4F40F38-7CC3-2E20-11C0-E0F069C0983D}"/>
              </a:ext>
            </a:extLst>
          </p:cNvPr>
          <p:cNvSpPr txBox="1"/>
          <p:nvPr/>
        </p:nvSpPr>
        <p:spPr>
          <a:xfrm>
            <a:off x="194276" y="1625922"/>
            <a:ext cx="184731" cy="550279"/>
          </a:xfrm>
          <a:prstGeom prst="rect">
            <a:avLst/>
          </a:prstGeom>
          <a:noFill/>
        </p:spPr>
        <p:txBody>
          <a:bodyPr wrap="none" rtlCol="0">
            <a:spAutoFit/>
          </a:bodyPr>
          <a:lstStyle/>
          <a:p>
            <a:endParaRPr lang="en-GB" sz="1488" dirty="0">
              <a:solidFill>
                <a:srgbClr val="002E5F"/>
              </a:solidFill>
              <a:latin typeface="Source Sans Pro" panose="020B0503030403020204" pitchFamily="34" charset="0"/>
            </a:endParaRPr>
          </a:p>
          <a:p>
            <a:endParaRPr lang="en-GB" sz="1488" dirty="0">
              <a:solidFill>
                <a:srgbClr val="002E5F"/>
              </a:solidFill>
              <a:latin typeface="Source Sans Pro" panose="020B0503030403020204" pitchFamily="34" charset="0"/>
            </a:endParaRPr>
          </a:p>
        </p:txBody>
      </p:sp>
      <p:sp>
        <p:nvSpPr>
          <p:cNvPr id="6" name="TextBox 5">
            <a:extLst>
              <a:ext uri="{FF2B5EF4-FFF2-40B4-BE49-F238E27FC236}">
                <a16:creationId xmlns:a16="http://schemas.microsoft.com/office/drawing/2014/main" id="{FB34A53B-0602-AD3C-9A4E-778E54FDD486}"/>
              </a:ext>
            </a:extLst>
          </p:cNvPr>
          <p:cNvSpPr txBox="1"/>
          <p:nvPr/>
        </p:nvSpPr>
        <p:spPr>
          <a:xfrm>
            <a:off x="926628" y="2295341"/>
            <a:ext cx="7707410" cy="1966732"/>
          </a:xfrm>
          <a:prstGeom prst="rect">
            <a:avLst/>
          </a:prstGeom>
          <a:noFill/>
        </p:spPr>
        <p:txBody>
          <a:bodyPr wrap="square" lIns="75605" tIns="37802" rIns="75605" bIns="37802" rtlCol="0" anchor="t">
            <a:spAutoFit/>
          </a:bodyPr>
          <a:lstStyle/>
          <a:p>
            <a:pPr algn="ctr">
              <a:lnSpc>
                <a:spcPct val="150000"/>
              </a:lnSpc>
            </a:pPr>
            <a:r>
              <a:rPr lang="en-GB" sz="3200" b="1" dirty="0">
                <a:solidFill>
                  <a:srgbClr val="002060"/>
                </a:solidFill>
                <a:latin typeface="Source Sans Pro" panose="020B0503030403020204" pitchFamily="34" charset="0"/>
                <a:ea typeface="Source Sans Pro" panose="020B0503030403020204" pitchFamily="34" charset="0"/>
              </a:rPr>
              <a:t>April 3th 2026</a:t>
            </a:r>
          </a:p>
          <a:p>
            <a:pPr algn="ctr">
              <a:lnSpc>
                <a:spcPct val="150000"/>
              </a:lnSpc>
            </a:pPr>
            <a:r>
              <a:rPr lang="en-GB" sz="3200" b="1" dirty="0">
                <a:solidFill>
                  <a:srgbClr val="002060"/>
                </a:solidFill>
                <a:latin typeface="Source Sans Pro" panose="020B0503030403020204" pitchFamily="34" charset="0"/>
                <a:ea typeface="Source Sans Pro" panose="020B0503030403020204" pitchFamily="34" charset="0"/>
              </a:rPr>
              <a:t>Session 1</a:t>
            </a:r>
          </a:p>
          <a:p>
            <a:pPr algn="ctr">
              <a:lnSpc>
                <a:spcPct val="150000"/>
              </a:lnSpc>
            </a:pPr>
            <a:r>
              <a:rPr lang="en-GB" sz="2000" b="1" dirty="0">
                <a:solidFill>
                  <a:srgbClr val="002060"/>
                </a:solidFill>
                <a:latin typeface="Source Sans Pro" panose="020B0503030403020204" pitchFamily="34" charset="0"/>
                <a:ea typeface="Source Sans Pro" panose="020B0503030403020204" pitchFamily="34" charset="0"/>
              </a:rPr>
              <a:t>Joy Lan</a:t>
            </a:r>
          </a:p>
        </p:txBody>
      </p:sp>
      <p:pic>
        <p:nvPicPr>
          <p:cNvPr id="15" name="Picture 14">
            <a:extLst>
              <a:ext uri="{FF2B5EF4-FFF2-40B4-BE49-F238E27FC236}">
                <a16:creationId xmlns:a16="http://schemas.microsoft.com/office/drawing/2014/main" id="{4E3B2ED6-CE7D-A6D4-6638-1B4D43D3C0D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FB76D1CB-4E15-AA1E-1038-FF872CB3847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2" name="TextBox 1">
            <a:extLst>
              <a:ext uri="{FF2B5EF4-FFF2-40B4-BE49-F238E27FC236}">
                <a16:creationId xmlns:a16="http://schemas.microsoft.com/office/drawing/2014/main" id="{BAA5C524-EAEC-CBED-74D9-432AB39150DA}"/>
              </a:ext>
            </a:extLst>
          </p:cNvPr>
          <p:cNvSpPr txBox="1"/>
          <p:nvPr/>
        </p:nvSpPr>
        <p:spPr>
          <a:xfrm>
            <a:off x="922367" y="609869"/>
            <a:ext cx="7707410" cy="691895"/>
          </a:xfrm>
          <a:prstGeom prst="rect">
            <a:avLst/>
          </a:prstGeom>
          <a:noFill/>
        </p:spPr>
        <p:txBody>
          <a:bodyPr wrap="square" lIns="75605" tIns="37802" rIns="75605" bIns="37802" rtlCol="0" anchor="t">
            <a:spAutoFit/>
          </a:bodyPr>
          <a:lstStyle/>
          <a:p>
            <a:pPr algn="ctr"/>
            <a:r>
              <a:rPr lang="en-GB" sz="4000" b="1" dirty="0">
                <a:solidFill>
                  <a:schemeClr val="tx2"/>
                </a:solidFill>
                <a:latin typeface="Verdana Pro Cond"/>
                <a:cs typeface="Calibri"/>
              </a:rPr>
              <a:t>Topic Modelling with BERT</a:t>
            </a:r>
            <a:endParaRPr lang="en-GB" dirty="0">
              <a:solidFill>
                <a:schemeClr val="tx2"/>
              </a:solidFill>
            </a:endParaRPr>
          </a:p>
        </p:txBody>
      </p:sp>
    </p:spTree>
    <p:extLst>
      <p:ext uri="{BB962C8B-B14F-4D97-AF65-F5344CB8AC3E}">
        <p14:creationId xmlns:p14="http://schemas.microsoft.com/office/powerpoint/2010/main" val="1093379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5A39E-357E-38D9-5AFD-58DF87A5B7C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F4B2F3C-7B18-4EA1-8F03-EDC52FFCE881}"/>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289AB426-C41B-C90A-0270-5D01285A533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F256111D-7ABE-85DA-1D9D-DBC2C2E1A717}"/>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sp>
        <p:nvSpPr>
          <p:cNvPr id="10" name="TextBox 9">
            <a:extLst>
              <a:ext uri="{FF2B5EF4-FFF2-40B4-BE49-F238E27FC236}">
                <a16:creationId xmlns:a16="http://schemas.microsoft.com/office/drawing/2014/main" id="{398A0B71-6BA8-8D44-19F5-38FFC9C3EA81}"/>
              </a:ext>
            </a:extLst>
          </p:cNvPr>
          <p:cNvSpPr txBox="1"/>
          <p:nvPr/>
        </p:nvSpPr>
        <p:spPr>
          <a:xfrm>
            <a:off x="5746140" y="1320550"/>
            <a:ext cx="1076016" cy="992234"/>
          </a:xfrm>
          <a:prstGeom prst="rect">
            <a:avLst/>
          </a:prstGeom>
          <a:noFill/>
        </p:spPr>
        <p:txBody>
          <a:bodyPr wrap="none" lIns="75605" tIns="37802" rIns="75605" bIns="37802" rtlCol="0" anchor="t">
            <a:spAutoFit/>
          </a:bodyPr>
          <a:lstStyle/>
          <a:p>
            <a:endParaRPr lang="en-GB" sz="1488" dirty="0">
              <a:solidFill>
                <a:srgbClr val="002E5F"/>
              </a:solidFill>
              <a:latin typeface="Integral CF Bold" panose="00000800000000000000" pitchFamily="50" charset="0"/>
            </a:endParaRPr>
          </a:p>
          <a:p>
            <a:endParaRPr lang="en-GB" sz="1488" dirty="0">
              <a:solidFill>
                <a:srgbClr val="002E5F"/>
              </a:solidFill>
              <a:latin typeface="Integral CF Bold" panose="00000800000000000000" pitchFamily="50" charset="0"/>
            </a:endParaRPr>
          </a:p>
          <a:p>
            <a:r>
              <a:rPr lang="en-GB" sz="1488" dirty="0">
                <a:solidFill>
                  <a:srgbClr val="002E5F"/>
                </a:solidFill>
              </a:rPr>
              <a:t>	</a:t>
            </a:r>
            <a:endParaRPr lang="en-GB" sz="1488" i="1" dirty="0">
              <a:solidFill>
                <a:srgbClr val="002E5F"/>
              </a:solidFill>
              <a:cs typeface="Calibri" panose="020F0502020204030204"/>
            </a:endParaRPr>
          </a:p>
          <a:p>
            <a:r>
              <a:rPr lang="en-GB" sz="1488" dirty="0">
                <a:solidFill>
                  <a:srgbClr val="002E5F"/>
                </a:solidFill>
                <a:latin typeface="Integral CF Bold" panose="00000800000000000000" pitchFamily="50" charset="0"/>
              </a:rPr>
              <a:t> </a:t>
            </a:r>
          </a:p>
        </p:txBody>
      </p:sp>
      <p:sp>
        <p:nvSpPr>
          <p:cNvPr id="11" name="TextBox 10">
            <a:extLst>
              <a:ext uri="{FF2B5EF4-FFF2-40B4-BE49-F238E27FC236}">
                <a16:creationId xmlns:a16="http://schemas.microsoft.com/office/drawing/2014/main" id="{98C507FE-E273-6488-6049-B114218B9E97}"/>
              </a:ext>
            </a:extLst>
          </p:cNvPr>
          <p:cNvSpPr txBox="1"/>
          <p:nvPr/>
        </p:nvSpPr>
        <p:spPr>
          <a:xfrm>
            <a:off x="194276" y="1625922"/>
            <a:ext cx="184731" cy="550279"/>
          </a:xfrm>
          <a:prstGeom prst="rect">
            <a:avLst/>
          </a:prstGeom>
          <a:noFill/>
        </p:spPr>
        <p:txBody>
          <a:bodyPr wrap="none" rtlCol="0">
            <a:spAutoFit/>
          </a:bodyPr>
          <a:lstStyle/>
          <a:p>
            <a:endParaRPr lang="en-GB" sz="1488" dirty="0">
              <a:solidFill>
                <a:srgbClr val="002E5F"/>
              </a:solidFill>
              <a:latin typeface="Source Sans Pro" panose="020B0503030403020204" pitchFamily="34" charset="0"/>
            </a:endParaRPr>
          </a:p>
          <a:p>
            <a:endParaRPr lang="en-GB" sz="1488" dirty="0">
              <a:solidFill>
                <a:srgbClr val="002E5F"/>
              </a:solidFill>
              <a:latin typeface="Source Sans Pro" panose="020B0503030403020204" pitchFamily="34" charset="0"/>
            </a:endParaRPr>
          </a:p>
        </p:txBody>
      </p:sp>
      <p:sp>
        <p:nvSpPr>
          <p:cNvPr id="6" name="TextBox 5">
            <a:extLst>
              <a:ext uri="{FF2B5EF4-FFF2-40B4-BE49-F238E27FC236}">
                <a16:creationId xmlns:a16="http://schemas.microsoft.com/office/drawing/2014/main" id="{13C587F6-EB14-5E8C-7F7F-E4C0B76B9775}"/>
              </a:ext>
            </a:extLst>
          </p:cNvPr>
          <p:cNvSpPr txBox="1"/>
          <p:nvPr/>
        </p:nvSpPr>
        <p:spPr>
          <a:xfrm>
            <a:off x="720313" y="1126862"/>
            <a:ext cx="4714607" cy="1369004"/>
          </a:xfrm>
          <a:prstGeom prst="rect">
            <a:avLst/>
          </a:prstGeom>
          <a:noFill/>
        </p:spPr>
        <p:txBody>
          <a:bodyPr wrap="square" lIns="75605" tIns="37802" rIns="75605" bIns="37802" rtlCol="0" anchor="t">
            <a:spAutoFit/>
          </a:bodyPr>
          <a:lstStyle/>
          <a:p>
            <a:r>
              <a:rPr lang="en-GB" sz="2800" b="1" dirty="0">
                <a:solidFill>
                  <a:srgbClr val="002060"/>
                </a:solidFill>
                <a:latin typeface="Source Sans Pro" panose="020B0503030403020204" pitchFamily="34" charset="0"/>
                <a:ea typeface="Source Sans Pro" panose="020B0503030403020204" pitchFamily="34" charset="0"/>
              </a:rPr>
              <a:t>W1</a:t>
            </a:r>
            <a:r>
              <a:rPr lang="en-GB" sz="2800" dirty="0">
                <a:solidFill>
                  <a:srgbClr val="002060"/>
                </a:solidFill>
                <a:latin typeface="Source Sans Pro" panose="020B0503030403020204" pitchFamily="34" charset="0"/>
                <a:ea typeface="Source Sans Pro" panose="020B0503030403020204" pitchFamily="34" charset="0"/>
              </a:rPr>
              <a:t>: Lead by </a:t>
            </a:r>
            <a:r>
              <a:rPr lang="en-GB" sz="2800" b="1" dirty="0">
                <a:solidFill>
                  <a:srgbClr val="002060"/>
                </a:solidFill>
                <a:latin typeface="Source Sans Pro" panose="020B0503030403020204" pitchFamily="34" charset="0"/>
                <a:ea typeface="Source Sans Pro" panose="020B0503030403020204" pitchFamily="34" charset="0"/>
              </a:rPr>
              <a:t>Joy Lan</a:t>
            </a:r>
          </a:p>
          <a:p>
            <a:endParaRPr lang="en-GB" sz="2800" b="1" dirty="0">
              <a:solidFill>
                <a:srgbClr val="002060"/>
              </a:solidFill>
              <a:latin typeface="Source Sans Pro" panose="020B0503030403020204" pitchFamily="34" charset="0"/>
              <a:ea typeface="Source Sans Pro" panose="020B0503030403020204" pitchFamily="34" charset="0"/>
            </a:endParaRPr>
          </a:p>
          <a:p>
            <a:r>
              <a:rPr lang="en-GB" sz="2800" dirty="0">
                <a:solidFill>
                  <a:srgbClr val="002060"/>
                </a:solidFill>
                <a:latin typeface="Source Sans Pro" panose="020B0503030403020204" pitchFamily="34" charset="0"/>
                <a:ea typeface="Source Sans Pro" panose="020B0503030403020204" pitchFamily="34" charset="0"/>
              </a:rPr>
              <a:t>Introduction to BERT</a:t>
            </a:r>
          </a:p>
        </p:txBody>
      </p:sp>
      <p:pic>
        <p:nvPicPr>
          <p:cNvPr id="15" name="Picture 14">
            <a:extLst>
              <a:ext uri="{FF2B5EF4-FFF2-40B4-BE49-F238E27FC236}">
                <a16:creationId xmlns:a16="http://schemas.microsoft.com/office/drawing/2014/main" id="{2278514A-BA35-7EE7-AB01-79757B3A9FE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42AA4C86-D109-7D8E-EBFA-EBD33B89B07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2" name="TextBox 1">
            <a:extLst>
              <a:ext uri="{FF2B5EF4-FFF2-40B4-BE49-F238E27FC236}">
                <a16:creationId xmlns:a16="http://schemas.microsoft.com/office/drawing/2014/main" id="{D9A9B21F-AF03-FCCC-BA53-67A12F97B4CE}"/>
              </a:ext>
            </a:extLst>
          </p:cNvPr>
          <p:cNvSpPr txBox="1"/>
          <p:nvPr/>
        </p:nvSpPr>
        <p:spPr>
          <a:xfrm>
            <a:off x="922367" y="240903"/>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Course plan</a:t>
            </a:r>
            <a:endParaRPr lang="en-GB" sz="1400" dirty="0">
              <a:solidFill>
                <a:schemeClr val="tx2"/>
              </a:solidFill>
            </a:endParaRPr>
          </a:p>
        </p:txBody>
      </p:sp>
      <p:sp>
        <p:nvSpPr>
          <p:cNvPr id="3" name="TextBox 2">
            <a:extLst>
              <a:ext uri="{FF2B5EF4-FFF2-40B4-BE49-F238E27FC236}">
                <a16:creationId xmlns:a16="http://schemas.microsoft.com/office/drawing/2014/main" id="{0683F26E-9896-358F-490A-6655BEA25766}"/>
              </a:ext>
            </a:extLst>
          </p:cNvPr>
          <p:cNvSpPr txBox="1"/>
          <p:nvPr/>
        </p:nvSpPr>
        <p:spPr>
          <a:xfrm>
            <a:off x="4776072" y="1128602"/>
            <a:ext cx="4714607" cy="1369004"/>
          </a:xfrm>
          <a:prstGeom prst="rect">
            <a:avLst/>
          </a:prstGeom>
          <a:noFill/>
        </p:spPr>
        <p:txBody>
          <a:bodyPr wrap="square" lIns="75605" tIns="37802" rIns="75605" bIns="37802" rtlCol="0" anchor="t">
            <a:spAutoFit/>
          </a:bodyPr>
          <a:lstStyle/>
          <a:p>
            <a:r>
              <a:rPr lang="en-GB" sz="2800" b="1" dirty="0">
                <a:solidFill>
                  <a:srgbClr val="002060"/>
                </a:solidFill>
                <a:latin typeface="Source Sans Pro" panose="020B0503030403020204" pitchFamily="34" charset="0"/>
                <a:ea typeface="Source Sans Pro" panose="020B0503030403020204" pitchFamily="34" charset="0"/>
              </a:rPr>
              <a:t>W2</a:t>
            </a:r>
            <a:r>
              <a:rPr lang="en-GB" sz="2800" dirty="0">
                <a:solidFill>
                  <a:srgbClr val="002060"/>
                </a:solidFill>
                <a:latin typeface="Source Sans Pro" panose="020B0503030403020204" pitchFamily="34" charset="0"/>
                <a:ea typeface="Source Sans Pro" panose="020B0503030403020204" pitchFamily="34" charset="0"/>
              </a:rPr>
              <a:t>: Lead by </a:t>
            </a:r>
            <a:r>
              <a:rPr lang="en-GB" sz="2800" b="1" dirty="0"/>
              <a:t>Aybuke Atalay</a:t>
            </a:r>
            <a:endParaRPr lang="en-GB" sz="2800" b="1" dirty="0">
              <a:solidFill>
                <a:srgbClr val="002060"/>
              </a:solidFill>
              <a:latin typeface="Source Sans Pro" panose="020B0503030403020204" pitchFamily="34" charset="0"/>
              <a:ea typeface="Source Sans Pro" panose="020B0503030403020204" pitchFamily="34" charset="0"/>
            </a:endParaRPr>
          </a:p>
          <a:p>
            <a:endParaRPr lang="en-GB" sz="2800" dirty="0">
              <a:solidFill>
                <a:srgbClr val="002060"/>
              </a:solidFill>
              <a:latin typeface="Source Sans Pro" panose="020B0503030403020204" pitchFamily="34" charset="0"/>
              <a:ea typeface="Source Sans Pro" panose="020B0503030403020204" pitchFamily="34" charset="0"/>
            </a:endParaRPr>
          </a:p>
          <a:p>
            <a:r>
              <a:rPr lang="en-GB" sz="2800" dirty="0">
                <a:solidFill>
                  <a:srgbClr val="002060"/>
                </a:solidFill>
                <a:latin typeface="Source Sans Pro" panose="020B0503030403020204" pitchFamily="34" charset="0"/>
                <a:ea typeface="Source Sans Pro" panose="020B0503030403020204" pitchFamily="34" charset="0"/>
              </a:rPr>
              <a:t>Introduction to BERT</a:t>
            </a:r>
          </a:p>
        </p:txBody>
      </p:sp>
    </p:spTree>
    <p:extLst>
      <p:ext uri="{BB962C8B-B14F-4D97-AF65-F5344CB8AC3E}">
        <p14:creationId xmlns:p14="http://schemas.microsoft.com/office/powerpoint/2010/main" val="1379627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6C481-FD81-2A32-DCA2-D43EDB9A587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C07FDA9-6894-E4A4-FE19-37F2327078AC}"/>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851D6CC1-2F70-3A39-2829-449D037539B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E829B5F0-D0D8-99E3-A163-DECB578C6E23}"/>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ED0D906C-5DAD-A405-AE9F-2974442CC04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45CCA785-826C-8192-2A4F-9A06846DB4F9}"/>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EEB77CE1-300E-D7F3-AB11-0C988F53D5B6}"/>
              </a:ext>
            </a:extLst>
          </p:cNvPr>
          <p:cNvSpPr txBox="1"/>
          <p:nvPr/>
        </p:nvSpPr>
        <p:spPr>
          <a:xfrm>
            <a:off x="656404" y="1618252"/>
            <a:ext cx="9031701" cy="2592074"/>
          </a:xfrm>
          <a:prstGeom prst="rect">
            <a:avLst/>
          </a:prstGeom>
        </p:spPr>
        <p:txBody>
          <a:bodyPr vert="horz" wrap="square" lIns="0" tIns="6686" rIns="0" bIns="0" rtlCol="0">
            <a:spAutoFit/>
          </a:bodyPr>
          <a:lstStyle/>
          <a:p>
            <a:r>
              <a:rPr lang="en-GB" sz="2800" dirty="0"/>
              <a:t>Billions of documents and posts are created everyday. </a:t>
            </a:r>
          </a:p>
          <a:p>
            <a:endParaRPr lang="en-GB" sz="2800" dirty="0"/>
          </a:p>
          <a:p>
            <a:r>
              <a:rPr lang="en-GB" sz="2800" dirty="0"/>
              <a:t>Ex. 	journal publications</a:t>
            </a:r>
          </a:p>
          <a:p>
            <a:r>
              <a:rPr lang="en-GB" sz="2800" dirty="0"/>
              <a:t>	policy documents</a:t>
            </a:r>
          </a:p>
          <a:p>
            <a:r>
              <a:rPr lang="en-GB" sz="2800" dirty="0"/>
              <a:t>	social media posts</a:t>
            </a:r>
          </a:p>
          <a:p>
            <a:r>
              <a:rPr lang="en-GB" sz="2800" dirty="0"/>
              <a:t>	etc?</a:t>
            </a:r>
          </a:p>
        </p:txBody>
      </p:sp>
      <p:sp>
        <p:nvSpPr>
          <p:cNvPr id="12" name="TextBox 11">
            <a:extLst>
              <a:ext uri="{FF2B5EF4-FFF2-40B4-BE49-F238E27FC236}">
                <a16:creationId xmlns:a16="http://schemas.microsoft.com/office/drawing/2014/main" id="{41B5AE5E-097C-F458-79DC-79E3ECA2E4F9}"/>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What are the problems?</a:t>
            </a:r>
          </a:p>
        </p:txBody>
      </p:sp>
    </p:spTree>
    <p:extLst>
      <p:ext uri="{BB962C8B-B14F-4D97-AF65-F5344CB8AC3E}">
        <p14:creationId xmlns:p14="http://schemas.microsoft.com/office/powerpoint/2010/main" val="1743855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DFFA2-4D13-7937-8031-E43A7697A78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DC65843-1DDA-50E7-7EE8-C1E7DF15A901}"/>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8E543C47-12EC-651A-4876-56BF6764110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06E50367-C440-F7CC-8CC3-497819B79499}"/>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4B8ECC92-E189-CC54-76E1-F6D1CAE19D1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29793C4E-258B-9F30-2711-7150137CACD6}"/>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BE2CDF6D-1F16-A5D6-7EB1-1683F2D1208A}"/>
              </a:ext>
            </a:extLst>
          </p:cNvPr>
          <p:cNvSpPr txBox="1"/>
          <p:nvPr/>
        </p:nvSpPr>
        <p:spPr>
          <a:xfrm>
            <a:off x="656404" y="1618252"/>
            <a:ext cx="9031701" cy="2592074"/>
          </a:xfrm>
          <a:prstGeom prst="rect">
            <a:avLst/>
          </a:prstGeom>
        </p:spPr>
        <p:txBody>
          <a:bodyPr vert="horz" wrap="square" lIns="0" tIns="6686" rIns="0" bIns="0" rtlCol="0">
            <a:spAutoFit/>
          </a:bodyPr>
          <a:lstStyle/>
          <a:p>
            <a:r>
              <a:rPr lang="en-GB" sz="2800" dirty="0"/>
              <a:t>Billions of documents and posts are created everyday. </a:t>
            </a:r>
          </a:p>
          <a:p>
            <a:endParaRPr lang="en-GB" sz="2800" dirty="0"/>
          </a:p>
          <a:p>
            <a:r>
              <a:rPr lang="en-GB" sz="2800" dirty="0"/>
              <a:t>Ex. 	journal publications</a:t>
            </a:r>
          </a:p>
          <a:p>
            <a:r>
              <a:rPr lang="en-GB" sz="2800" dirty="0"/>
              <a:t>	policy documents</a:t>
            </a:r>
          </a:p>
          <a:p>
            <a:r>
              <a:rPr lang="en-GB" sz="2800" dirty="0"/>
              <a:t>	social media posts</a:t>
            </a:r>
          </a:p>
          <a:p>
            <a:r>
              <a:rPr lang="en-GB" sz="2800" dirty="0"/>
              <a:t>	etc?</a:t>
            </a:r>
          </a:p>
        </p:txBody>
      </p:sp>
      <p:sp>
        <p:nvSpPr>
          <p:cNvPr id="12" name="TextBox 11">
            <a:extLst>
              <a:ext uri="{FF2B5EF4-FFF2-40B4-BE49-F238E27FC236}">
                <a16:creationId xmlns:a16="http://schemas.microsoft.com/office/drawing/2014/main" id="{F92CE25C-CF4C-A8E4-62C6-E58642802DBE}"/>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What are the problems?</a:t>
            </a:r>
          </a:p>
        </p:txBody>
      </p:sp>
      <p:sp>
        <p:nvSpPr>
          <p:cNvPr id="2" name="TextBox 1">
            <a:extLst>
              <a:ext uri="{FF2B5EF4-FFF2-40B4-BE49-F238E27FC236}">
                <a16:creationId xmlns:a16="http://schemas.microsoft.com/office/drawing/2014/main" id="{741E4BBD-8566-EE9E-CB3C-C8522F225F97}"/>
              </a:ext>
            </a:extLst>
          </p:cNvPr>
          <p:cNvSpPr txBox="1"/>
          <p:nvPr/>
        </p:nvSpPr>
        <p:spPr>
          <a:xfrm>
            <a:off x="5637136" y="2484873"/>
            <a:ext cx="3862656" cy="1384995"/>
          </a:xfrm>
          <a:prstGeom prst="rect">
            <a:avLst/>
          </a:prstGeom>
          <a:noFill/>
        </p:spPr>
        <p:txBody>
          <a:bodyPr wrap="square">
            <a:spAutoFit/>
          </a:bodyPr>
          <a:lstStyle/>
          <a:p>
            <a:r>
              <a:rPr lang="en-GB" sz="2800" dirty="0">
                <a:solidFill>
                  <a:srgbClr val="FE0E67"/>
                </a:solidFill>
              </a:rPr>
              <a:t>Where do you start? </a:t>
            </a:r>
          </a:p>
          <a:p>
            <a:r>
              <a:rPr lang="en-GB" sz="2800" dirty="0">
                <a:solidFill>
                  <a:srgbClr val="FE0E67"/>
                </a:solidFill>
              </a:rPr>
              <a:t>How do you make sense of the text?</a:t>
            </a:r>
          </a:p>
        </p:txBody>
      </p:sp>
    </p:spTree>
    <p:extLst>
      <p:ext uri="{BB962C8B-B14F-4D97-AF65-F5344CB8AC3E}">
        <p14:creationId xmlns:p14="http://schemas.microsoft.com/office/powerpoint/2010/main" val="2708633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254E-95C4-4F1F-AC81-ABA506431DC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258EB58-108D-1D06-8771-8EDA1C1A5025}"/>
              </a:ext>
            </a:extLst>
          </p:cNvPr>
          <p:cNvSpPr/>
          <p:nvPr/>
        </p:nvSpPr>
        <p:spPr>
          <a:xfrm>
            <a:off x="0"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EC5E95CF-C3C1-1B43-0F9E-1BBD6C6B773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E735F343-73C8-DF85-EAA6-57F5A33A96E9}"/>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4656EB4C-8BB4-E1C1-F61F-0C032F1FE85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15A0B79B-5B30-32AF-935E-74CFB1C31AF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2" name="TextBox 11">
            <a:extLst>
              <a:ext uri="{FF2B5EF4-FFF2-40B4-BE49-F238E27FC236}">
                <a16:creationId xmlns:a16="http://schemas.microsoft.com/office/drawing/2014/main" id="{8F43E239-3A7B-E05C-E8F1-7FD316F2B86F}"/>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Consider the following questions</a:t>
            </a:r>
          </a:p>
        </p:txBody>
      </p:sp>
      <p:sp>
        <p:nvSpPr>
          <p:cNvPr id="4" name="object 3">
            <a:extLst>
              <a:ext uri="{FF2B5EF4-FFF2-40B4-BE49-F238E27FC236}">
                <a16:creationId xmlns:a16="http://schemas.microsoft.com/office/drawing/2014/main" id="{D2F1A784-9B45-ABE6-B90B-E727171ECC64}"/>
              </a:ext>
            </a:extLst>
          </p:cNvPr>
          <p:cNvSpPr txBox="1"/>
          <p:nvPr/>
        </p:nvSpPr>
        <p:spPr>
          <a:xfrm>
            <a:off x="545715" y="1555696"/>
            <a:ext cx="9295446" cy="2592074"/>
          </a:xfrm>
          <a:prstGeom prst="rect">
            <a:avLst/>
          </a:prstGeom>
        </p:spPr>
        <p:txBody>
          <a:bodyPr vert="horz" wrap="square" lIns="0" tIns="6686" rIns="0" bIns="0" rtlCol="0">
            <a:spAutoFit/>
          </a:bodyPr>
          <a:lstStyle/>
          <a:p>
            <a:r>
              <a:rPr lang="en-GB" sz="2400" b="1" dirty="0"/>
              <a:t>Q1. What is the nature of your data? </a:t>
            </a:r>
          </a:p>
          <a:p>
            <a:pPr marL="800100" lvl="1" indent="-342900">
              <a:buFont typeface="Arial" panose="020B0604020202020204" pitchFamily="34" charset="0"/>
              <a:buChar char="•"/>
            </a:pPr>
            <a:r>
              <a:rPr lang="en-GB" sz="2400" dirty="0"/>
              <a:t>source, timeframe, level of coherence/diversity</a:t>
            </a:r>
            <a:endParaRPr lang="en-GB" sz="2400" b="1" dirty="0"/>
          </a:p>
          <a:p>
            <a:endParaRPr lang="en-GB" sz="2400" b="1" dirty="0"/>
          </a:p>
          <a:p>
            <a:r>
              <a:rPr lang="en-GB" sz="2400" b="1" dirty="0"/>
              <a:t>Q2. What is your analytical goal?</a:t>
            </a:r>
          </a:p>
          <a:p>
            <a:pPr marL="800100" lvl="1" indent="-342900">
              <a:buFont typeface="Arial" panose="020B0604020202020204" pitchFamily="34" charset="0"/>
              <a:buChar char="•"/>
            </a:pPr>
            <a:r>
              <a:rPr lang="en-GB" sz="2400" dirty="0"/>
              <a:t>Exploring patterns </a:t>
            </a:r>
          </a:p>
          <a:p>
            <a:pPr marL="800100" lvl="1" indent="-342900">
              <a:buFont typeface="Arial" panose="020B0604020202020204" pitchFamily="34" charset="0"/>
              <a:buChar char="•"/>
            </a:pPr>
            <a:r>
              <a:rPr lang="en-GB" sz="2400" dirty="0"/>
              <a:t>Classification</a:t>
            </a:r>
          </a:p>
          <a:p>
            <a:pPr marL="800100" lvl="1" indent="-342900">
              <a:buFont typeface="Arial" panose="020B0604020202020204" pitchFamily="34" charset="0"/>
              <a:buChar char="•"/>
            </a:pPr>
            <a:r>
              <a:rPr lang="en-GB" sz="2400" dirty="0"/>
              <a:t>Analysing meaning and discourse</a:t>
            </a:r>
          </a:p>
        </p:txBody>
      </p:sp>
    </p:spTree>
    <p:extLst>
      <p:ext uri="{BB962C8B-B14F-4D97-AF65-F5344CB8AC3E}">
        <p14:creationId xmlns:p14="http://schemas.microsoft.com/office/powerpoint/2010/main" val="3512553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8397C-39BB-28EA-7CF2-B49DD7059DBC}"/>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A80D9E6-CD45-5D43-1F0C-78ED3B682878}"/>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8E28C683-CA9A-3042-AA39-D7055EBFF7A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05749C44-8D81-03F9-9A64-51407BE40EF7}"/>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4EA48FC3-B5A3-95A8-E53F-823BA0342EA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8BEE8720-2BC4-4743-3CD6-1F81A8E3A7C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CDA328DB-9069-0ACE-A48D-D999B8183B6F}"/>
              </a:ext>
            </a:extLst>
          </p:cNvPr>
          <p:cNvSpPr txBox="1"/>
          <p:nvPr/>
        </p:nvSpPr>
        <p:spPr>
          <a:xfrm>
            <a:off x="754646" y="1649156"/>
            <a:ext cx="3976052" cy="2222743"/>
          </a:xfrm>
          <a:prstGeom prst="rect">
            <a:avLst/>
          </a:prstGeom>
        </p:spPr>
        <p:txBody>
          <a:bodyPr vert="horz" wrap="square" lIns="0" tIns="6686" rIns="0" bIns="0" rtlCol="0">
            <a:spAutoFit/>
          </a:bodyPr>
          <a:lstStyle/>
          <a:p>
            <a:r>
              <a:rPr lang="en-GB" sz="2400" b="1" dirty="0">
                <a:solidFill>
                  <a:srgbClr val="FE0E67"/>
                </a:solidFill>
              </a:rPr>
              <a:t>Supervised learning</a:t>
            </a:r>
            <a:r>
              <a:rPr lang="en-GB" sz="2400" dirty="0"/>
              <a:t> models in NLP are trained using labelled data and pre-determined topics.</a:t>
            </a:r>
          </a:p>
          <a:p>
            <a:endParaRPr lang="en-GB" sz="2400" dirty="0"/>
          </a:p>
          <a:p>
            <a:r>
              <a:rPr lang="en-GB" sz="2400" dirty="0"/>
              <a:t>&gt;&gt; text classification</a:t>
            </a:r>
          </a:p>
        </p:txBody>
      </p:sp>
      <p:sp>
        <p:nvSpPr>
          <p:cNvPr id="12" name="TextBox 11">
            <a:extLst>
              <a:ext uri="{FF2B5EF4-FFF2-40B4-BE49-F238E27FC236}">
                <a16:creationId xmlns:a16="http://schemas.microsoft.com/office/drawing/2014/main" id="{50F5E989-8AE4-3D45-FC35-3F4C6467A958}"/>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Q. What is the nature of your data?</a:t>
            </a:r>
          </a:p>
        </p:txBody>
      </p:sp>
      <p:sp>
        <p:nvSpPr>
          <p:cNvPr id="3" name="object 3">
            <a:extLst>
              <a:ext uri="{FF2B5EF4-FFF2-40B4-BE49-F238E27FC236}">
                <a16:creationId xmlns:a16="http://schemas.microsoft.com/office/drawing/2014/main" id="{DFB249F4-9358-F69F-DAD6-C3DA54D0761B}"/>
              </a:ext>
            </a:extLst>
          </p:cNvPr>
          <p:cNvSpPr txBox="1"/>
          <p:nvPr/>
        </p:nvSpPr>
        <p:spPr>
          <a:xfrm>
            <a:off x="5349927" y="1649156"/>
            <a:ext cx="3976052" cy="2222743"/>
          </a:xfrm>
          <a:prstGeom prst="rect">
            <a:avLst/>
          </a:prstGeom>
        </p:spPr>
        <p:txBody>
          <a:bodyPr vert="horz" wrap="square" lIns="0" tIns="6686" rIns="0" bIns="0" rtlCol="0">
            <a:spAutoFit/>
          </a:bodyPr>
          <a:lstStyle/>
          <a:p>
            <a:r>
              <a:rPr lang="en-GB" sz="2400" b="1" dirty="0">
                <a:solidFill>
                  <a:srgbClr val="FE0E67"/>
                </a:solidFill>
              </a:rPr>
              <a:t>Unsupervised learning</a:t>
            </a:r>
            <a:r>
              <a:rPr lang="en-GB" sz="2400" b="1" dirty="0"/>
              <a:t> </a:t>
            </a:r>
            <a:r>
              <a:rPr lang="en-GB" sz="2400" dirty="0"/>
              <a:t>models in NLP identifies topics based on patterns (e.g. word frequencies)</a:t>
            </a:r>
          </a:p>
          <a:p>
            <a:endParaRPr lang="en-GB" sz="2400" dirty="0"/>
          </a:p>
          <a:p>
            <a:r>
              <a:rPr lang="en-GB" sz="2400" dirty="0"/>
              <a:t>&gt;&gt; topic modelling</a:t>
            </a:r>
          </a:p>
        </p:txBody>
      </p:sp>
    </p:spTree>
    <p:extLst>
      <p:ext uri="{BB962C8B-B14F-4D97-AF65-F5344CB8AC3E}">
        <p14:creationId xmlns:p14="http://schemas.microsoft.com/office/powerpoint/2010/main" val="2649567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EFA8-E6AF-F1BE-F8B0-83079C3BDAF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A633545-6254-FB0C-07C9-CB1EE3A0D511}"/>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6138E09B-68CB-BF9E-DBCB-F1F0805E3C4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E2DB387F-EFF2-E394-CC42-DA8433EE8577}"/>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0DCBC0CC-931E-5A1D-2E58-74D1BC855FF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D575CBD8-EA6D-5DEF-5BE9-BB06647938C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65CE860B-A859-5393-B698-302D1A43E281}"/>
              </a:ext>
            </a:extLst>
          </p:cNvPr>
          <p:cNvSpPr txBox="1"/>
          <p:nvPr/>
        </p:nvSpPr>
        <p:spPr>
          <a:xfrm>
            <a:off x="686632" y="1496967"/>
            <a:ext cx="9031701" cy="868526"/>
          </a:xfrm>
          <a:prstGeom prst="rect">
            <a:avLst/>
          </a:prstGeom>
        </p:spPr>
        <p:txBody>
          <a:bodyPr vert="horz" wrap="square" lIns="0" tIns="6686" rIns="0" bIns="0" rtlCol="0">
            <a:spAutoFit/>
          </a:bodyPr>
          <a:lstStyle/>
          <a:p>
            <a:r>
              <a:rPr lang="en-GB" sz="2800" dirty="0"/>
              <a:t>(in plain language) a statistical method to discover patterns and identify topics in a collection of documents</a:t>
            </a:r>
          </a:p>
        </p:txBody>
      </p:sp>
      <p:sp>
        <p:nvSpPr>
          <p:cNvPr id="12" name="TextBox 11">
            <a:extLst>
              <a:ext uri="{FF2B5EF4-FFF2-40B4-BE49-F238E27FC236}">
                <a16:creationId xmlns:a16="http://schemas.microsoft.com/office/drawing/2014/main" id="{71D58DE2-4854-0E30-6A6B-C57F62353077}"/>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What is Topic Modelling</a:t>
            </a:r>
          </a:p>
        </p:txBody>
      </p:sp>
      <p:sp>
        <p:nvSpPr>
          <p:cNvPr id="2" name="object 3">
            <a:extLst>
              <a:ext uri="{FF2B5EF4-FFF2-40B4-BE49-F238E27FC236}">
                <a16:creationId xmlns:a16="http://schemas.microsoft.com/office/drawing/2014/main" id="{59ADAF2C-410E-8E72-BECA-620E5861D3A3}"/>
              </a:ext>
            </a:extLst>
          </p:cNvPr>
          <p:cNvSpPr txBox="1"/>
          <p:nvPr/>
        </p:nvSpPr>
        <p:spPr>
          <a:xfrm>
            <a:off x="686632" y="2676219"/>
            <a:ext cx="8993916" cy="1730300"/>
          </a:xfrm>
          <a:prstGeom prst="rect">
            <a:avLst/>
          </a:prstGeom>
        </p:spPr>
        <p:txBody>
          <a:bodyPr vert="horz" wrap="square" lIns="0" tIns="6686" rIns="0" bIns="0" rtlCol="0">
            <a:spAutoFit/>
          </a:bodyPr>
          <a:lstStyle/>
          <a:p>
            <a:r>
              <a:rPr lang="en-GB" sz="2800" dirty="0"/>
              <a:t>(in machine learning language) </a:t>
            </a:r>
          </a:p>
          <a:p>
            <a:pPr lvl="1"/>
            <a:r>
              <a:rPr lang="en-GB" sz="2800" dirty="0"/>
              <a:t>an </a:t>
            </a:r>
            <a:r>
              <a:rPr lang="en-GB" sz="2800" dirty="0">
                <a:solidFill>
                  <a:srgbClr val="FE0E67"/>
                </a:solidFill>
              </a:rPr>
              <a:t>unsupervised</a:t>
            </a:r>
            <a:r>
              <a:rPr lang="en-GB" sz="2800" dirty="0"/>
              <a:t> machine learning technique </a:t>
            </a:r>
          </a:p>
          <a:p>
            <a:pPr lvl="1"/>
            <a:r>
              <a:rPr lang="en-GB" sz="2800" dirty="0"/>
              <a:t>that discovers </a:t>
            </a:r>
            <a:r>
              <a:rPr lang="en-GB" sz="2800" dirty="0">
                <a:solidFill>
                  <a:srgbClr val="FE0E67"/>
                </a:solidFill>
              </a:rPr>
              <a:t>sematic patterns </a:t>
            </a:r>
            <a:r>
              <a:rPr lang="en-GB" sz="2800" dirty="0"/>
              <a:t>and </a:t>
            </a:r>
            <a:r>
              <a:rPr lang="en-GB" sz="2800" dirty="0">
                <a:solidFill>
                  <a:srgbClr val="FE0E67"/>
                </a:solidFill>
              </a:rPr>
              <a:t>topics</a:t>
            </a:r>
            <a:r>
              <a:rPr lang="en-GB" sz="2800" dirty="0"/>
              <a:t> in large textual corpus</a:t>
            </a:r>
          </a:p>
        </p:txBody>
      </p:sp>
    </p:spTree>
    <p:extLst>
      <p:ext uri="{BB962C8B-B14F-4D97-AF65-F5344CB8AC3E}">
        <p14:creationId xmlns:p14="http://schemas.microsoft.com/office/powerpoint/2010/main" val="250213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C54A-CD6B-84F6-0968-7E74B0E1016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E63FBCC-EC00-89FA-52C0-4C86C9C48F09}"/>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8340E931-A7E3-0F4E-9FDB-E9546562F33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EBA117E8-1F81-59D6-F25C-416630179D44}"/>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37B025BB-D42F-1A8D-2280-EA28262D633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76C68D2C-EAB6-5DD5-E507-207E7A49F3FE}"/>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D7AF3781-061F-5CB6-CB09-C0B5794E5C5E}"/>
              </a:ext>
            </a:extLst>
          </p:cNvPr>
          <p:cNvSpPr txBox="1"/>
          <p:nvPr/>
        </p:nvSpPr>
        <p:spPr>
          <a:xfrm>
            <a:off x="754646" y="1649156"/>
            <a:ext cx="8510266" cy="1484079"/>
          </a:xfrm>
          <a:prstGeom prst="rect">
            <a:avLst/>
          </a:prstGeom>
        </p:spPr>
        <p:txBody>
          <a:bodyPr vert="horz" wrap="square" lIns="0" tIns="6686" rIns="0" bIns="0" rtlCol="0">
            <a:spAutoFit/>
          </a:bodyPr>
          <a:lstStyle/>
          <a:p>
            <a:r>
              <a:rPr lang="en-GB" sz="2400" b="1" dirty="0">
                <a:solidFill>
                  <a:srgbClr val="FE0E67"/>
                </a:solidFill>
              </a:rPr>
              <a:t>Supervised learning</a:t>
            </a:r>
            <a:r>
              <a:rPr lang="en-GB" sz="2400" dirty="0"/>
              <a:t> models in NLP are trained using labelled data and pre-determined topics.</a:t>
            </a:r>
          </a:p>
          <a:p>
            <a:endParaRPr lang="en-GB" sz="2400" dirty="0"/>
          </a:p>
          <a:p>
            <a:r>
              <a:rPr lang="en-GB" sz="2400" dirty="0"/>
              <a:t>&gt;&gt; text classification</a:t>
            </a:r>
          </a:p>
        </p:txBody>
      </p:sp>
      <p:sp>
        <p:nvSpPr>
          <p:cNvPr id="12" name="TextBox 11">
            <a:extLst>
              <a:ext uri="{FF2B5EF4-FFF2-40B4-BE49-F238E27FC236}">
                <a16:creationId xmlns:a16="http://schemas.microsoft.com/office/drawing/2014/main" id="{15620541-4C93-8BD1-F850-4BE2978CB995}"/>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Different approaches of topic modelling</a:t>
            </a:r>
          </a:p>
        </p:txBody>
      </p:sp>
    </p:spTree>
    <p:extLst>
      <p:ext uri="{BB962C8B-B14F-4D97-AF65-F5344CB8AC3E}">
        <p14:creationId xmlns:p14="http://schemas.microsoft.com/office/powerpoint/2010/main" val="3761365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E1685-EF2D-3EF7-9063-069FA5E0453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7FC87FC-EE3D-061C-113B-11A7685B1C72}"/>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7AAE5BC6-12F8-2B1C-0435-979239D99C1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C5FCC349-3012-3227-5509-EA78E3D13453}"/>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F9E854F8-62EB-DD4F-1F7D-F5ED6CF97A5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57D1F056-40BE-7CC5-6F5B-B9D750491783}"/>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337BAF08-1306-284B-52E0-84BDA7A8DAE6}"/>
              </a:ext>
            </a:extLst>
          </p:cNvPr>
          <p:cNvSpPr txBox="1"/>
          <p:nvPr/>
        </p:nvSpPr>
        <p:spPr>
          <a:xfrm>
            <a:off x="656404" y="1618252"/>
            <a:ext cx="8978483" cy="2592074"/>
          </a:xfrm>
          <a:prstGeom prst="rect">
            <a:avLst/>
          </a:prstGeom>
        </p:spPr>
        <p:txBody>
          <a:bodyPr vert="horz" wrap="square" lIns="0" tIns="6686" rIns="0" bIns="0" rtlCol="0">
            <a:spAutoFit/>
          </a:bodyPr>
          <a:lstStyle/>
          <a:p>
            <a:r>
              <a:rPr lang="en-GB" sz="2400" dirty="0"/>
              <a:t>What themes appear in collection of documents?</a:t>
            </a:r>
          </a:p>
          <a:p>
            <a:r>
              <a:rPr lang="en-GB" sz="2400" dirty="0"/>
              <a:t>How do discussions about a specific issue change over time?</a:t>
            </a:r>
          </a:p>
          <a:p>
            <a:r>
              <a:rPr lang="en-GB" sz="2400" dirty="0"/>
              <a:t>3. How do different organisations emphasise different issues?</a:t>
            </a:r>
          </a:p>
          <a:p>
            <a:r>
              <a:rPr lang="en-GB" sz="2400" dirty="0"/>
              <a:t>4. What is the author’s main argument in this document?</a:t>
            </a:r>
          </a:p>
          <a:p>
            <a:r>
              <a:rPr lang="en-GB" sz="2400" dirty="0"/>
              <a:t>5. Is this text supportive or critical of a policy/idea?</a:t>
            </a:r>
          </a:p>
          <a:p>
            <a:r>
              <a:rPr lang="en-GB" sz="2400" dirty="0"/>
              <a:t>6. What causes a particular issue or outcome?</a:t>
            </a:r>
          </a:p>
          <a:p>
            <a:endParaRPr lang="en-GB" sz="2400" dirty="0"/>
          </a:p>
        </p:txBody>
      </p:sp>
      <p:sp>
        <p:nvSpPr>
          <p:cNvPr id="12" name="TextBox 11">
            <a:extLst>
              <a:ext uri="{FF2B5EF4-FFF2-40B4-BE49-F238E27FC236}">
                <a16:creationId xmlns:a16="http://schemas.microsoft.com/office/drawing/2014/main" id="{A95E5E30-D675-48D2-4640-69F66D529FDA}"/>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What we can and cannot do with modelling?</a:t>
            </a:r>
          </a:p>
        </p:txBody>
      </p:sp>
    </p:spTree>
    <p:extLst>
      <p:ext uri="{BB962C8B-B14F-4D97-AF65-F5344CB8AC3E}">
        <p14:creationId xmlns:p14="http://schemas.microsoft.com/office/powerpoint/2010/main" val="866854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76FA2-BC16-1108-DB88-3E02414A31C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FF91629-4788-8522-4F2E-754A783320D1}"/>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6AEEA6E5-CED1-0DA1-366A-17258363AE7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4E2A681F-CF2E-ABC7-B941-2FBE261F33F9}"/>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8D6FF781-540E-4485-4FBA-508A588C44A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5E56B767-5CB3-B9F7-6DC4-BEA1FC85729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3D0C763F-AE72-310E-F001-7B37649F889F}"/>
              </a:ext>
            </a:extLst>
          </p:cNvPr>
          <p:cNvSpPr txBox="1"/>
          <p:nvPr/>
        </p:nvSpPr>
        <p:spPr>
          <a:xfrm>
            <a:off x="869871" y="1618252"/>
            <a:ext cx="8772932" cy="2222743"/>
          </a:xfrm>
          <a:prstGeom prst="rect">
            <a:avLst/>
          </a:prstGeom>
        </p:spPr>
        <p:txBody>
          <a:bodyPr vert="horz" wrap="square" lIns="0" tIns="6686" rIns="0" bIns="0" rtlCol="0">
            <a:spAutoFit/>
          </a:bodyPr>
          <a:lstStyle/>
          <a:p>
            <a:r>
              <a:rPr lang="en-GB" sz="2400" b="1" dirty="0"/>
              <a:t>Finance</a:t>
            </a:r>
            <a:endParaRPr lang="en-GB" sz="2400" dirty="0"/>
          </a:p>
          <a:p>
            <a:r>
              <a:rPr lang="en-GB" sz="2400" dirty="0"/>
              <a:t>bank, interest, charge </a:t>
            </a:r>
          </a:p>
          <a:p>
            <a:r>
              <a:rPr lang="en-GB" sz="2400" b="1" dirty="0"/>
              <a:t>2. Physics / Electricity</a:t>
            </a:r>
            <a:endParaRPr lang="en-GB" sz="2400" dirty="0"/>
          </a:p>
          <a:p>
            <a:r>
              <a:rPr lang="en-GB" sz="2400" dirty="0"/>
              <a:t>charge, current, battery, light, field </a:t>
            </a:r>
          </a:p>
          <a:p>
            <a:r>
              <a:rPr lang="en-GB" sz="2400" b="1" dirty="0"/>
              <a:t>3. Nature / Environment</a:t>
            </a:r>
            <a:endParaRPr lang="en-GB" sz="2400" dirty="0"/>
          </a:p>
          <a:p>
            <a:r>
              <a:rPr lang="en-GB" sz="2400" dirty="0"/>
              <a:t>stream, field, flow, bank </a:t>
            </a:r>
          </a:p>
        </p:txBody>
      </p:sp>
      <p:sp>
        <p:nvSpPr>
          <p:cNvPr id="12" name="TextBox 11">
            <a:extLst>
              <a:ext uri="{FF2B5EF4-FFF2-40B4-BE49-F238E27FC236}">
                <a16:creationId xmlns:a16="http://schemas.microsoft.com/office/drawing/2014/main" id="{824AD83F-AA06-1BEE-5C88-310EF80CAD82}"/>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What are the problems?</a:t>
            </a:r>
          </a:p>
        </p:txBody>
      </p:sp>
    </p:spTree>
    <p:extLst>
      <p:ext uri="{BB962C8B-B14F-4D97-AF65-F5344CB8AC3E}">
        <p14:creationId xmlns:p14="http://schemas.microsoft.com/office/powerpoint/2010/main" val="3695027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959A-74F9-ACA3-0E72-95B8A0B7649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17422BF-5BE0-30BA-E09F-C8317FB14F60}"/>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049E220B-8286-788E-08E1-DF7292D92F0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F36EC03D-D297-313A-5AAF-249581E992CA}"/>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FFADB881-A02C-E482-75CD-A0EE8D1AE02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772A01A4-81F8-9396-FA4A-C530E65234B9}"/>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4" name="object 3">
            <a:extLst>
              <a:ext uri="{FF2B5EF4-FFF2-40B4-BE49-F238E27FC236}">
                <a16:creationId xmlns:a16="http://schemas.microsoft.com/office/drawing/2014/main" id="{2704DFB5-8554-55FA-DFB7-03209E5ED8CE}"/>
              </a:ext>
            </a:extLst>
          </p:cNvPr>
          <p:cNvSpPr txBox="1"/>
          <p:nvPr/>
        </p:nvSpPr>
        <p:spPr>
          <a:xfrm>
            <a:off x="501422" y="1368816"/>
            <a:ext cx="4750446" cy="1086534"/>
          </a:xfrm>
          <a:prstGeom prst="rect">
            <a:avLst/>
          </a:prstGeom>
        </p:spPr>
        <p:txBody>
          <a:bodyPr vert="horz" wrap="square" lIns="0" tIns="6686" rIns="0" bIns="0" rtlCol="0">
            <a:spAutoFit/>
          </a:bodyPr>
          <a:lstStyle/>
          <a:p>
            <a:pPr marL="6368">
              <a:spcBef>
                <a:spcPts val="53"/>
              </a:spcBef>
            </a:pPr>
            <a:r>
              <a:rPr sz="2800" b="1" spc="-125" dirty="0">
                <a:latin typeface="Source Sans Pro" panose="020B0503030403020204" pitchFamily="34" charset="0"/>
                <a:ea typeface="Source Sans Pro" panose="020B0503030403020204" pitchFamily="34" charset="0"/>
                <a:cs typeface="Trebuchet MS"/>
              </a:rPr>
              <a:t>A</a:t>
            </a:r>
            <a:r>
              <a:rPr sz="2800" b="1" spc="-181" dirty="0">
                <a:latin typeface="Source Sans Pro" panose="020B0503030403020204" pitchFamily="34" charset="0"/>
                <a:ea typeface="Source Sans Pro" panose="020B0503030403020204" pitchFamily="34" charset="0"/>
                <a:cs typeface="Trebuchet MS"/>
              </a:rPr>
              <a:t> </a:t>
            </a:r>
            <a:r>
              <a:rPr sz="2800" b="1" spc="-43" dirty="0">
                <a:latin typeface="Source Sans Pro" panose="020B0503030403020204" pitchFamily="34" charset="0"/>
                <a:ea typeface="Source Sans Pro" panose="020B0503030403020204" pitchFamily="34" charset="0"/>
                <a:cs typeface="Trebuchet MS"/>
              </a:rPr>
              <a:t>supervised</a:t>
            </a:r>
            <a:r>
              <a:rPr sz="2800" b="1" spc="-178" dirty="0">
                <a:latin typeface="Source Sans Pro" panose="020B0503030403020204" pitchFamily="34" charset="0"/>
                <a:ea typeface="Source Sans Pro" panose="020B0503030403020204" pitchFamily="34" charset="0"/>
                <a:cs typeface="Trebuchet MS"/>
              </a:rPr>
              <a:t> </a:t>
            </a:r>
            <a:r>
              <a:rPr sz="2800" b="1" spc="-38" dirty="0">
                <a:latin typeface="Source Sans Pro" panose="020B0503030403020204" pitchFamily="34" charset="0"/>
                <a:ea typeface="Source Sans Pro" panose="020B0503030403020204" pitchFamily="34" charset="0"/>
                <a:cs typeface="Trebuchet MS"/>
              </a:rPr>
              <a:t>learning</a:t>
            </a:r>
            <a:r>
              <a:rPr sz="2800" b="1" spc="-181" dirty="0">
                <a:latin typeface="Source Sans Pro" panose="020B0503030403020204" pitchFamily="34" charset="0"/>
                <a:ea typeface="Source Sans Pro" panose="020B0503030403020204" pitchFamily="34" charset="0"/>
                <a:cs typeface="Trebuchet MS"/>
              </a:rPr>
              <a:t> </a:t>
            </a:r>
            <a:r>
              <a:rPr sz="2800" b="1" spc="-10" dirty="0">
                <a:latin typeface="Source Sans Pro" panose="020B0503030403020204" pitchFamily="34" charset="0"/>
                <a:ea typeface="Source Sans Pro" panose="020B0503030403020204" pitchFamily="34" charset="0"/>
                <a:cs typeface="Trebuchet MS"/>
              </a:rPr>
              <a:t>task</a:t>
            </a:r>
            <a:endParaRPr sz="2800" dirty="0">
              <a:latin typeface="Source Sans Pro" panose="020B0503030403020204" pitchFamily="34" charset="0"/>
              <a:ea typeface="Source Sans Pro" panose="020B0503030403020204" pitchFamily="34" charset="0"/>
              <a:cs typeface="Trebuchet MS"/>
            </a:endParaRPr>
          </a:p>
          <a:p>
            <a:pPr marL="6368">
              <a:spcBef>
                <a:spcPts val="1717"/>
              </a:spcBef>
            </a:pPr>
            <a:r>
              <a:rPr sz="2800" spc="-73" dirty="0">
                <a:latin typeface="Source Sans Pro" panose="020B0503030403020204" pitchFamily="34" charset="0"/>
                <a:ea typeface="Source Sans Pro" panose="020B0503030403020204" pitchFamily="34" charset="0"/>
                <a:cs typeface="Tahoma"/>
              </a:rPr>
              <a:t>Goal:</a:t>
            </a:r>
            <a:r>
              <a:rPr sz="2800" spc="-208" dirty="0">
                <a:latin typeface="Source Sans Pro" panose="020B0503030403020204" pitchFamily="34" charset="0"/>
                <a:ea typeface="Source Sans Pro" panose="020B0503030403020204" pitchFamily="34" charset="0"/>
                <a:cs typeface="Tahoma"/>
              </a:rPr>
              <a:t> </a:t>
            </a:r>
            <a:r>
              <a:rPr sz="2800" spc="-20" dirty="0">
                <a:latin typeface="Source Sans Pro" panose="020B0503030403020204" pitchFamily="34" charset="0"/>
                <a:ea typeface="Source Sans Pro" panose="020B0503030403020204" pitchFamily="34" charset="0"/>
                <a:cs typeface="Tahoma"/>
              </a:rPr>
              <a:t>predict</a:t>
            </a:r>
            <a:r>
              <a:rPr sz="2800" spc="-208" dirty="0">
                <a:latin typeface="Source Sans Pro" panose="020B0503030403020204" pitchFamily="34" charset="0"/>
                <a:ea typeface="Source Sans Pro" panose="020B0503030403020204" pitchFamily="34" charset="0"/>
                <a:cs typeface="Tahoma"/>
              </a:rPr>
              <a:t> </a:t>
            </a:r>
            <a:r>
              <a:rPr sz="2800" spc="-45" dirty="0">
                <a:latin typeface="Source Sans Pro" panose="020B0503030403020204" pitchFamily="34" charset="0"/>
                <a:ea typeface="Source Sans Pro" panose="020B0503030403020204" pitchFamily="34" charset="0"/>
                <a:cs typeface="Tahoma"/>
              </a:rPr>
              <a:t>a</a:t>
            </a:r>
            <a:r>
              <a:rPr sz="2800" spc="-205" dirty="0">
                <a:latin typeface="Source Sans Pro" panose="020B0503030403020204" pitchFamily="34" charset="0"/>
                <a:ea typeface="Source Sans Pro" panose="020B0503030403020204" pitchFamily="34" charset="0"/>
                <a:cs typeface="Tahoma"/>
              </a:rPr>
              <a:t> </a:t>
            </a:r>
            <a:r>
              <a:rPr sz="2800" spc="-30" dirty="0">
                <a:latin typeface="Source Sans Pro" panose="020B0503030403020204" pitchFamily="34" charset="0"/>
                <a:ea typeface="Source Sans Pro" panose="020B0503030403020204" pitchFamily="34" charset="0"/>
                <a:cs typeface="Tahoma"/>
              </a:rPr>
              <a:t>category/label</a:t>
            </a:r>
            <a:endParaRPr sz="2800" dirty="0">
              <a:latin typeface="Source Sans Pro" panose="020B0503030403020204" pitchFamily="34" charset="0"/>
              <a:ea typeface="Source Sans Pro" panose="020B0503030403020204" pitchFamily="34" charset="0"/>
              <a:cs typeface="Tahoma"/>
            </a:endParaRPr>
          </a:p>
        </p:txBody>
      </p:sp>
      <p:pic>
        <p:nvPicPr>
          <p:cNvPr id="5" name="object 4">
            <a:extLst>
              <a:ext uri="{FF2B5EF4-FFF2-40B4-BE49-F238E27FC236}">
                <a16:creationId xmlns:a16="http://schemas.microsoft.com/office/drawing/2014/main" id="{B68165E7-3C4F-58A9-1CEC-278758A797A5}"/>
              </a:ext>
            </a:extLst>
          </p:cNvPr>
          <p:cNvPicPr/>
          <p:nvPr/>
        </p:nvPicPr>
        <p:blipFill>
          <a:blip r:embed="rId6" cstate="print"/>
          <a:stretch>
            <a:fillRect/>
          </a:stretch>
        </p:blipFill>
        <p:spPr>
          <a:xfrm>
            <a:off x="501422" y="2804934"/>
            <a:ext cx="4267427" cy="1709250"/>
          </a:xfrm>
          <a:prstGeom prst="rect">
            <a:avLst/>
          </a:prstGeom>
        </p:spPr>
      </p:pic>
      <p:pic>
        <p:nvPicPr>
          <p:cNvPr id="12" name="object 5">
            <a:extLst>
              <a:ext uri="{FF2B5EF4-FFF2-40B4-BE49-F238E27FC236}">
                <a16:creationId xmlns:a16="http://schemas.microsoft.com/office/drawing/2014/main" id="{DFCF6806-AEB5-293C-EE54-F4A669D66C40}"/>
              </a:ext>
            </a:extLst>
          </p:cNvPr>
          <p:cNvPicPr/>
          <p:nvPr/>
        </p:nvPicPr>
        <p:blipFill>
          <a:blip r:embed="rId7" cstate="print"/>
          <a:stretch>
            <a:fillRect/>
          </a:stretch>
        </p:blipFill>
        <p:spPr>
          <a:xfrm>
            <a:off x="5376895" y="1978960"/>
            <a:ext cx="3750283" cy="1712629"/>
          </a:xfrm>
          <a:prstGeom prst="rect">
            <a:avLst/>
          </a:prstGeom>
        </p:spPr>
      </p:pic>
      <p:sp>
        <p:nvSpPr>
          <p:cNvPr id="13" name="TextBox 12">
            <a:extLst>
              <a:ext uri="{FF2B5EF4-FFF2-40B4-BE49-F238E27FC236}">
                <a16:creationId xmlns:a16="http://schemas.microsoft.com/office/drawing/2014/main" id="{16E0BFDC-F940-8E3F-954A-F2932F61EA71}"/>
              </a:ext>
            </a:extLst>
          </p:cNvPr>
          <p:cNvSpPr txBox="1"/>
          <p:nvPr/>
        </p:nvSpPr>
        <p:spPr>
          <a:xfrm>
            <a:off x="1063190" y="538366"/>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A Short Recap On Classification</a:t>
            </a:r>
          </a:p>
        </p:txBody>
      </p:sp>
    </p:spTree>
    <p:extLst>
      <p:ext uri="{BB962C8B-B14F-4D97-AF65-F5344CB8AC3E}">
        <p14:creationId xmlns:p14="http://schemas.microsoft.com/office/powerpoint/2010/main" val="1586636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359EC-1B52-E00D-C263-4024AA26B73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3F00195-AA9C-A5E9-5F12-3B8630C953B2}"/>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F3D033C4-AF88-4509-D5A1-646E12F5AD5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44ED1EB7-F1AB-86D8-735A-B75E5BDC92A4}"/>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2D43BC82-1F89-06C5-2AF2-CD801C0630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62DC412B-5B90-1746-B43C-54EABB31F50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5" name="object 3">
            <a:extLst>
              <a:ext uri="{FF2B5EF4-FFF2-40B4-BE49-F238E27FC236}">
                <a16:creationId xmlns:a16="http://schemas.microsoft.com/office/drawing/2014/main" id="{3672AC1B-5E90-FEAD-769D-F6A53B1C603D}"/>
              </a:ext>
            </a:extLst>
          </p:cNvPr>
          <p:cNvSpPr txBox="1"/>
          <p:nvPr/>
        </p:nvSpPr>
        <p:spPr>
          <a:xfrm>
            <a:off x="869871" y="1618252"/>
            <a:ext cx="8772932" cy="1791855"/>
          </a:xfrm>
          <a:prstGeom prst="rect">
            <a:avLst/>
          </a:prstGeom>
        </p:spPr>
        <p:txBody>
          <a:bodyPr vert="horz" wrap="square" lIns="0" tIns="6686" rIns="0" bIns="0" rtlCol="0">
            <a:spAutoFit/>
          </a:bodyPr>
          <a:lstStyle/>
          <a:p>
            <a:pPr marL="463568" indent="-457200">
              <a:spcBef>
                <a:spcPts val="1200"/>
              </a:spcBef>
              <a:buFont typeface="+mj-lt"/>
              <a:buAutoNum type="arabicPeriod"/>
            </a:pPr>
            <a:r>
              <a:rPr sz="2400" dirty="0">
                <a:latin typeface="Arial MT"/>
                <a:cs typeface="Arial MT"/>
              </a:rPr>
              <a:t>Picks</a:t>
            </a:r>
            <a:r>
              <a:rPr sz="2400" spc="30" dirty="0">
                <a:latin typeface="Arial MT"/>
                <a:cs typeface="Arial MT"/>
              </a:rPr>
              <a:t> </a:t>
            </a:r>
            <a:r>
              <a:rPr sz="2400" dirty="0">
                <a:latin typeface="Arial MT"/>
                <a:cs typeface="Arial MT"/>
              </a:rPr>
              <a:t>the</a:t>
            </a:r>
            <a:r>
              <a:rPr sz="2400" spc="33" dirty="0">
                <a:latin typeface="Arial MT"/>
                <a:cs typeface="Arial MT"/>
              </a:rPr>
              <a:t> </a:t>
            </a:r>
            <a:r>
              <a:rPr sz="2400" dirty="0">
                <a:latin typeface="Arial MT"/>
                <a:cs typeface="Arial MT"/>
              </a:rPr>
              <a:t>best</a:t>
            </a:r>
            <a:r>
              <a:rPr sz="2400" spc="30" dirty="0">
                <a:latin typeface="Arial MT"/>
                <a:cs typeface="Arial MT"/>
              </a:rPr>
              <a:t> </a:t>
            </a:r>
            <a:r>
              <a:rPr sz="2400" spc="28" dirty="0">
                <a:latin typeface="Arial MT"/>
                <a:cs typeface="Arial MT"/>
              </a:rPr>
              <a:t>split</a:t>
            </a:r>
            <a:r>
              <a:rPr sz="2400" spc="30" dirty="0">
                <a:latin typeface="Arial MT"/>
                <a:cs typeface="Arial MT"/>
              </a:rPr>
              <a:t> </a:t>
            </a:r>
            <a:r>
              <a:rPr sz="2400" dirty="0">
                <a:latin typeface="Arial MT"/>
                <a:cs typeface="Arial MT"/>
              </a:rPr>
              <a:t>at</a:t>
            </a:r>
            <a:r>
              <a:rPr sz="2400" spc="33" dirty="0">
                <a:latin typeface="Arial MT"/>
                <a:cs typeface="Arial MT"/>
              </a:rPr>
              <a:t> </a:t>
            </a:r>
            <a:r>
              <a:rPr sz="2400" dirty="0">
                <a:latin typeface="Arial MT"/>
                <a:cs typeface="Arial MT"/>
              </a:rPr>
              <a:t>each</a:t>
            </a:r>
            <a:r>
              <a:rPr sz="2400" spc="30" dirty="0">
                <a:latin typeface="Arial MT"/>
                <a:cs typeface="Arial MT"/>
              </a:rPr>
              <a:t> </a:t>
            </a:r>
            <a:r>
              <a:rPr sz="2400" spc="-10" dirty="0">
                <a:latin typeface="Arial MT"/>
                <a:cs typeface="Arial MT"/>
              </a:rPr>
              <a:t>node</a:t>
            </a:r>
            <a:endParaRPr sz="2400" dirty="0">
              <a:latin typeface="Arial MT"/>
              <a:cs typeface="Arial MT"/>
            </a:endParaRPr>
          </a:p>
          <a:p>
            <a:pPr marL="463249" marR="1796669" indent="-457200">
              <a:spcBef>
                <a:spcPts val="1200"/>
              </a:spcBef>
              <a:buFont typeface="+mj-lt"/>
              <a:buAutoNum type="arabicPeriod"/>
            </a:pPr>
            <a:r>
              <a:rPr sz="2400" dirty="0">
                <a:latin typeface="Arial MT"/>
                <a:cs typeface="Arial MT"/>
              </a:rPr>
              <a:t>Keeps</a:t>
            </a:r>
            <a:r>
              <a:rPr sz="2400" spc="100" dirty="0">
                <a:latin typeface="Arial MT"/>
                <a:cs typeface="Arial MT"/>
              </a:rPr>
              <a:t> </a:t>
            </a:r>
            <a:r>
              <a:rPr sz="2400" dirty="0">
                <a:latin typeface="Arial MT"/>
                <a:cs typeface="Arial MT"/>
              </a:rPr>
              <a:t>splitting</a:t>
            </a:r>
            <a:r>
              <a:rPr sz="2400" spc="100" dirty="0">
                <a:latin typeface="Arial MT"/>
                <a:cs typeface="Arial MT"/>
              </a:rPr>
              <a:t> </a:t>
            </a:r>
            <a:r>
              <a:rPr sz="2400" spc="-5" dirty="0">
                <a:latin typeface="Arial MT"/>
                <a:cs typeface="Arial MT"/>
              </a:rPr>
              <a:t>until</a:t>
            </a:r>
            <a:r>
              <a:rPr lang="en-GB" sz="2400" spc="-5" dirty="0">
                <a:latin typeface="Arial MT"/>
                <a:cs typeface="Arial MT"/>
              </a:rPr>
              <a:t> n</a:t>
            </a:r>
            <a:r>
              <a:rPr sz="2400" dirty="0">
                <a:latin typeface="Arial MT"/>
                <a:cs typeface="Arial MT"/>
              </a:rPr>
              <a:t>o</a:t>
            </a:r>
            <a:r>
              <a:rPr sz="2400" spc="18" dirty="0">
                <a:latin typeface="Arial MT"/>
                <a:cs typeface="Arial MT"/>
              </a:rPr>
              <a:t> </a:t>
            </a:r>
            <a:r>
              <a:rPr sz="2400" dirty="0">
                <a:latin typeface="Arial MT"/>
                <a:cs typeface="Arial MT"/>
              </a:rPr>
              <a:t>more</a:t>
            </a:r>
            <a:r>
              <a:rPr sz="2400" spc="15" dirty="0">
                <a:latin typeface="Arial MT"/>
                <a:cs typeface="Arial MT"/>
              </a:rPr>
              <a:t> </a:t>
            </a:r>
            <a:r>
              <a:rPr sz="2400" dirty="0">
                <a:latin typeface="Arial MT"/>
                <a:cs typeface="Arial MT"/>
              </a:rPr>
              <a:t>gain</a:t>
            </a:r>
            <a:r>
              <a:rPr lang="en-GB" sz="2400" dirty="0">
                <a:latin typeface="Arial MT"/>
                <a:cs typeface="Arial MT"/>
              </a:rPr>
              <a:t> (of information)</a:t>
            </a:r>
            <a:r>
              <a:rPr sz="2400" spc="18" dirty="0">
                <a:latin typeface="Arial MT"/>
                <a:cs typeface="Arial MT"/>
              </a:rPr>
              <a:t> </a:t>
            </a:r>
            <a:r>
              <a:rPr sz="2400" dirty="0">
                <a:latin typeface="Arial MT"/>
                <a:cs typeface="Arial MT"/>
              </a:rPr>
              <a:t>from</a:t>
            </a:r>
            <a:r>
              <a:rPr lang="en-GB" sz="2400" dirty="0">
                <a:latin typeface="Arial MT"/>
                <a:cs typeface="Arial MT"/>
              </a:rPr>
              <a:t> </a:t>
            </a:r>
            <a:r>
              <a:rPr sz="2400" spc="-5" dirty="0">
                <a:latin typeface="Arial MT"/>
                <a:cs typeface="Arial MT"/>
              </a:rPr>
              <a:t>splitting</a:t>
            </a:r>
            <a:endParaRPr sz="2400" dirty="0">
              <a:latin typeface="Arial MT"/>
              <a:cs typeface="Arial MT"/>
            </a:endParaRPr>
          </a:p>
          <a:p>
            <a:pPr marL="463568" marR="2547" indent="-457200">
              <a:spcBef>
                <a:spcPts val="1200"/>
              </a:spcBef>
              <a:buFont typeface="+mj-lt"/>
              <a:buAutoNum type="arabicPeriod"/>
            </a:pPr>
            <a:r>
              <a:rPr sz="2400" dirty="0">
                <a:latin typeface="Arial MT"/>
                <a:cs typeface="Arial MT"/>
              </a:rPr>
              <a:t>Assigns</a:t>
            </a:r>
            <a:r>
              <a:rPr sz="2400" spc="30" dirty="0">
                <a:latin typeface="Arial MT"/>
                <a:cs typeface="Arial MT"/>
              </a:rPr>
              <a:t> </a:t>
            </a:r>
            <a:r>
              <a:rPr sz="2400" dirty="0">
                <a:latin typeface="Arial MT"/>
                <a:cs typeface="Arial MT"/>
              </a:rPr>
              <a:t>class</a:t>
            </a:r>
            <a:r>
              <a:rPr sz="2400" spc="28" dirty="0">
                <a:latin typeface="Arial MT"/>
                <a:cs typeface="Arial MT"/>
              </a:rPr>
              <a:t> </a:t>
            </a:r>
            <a:r>
              <a:rPr sz="2400" dirty="0">
                <a:latin typeface="Arial MT"/>
                <a:cs typeface="Arial MT"/>
              </a:rPr>
              <a:t>based</a:t>
            </a:r>
            <a:r>
              <a:rPr sz="2400" spc="30" dirty="0">
                <a:latin typeface="Arial MT"/>
                <a:cs typeface="Arial MT"/>
              </a:rPr>
              <a:t> </a:t>
            </a:r>
            <a:r>
              <a:rPr sz="2400" dirty="0">
                <a:latin typeface="Arial MT"/>
                <a:cs typeface="Arial MT"/>
              </a:rPr>
              <a:t>on</a:t>
            </a:r>
            <a:r>
              <a:rPr sz="2400" spc="28" dirty="0">
                <a:latin typeface="Arial MT"/>
                <a:cs typeface="Arial MT"/>
              </a:rPr>
              <a:t> </a:t>
            </a:r>
            <a:r>
              <a:rPr sz="2400" dirty="0">
                <a:latin typeface="Arial MT"/>
                <a:cs typeface="Arial MT"/>
              </a:rPr>
              <a:t>majority</a:t>
            </a:r>
            <a:r>
              <a:rPr sz="2400" spc="30" dirty="0">
                <a:latin typeface="Arial MT"/>
                <a:cs typeface="Arial MT"/>
              </a:rPr>
              <a:t> </a:t>
            </a:r>
            <a:r>
              <a:rPr sz="2400" spc="-10" dirty="0">
                <a:latin typeface="Arial MT"/>
                <a:cs typeface="Arial MT"/>
              </a:rPr>
              <a:t>vote </a:t>
            </a:r>
            <a:r>
              <a:rPr sz="2400" dirty="0">
                <a:latin typeface="Arial MT"/>
                <a:cs typeface="Arial MT"/>
              </a:rPr>
              <a:t>in</a:t>
            </a:r>
            <a:r>
              <a:rPr sz="2400" spc="-33" dirty="0">
                <a:latin typeface="Arial MT"/>
                <a:cs typeface="Arial MT"/>
              </a:rPr>
              <a:t> </a:t>
            </a:r>
            <a:r>
              <a:rPr sz="2400" dirty="0">
                <a:latin typeface="Arial MT"/>
                <a:cs typeface="Arial MT"/>
              </a:rPr>
              <a:t>leaf</a:t>
            </a:r>
            <a:r>
              <a:rPr sz="2400" spc="-33" dirty="0">
                <a:latin typeface="Arial MT"/>
                <a:cs typeface="Arial MT"/>
              </a:rPr>
              <a:t> </a:t>
            </a:r>
            <a:r>
              <a:rPr sz="2400" spc="-5" dirty="0">
                <a:latin typeface="Arial MT"/>
                <a:cs typeface="Arial MT"/>
              </a:rPr>
              <a:t>nodes</a:t>
            </a:r>
            <a:endParaRPr sz="2400" dirty="0">
              <a:latin typeface="Arial MT"/>
              <a:cs typeface="Arial MT"/>
            </a:endParaRPr>
          </a:p>
        </p:txBody>
      </p:sp>
      <p:sp>
        <p:nvSpPr>
          <p:cNvPr id="12" name="TextBox 11">
            <a:extLst>
              <a:ext uri="{FF2B5EF4-FFF2-40B4-BE49-F238E27FC236}">
                <a16:creationId xmlns:a16="http://schemas.microsoft.com/office/drawing/2014/main" id="{4A905CD5-2ED9-A6F1-1C48-3CCF6456A503}"/>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How does a decision tree make a decision?</a:t>
            </a:r>
          </a:p>
        </p:txBody>
      </p:sp>
    </p:spTree>
    <p:extLst>
      <p:ext uri="{BB962C8B-B14F-4D97-AF65-F5344CB8AC3E}">
        <p14:creationId xmlns:p14="http://schemas.microsoft.com/office/powerpoint/2010/main" val="3313216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8284F-EE50-E996-0A60-D57563A5E8C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072E0AF-3833-0D03-4E93-2D134FC4DF11}"/>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2BC0DD42-7152-0874-61FF-7F0AB14D3CA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A1034DB4-173B-3B23-6F8E-4D7BB7B68736}"/>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68C34FF9-DD95-D14C-80AB-5814A70FD36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5D16182D-787E-E319-C0CE-58FA3292168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2" name="TextBox 11">
            <a:extLst>
              <a:ext uri="{FF2B5EF4-FFF2-40B4-BE49-F238E27FC236}">
                <a16:creationId xmlns:a16="http://schemas.microsoft.com/office/drawing/2014/main" id="{D5BB2ED2-B733-0A9F-74C1-CC16A0D8F503}"/>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Decision tree - Example</a:t>
            </a:r>
          </a:p>
        </p:txBody>
      </p:sp>
      <p:graphicFrame>
        <p:nvGraphicFramePr>
          <p:cNvPr id="2" name="Table 1">
            <a:extLst>
              <a:ext uri="{FF2B5EF4-FFF2-40B4-BE49-F238E27FC236}">
                <a16:creationId xmlns:a16="http://schemas.microsoft.com/office/drawing/2014/main" id="{ADD27857-B000-4E3A-8CAC-D739D8E0B1B5}"/>
              </a:ext>
            </a:extLst>
          </p:cNvPr>
          <p:cNvGraphicFramePr>
            <a:graphicFrameLocks noGrp="1"/>
          </p:cNvGraphicFramePr>
          <p:nvPr>
            <p:extLst>
              <p:ext uri="{D42A27DB-BD31-4B8C-83A1-F6EECF244321}">
                <p14:modId xmlns:p14="http://schemas.microsoft.com/office/powerpoint/2010/main" val="922773664"/>
              </p:ext>
            </p:extLst>
          </p:nvPr>
        </p:nvGraphicFramePr>
        <p:xfrm>
          <a:off x="635886" y="1738036"/>
          <a:ext cx="4562815" cy="2227393"/>
        </p:xfrm>
        <a:graphic>
          <a:graphicData uri="http://schemas.openxmlformats.org/drawingml/2006/table">
            <a:tbl>
              <a:tblPr/>
              <a:tblGrid>
                <a:gridCol w="912563">
                  <a:extLst>
                    <a:ext uri="{9D8B030D-6E8A-4147-A177-3AD203B41FA5}">
                      <a16:colId xmlns:a16="http://schemas.microsoft.com/office/drawing/2014/main" val="1366875925"/>
                    </a:ext>
                  </a:extLst>
                </a:gridCol>
                <a:gridCol w="912563">
                  <a:extLst>
                    <a:ext uri="{9D8B030D-6E8A-4147-A177-3AD203B41FA5}">
                      <a16:colId xmlns:a16="http://schemas.microsoft.com/office/drawing/2014/main" val="2215596143"/>
                    </a:ext>
                  </a:extLst>
                </a:gridCol>
                <a:gridCol w="912563">
                  <a:extLst>
                    <a:ext uri="{9D8B030D-6E8A-4147-A177-3AD203B41FA5}">
                      <a16:colId xmlns:a16="http://schemas.microsoft.com/office/drawing/2014/main" val="3962370717"/>
                    </a:ext>
                  </a:extLst>
                </a:gridCol>
                <a:gridCol w="912563">
                  <a:extLst>
                    <a:ext uri="{9D8B030D-6E8A-4147-A177-3AD203B41FA5}">
                      <a16:colId xmlns:a16="http://schemas.microsoft.com/office/drawing/2014/main" val="2624882336"/>
                    </a:ext>
                  </a:extLst>
                </a:gridCol>
                <a:gridCol w="912563">
                  <a:extLst>
                    <a:ext uri="{9D8B030D-6E8A-4147-A177-3AD203B41FA5}">
                      <a16:colId xmlns:a16="http://schemas.microsoft.com/office/drawing/2014/main" val="602348345"/>
                    </a:ext>
                  </a:extLst>
                </a:gridCol>
              </a:tblGrid>
              <a:tr h="0">
                <a:tc>
                  <a:txBody>
                    <a:bodyPr/>
                    <a:lstStyle/>
                    <a:p>
                      <a:pPr>
                        <a:buNone/>
                      </a:pPr>
                      <a:r>
                        <a:rPr lang="en-GB"/>
                        <a:t>#</a:t>
                      </a:r>
                    </a:p>
                  </a:txBody>
                  <a:tcPr anchor="ctr">
                    <a:lnL>
                      <a:noFill/>
                    </a:lnL>
                    <a:lnR>
                      <a:noFill/>
                    </a:lnR>
                    <a:lnT>
                      <a:noFill/>
                    </a:lnT>
                    <a:lnB>
                      <a:noFill/>
                    </a:lnB>
                    <a:noFill/>
                  </a:tcPr>
                </a:tc>
                <a:tc>
                  <a:txBody>
                    <a:bodyPr/>
                    <a:lstStyle/>
                    <a:p>
                      <a:pPr>
                        <a:buNone/>
                      </a:pPr>
                      <a:r>
                        <a:rPr lang="en-GB"/>
                        <a:t>Sex</a:t>
                      </a:r>
                    </a:p>
                  </a:txBody>
                  <a:tcPr anchor="ctr">
                    <a:lnL>
                      <a:noFill/>
                    </a:lnL>
                    <a:lnR>
                      <a:noFill/>
                    </a:lnR>
                    <a:lnT>
                      <a:noFill/>
                    </a:lnT>
                    <a:lnB>
                      <a:noFill/>
                    </a:lnB>
                    <a:noFill/>
                  </a:tcPr>
                </a:tc>
                <a:tc>
                  <a:txBody>
                    <a:bodyPr/>
                    <a:lstStyle/>
                    <a:p>
                      <a:pPr>
                        <a:buNone/>
                      </a:pPr>
                      <a:r>
                        <a:rPr lang="en-GB"/>
                        <a:t>Class</a:t>
                      </a:r>
                    </a:p>
                  </a:txBody>
                  <a:tcPr anchor="ctr">
                    <a:lnL>
                      <a:noFill/>
                    </a:lnL>
                    <a:lnR>
                      <a:noFill/>
                    </a:lnR>
                    <a:lnT>
                      <a:noFill/>
                    </a:lnT>
                    <a:lnB>
                      <a:noFill/>
                    </a:lnB>
                    <a:noFill/>
                  </a:tcPr>
                </a:tc>
                <a:tc>
                  <a:txBody>
                    <a:bodyPr/>
                    <a:lstStyle/>
                    <a:p>
                      <a:pPr>
                        <a:buNone/>
                      </a:pPr>
                      <a:r>
                        <a:rPr lang="en-GB"/>
                        <a:t>Age</a:t>
                      </a:r>
                    </a:p>
                  </a:txBody>
                  <a:tcPr anchor="ctr">
                    <a:lnL>
                      <a:noFill/>
                    </a:lnL>
                    <a:lnR>
                      <a:noFill/>
                    </a:lnR>
                    <a:lnT>
                      <a:noFill/>
                    </a:lnT>
                    <a:lnB>
                      <a:noFill/>
                    </a:lnB>
                    <a:noFill/>
                  </a:tcPr>
                </a:tc>
                <a:tc>
                  <a:txBody>
                    <a:bodyPr/>
                    <a:lstStyle/>
                    <a:p>
                      <a:pPr>
                        <a:buNone/>
                      </a:pPr>
                      <a:r>
                        <a:rPr lang="en-GB" dirty="0"/>
                        <a:t>Survived</a:t>
                      </a:r>
                    </a:p>
                  </a:txBody>
                  <a:tcPr anchor="ctr">
                    <a:lnL>
                      <a:noFill/>
                    </a:lnL>
                    <a:lnR>
                      <a:noFill/>
                    </a:lnR>
                    <a:lnT>
                      <a:noFill/>
                    </a:lnT>
                    <a:lnB>
                      <a:noFill/>
                    </a:lnB>
                    <a:noFill/>
                  </a:tcPr>
                </a:tc>
                <a:extLst>
                  <a:ext uri="{0D108BD9-81ED-4DB2-BD59-A6C34878D82A}">
                    <a16:rowId xmlns:a16="http://schemas.microsoft.com/office/drawing/2014/main" val="2681260917"/>
                  </a:ext>
                </a:extLst>
              </a:tr>
              <a:tr h="0">
                <a:tc>
                  <a:txBody>
                    <a:bodyPr/>
                    <a:lstStyle/>
                    <a:p>
                      <a:pPr>
                        <a:buNone/>
                      </a:pPr>
                      <a:r>
                        <a:rPr lang="en-GB"/>
                        <a:t>1</a:t>
                      </a:r>
                    </a:p>
                  </a:txBody>
                  <a:tcPr anchor="ctr">
                    <a:lnL>
                      <a:noFill/>
                    </a:lnL>
                    <a:lnR>
                      <a:noFill/>
                    </a:lnR>
                    <a:lnT>
                      <a:noFill/>
                    </a:lnT>
                    <a:lnB>
                      <a:noFill/>
                    </a:lnB>
                    <a:noFill/>
                  </a:tcPr>
                </a:tc>
                <a:tc>
                  <a:txBody>
                    <a:bodyPr/>
                    <a:lstStyle/>
                    <a:p>
                      <a:pPr>
                        <a:buNone/>
                      </a:pPr>
                      <a:r>
                        <a:rPr lang="en-GB"/>
                        <a:t>Female</a:t>
                      </a:r>
                    </a:p>
                  </a:txBody>
                  <a:tcPr anchor="ctr">
                    <a:lnL>
                      <a:noFill/>
                    </a:lnL>
                    <a:lnR>
                      <a:noFill/>
                    </a:lnR>
                    <a:lnT>
                      <a:noFill/>
                    </a:lnT>
                    <a:lnB>
                      <a:noFill/>
                    </a:lnB>
                    <a:noFill/>
                  </a:tcPr>
                </a:tc>
                <a:tc>
                  <a:txBody>
                    <a:bodyPr/>
                    <a:lstStyle/>
                    <a:p>
                      <a:pPr>
                        <a:buNone/>
                      </a:pPr>
                      <a:r>
                        <a:rPr lang="en-GB"/>
                        <a:t>1st</a:t>
                      </a:r>
                    </a:p>
                  </a:txBody>
                  <a:tcPr anchor="ctr">
                    <a:lnL>
                      <a:noFill/>
                    </a:lnL>
                    <a:lnR>
                      <a:noFill/>
                    </a:lnR>
                    <a:lnT>
                      <a:noFill/>
                    </a:lnT>
                    <a:lnB>
                      <a:noFill/>
                    </a:lnB>
                    <a:noFill/>
                  </a:tcPr>
                </a:tc>
                <a:tc>
                  <a:txBody>
                    <a:bodyPr/>
                    <a:lstStyle/>
                    <a:p>
                      <a:pPr>
                        <a:buNone/>
                      </a:pPr>
                      <a:r>
                        <a:rPr lang="en-GB" dirty="0"/>
                        <a:t>Adult</a:t>
                      </a:r>
                    </a:p>
                  </a:txBody>
                  <a:tcPr anchor="ctr">
                    <a:lnL>
                      <a:noFill/>
                    </a:lnL>
                    <a:lnR>
                      <a:noFill/>
                    </a:lnR>
                    <a:lnT>
                      <a:noFill/>
                    </a:lnT>
                    <a:lnB>
                      <a:noFill/>
                    </a:lnB>
                    <a:noFill/>
                  </a:tcPr>
                </a:tc>
                <a:tc>
                  <a:txBody>
                    <a:bodyPr/>
                    <a:lstStyle/>
                    <a:p>
                      <a:pPr>
                        <a:buNone/>
                      </a:pPr>
                      <a:r>
                        <a:rPr lang="en-GB" dirty="0"/>
                        <a:t>✅ Yes</a:t>
                      </a:r>
                    </a:p>
                  </a:txBody>
                  <a:tcPr anchor="ctr">
                    <a:lnL>
                      <a:noFill/>
                    </a:lnL>
                    <a:lnR>
                      <a:noFill/>
                    </a:lnR>
                    <a:lnT>
                      <a:noFill/>
                    </a:lnT>
                    <a:lnB>
                      <a:noFill/>
                    </a:lnB>
                    <a:noFill/>
                  </a:tcPr>
                </a:tc>
                <a:extLst>
                  <a:ext uri="{0D108BD9-81ED-4DB2-BD59-A6C34878D82A}">
                    <a16:rowId xmlns:a16="http://schemas.microsoft.com/office/drawing/2014/main" val="999080819"/>
                  </a:ext>
                </a:extLst>
              </a:tr>
              <a:tr h="0">
                <a:tc>
                  <a:txBody>
                    <a:bodyPr/>
                    <a:lstStyle/>
                    <a:p>
                      <a:pPr>
                        <a:buNone/>
                      </a:pPr>
                      <a:r>
                        <a:rPr lang="en-GB"/>
                        <a:t>2</a:t>
                      </a:r>
                    </a:p>
                  </a:txBody>
                  <a:tcPr anchor="ctr">
                    <a:lnL>
                      <a:noFill/>
                    </a:lnL>
                    <a:lnR>
                      <a:noFill/>
                    </a:lnR>
                    <a:lnT>
                      <a:noFill/>
                    </a:lnT>
                    <a:lnB>
                      <a:noFill/>
                    </a:lnB>
                    <a:noFill/>
                  </a:tcPr>
                </a:tc>
                <a:tc>
                  <a:txBody>
                    <a:bodyPr/>
                    <a:lstStyle/>
                    <a:p>
                      <a:pPr>
                        <a:buNone/>
                      </a:pPr>
                      <a:r>
                        <a:rPr lang="en-GB"/>
                        <a:t>Male</a:t>
                      </a:r>
                    </a:p>
                  </a:txBody>
                  <a:tcPr anchor="ctr">
                    <a:lnL>
                      <a:noFill/>
                    </a:lnL>
                    <a:lnR>
                      <a:noFill/>
                    </a:lnR>
                    <a:lnT>
                      <a:noFill/>
                    </a:lnT>
                    <a:lnB>
                      <a:noFill/>
                    </a:lnB>
                    <a:noFill/>
                  </a:tcPr>
                </a:tc>
                <a:tc>
                  <a:txBody>
                    <a:bodyPr/>
                    <a:lstStyle/>
                    <a:p>
                      <a:pPr>
                        <a:buNone/>
                      </a:pPr>
                      <a:r>
                        <a:rPr lang="en-GB"/>
                        <a:t>3rd</a:t>
                      </a:r>
                    </a:p>
                  </a:txBody>
                  <a:tcPr anchor="ctr">
                    <a:lnL>
                      <a:noFill/>
                    </a:lnL>
                    <a:lnR>
                      <a:noFill/>
                    </a:lnR>
                    <a:lnT>
                      <a:noFill/>
                    </a:lnT>
                    <a:lnB>
                      <a:noFill/>
                    </a:lnB>
                    <a:noFill/>
                  </a:tcPr>
                </a:tc>
                <a:tc>
                  <a:txBody>
                    <a:bodyPr/>
                    <a:lstStyle/>
                    <a:p>
                      <a:pPr>
                        <a:buNone/>
                      </a:pPr>
                      <a:r>
                        <a:rPr lang="en-GB" dirty="0"/>
                        <a:t>Adult</a:t>
                      </a:r>
                    </a:p>
                  </a:txBody>
                  <a:tcPr anchor="ctr">
                    <a:lnL>
                      <a:noFill/>
                    </a:lnL>
                    <a:lnR>
                      <a:noFill/>
                    </a:lnR>
                    <a:lnT>
                      <a:noFill/>
                    </a:lnT>
                    <a:lnB>
                      <a:noFill/>
                    </a:lnB>
                    <a:noFill/>
                  </a:tcPr>
                </a:tc>
                <a:tc>
                  <a:txBody>
                    <a:bodyPr/>
                    <a:lstStyle/>
                    <a:p>
                      <a:pPr>
                        <a:buNone/>
                      </a:pPr>
                      <a:r>
                        <a:rPr lang="en-GB"/>
                        <a:t>❌ No</a:t>
                      </a:r>
                    </a:p>
                  </a:txBody>
                  <a:tcPr anchor="ctr">
                    <a:lnL>
                      <a:noFill/>
                    </a:lnL>
                    <a:lnR>
                      <a:noFill/>
                    </a:lnR>
                    <a:lnT>
                      <a:noFill/>
                    </a:lnT>
                    <a:lnB>
                      <a:noFill/>
                    </a:lnB>
                    <a:noFill/>
                  </a:tcPr>
                </a:tc>
                <a:extLst>
                  <a:ext uri="{0D108BD9-81ED-4DB2-BD59-A6C34878D82A}">
                    <a16:rowId xmlns:a16="http://schemas.microsoft.com/office/drawing/2014/main" val="1206723066"/>
                  </a:ext>
                </a:extLst>
              </a:tr>
              <a:tr h="0">
                <a:tc>
                  <a:txBody>
                    <a:bodyPr/>
                    <a:lstStyle/>
                    <a:p>
                      <a:pPr>
                        <a:buNone/>
                      </a:pPr>
                      <a:r>
                        <a:rPr lang="en-GB"/>
                        <a:t>3</a:t>
                      </a:r>
                    </a:p>
                  </a:txBody>
                  <a:tcPr anchor="ctr">
                    <a:lnL>
                      <a:noFill/>
                    </a:lnL>
                    <a:lnR>
                      <a:noFill/>
                    </a:lnR>
                    <a:lnT>
                      <a:noFill/>
                    </a:lnT>
                    <a:lnB>
                      <a:noFill/>
                    </a:lnB>
                    <a:noFill/>
                  </a:tcPr>
                </a:tc>
                <a:tc>
                  <a:txBody>
                    <a:bodyPr/>
                    <a:lstStyle/>
                    <a:p>
                      <a:pPr>
                        <a:buNone/>
                      </a:pPr>
                      <a:r>
                        <a:rPr lang="en-GB"/>
                        <a:t>Female</a:t>
                      </a:r>
                    </a:p>
                  </a:txBody>
                  <a:tcPr anchor="ctr">
                    <a:lnL>
                      <a:noFill/>
                    </a:lnL>
                    <a:lnR>
                      <a:noFill/>
                    </a:lnR>
                    <a:lnT>
                      <a:noFill/>
                    </a:lnT>
                    <a:lnB>
                      <a:noFill/>
                    </a:lnB>
                    <a:noFill/>
                  </a:tcPr>
                </a:tc>
                <a:tc>
                  <a:txBody>
                    <a:bodyPr/>
                    <a:lstStyle/>
                    <a:p>
                      <a:pPr>
                        <a:buNone/>
                      </a:pPr>
                      <a:r>
                        <a:rPr lang="en-GB"/>
                        <a:t>3rd</a:t>
                      </a:r>
                    </a:p>
                  </a:txBody>
                  <a:tcPr anchor="ctr">
                    <a:lnL>
                      <a:noFill/>
                    </a:lnL>
                    <a:lnR>
                      <a:noFill/>
                    </a:lnR>
                    <a:lnT>
                      <a:noFill/>
                    </a:lnT>
                    <a:lnB>
                      <a:noFill/>
                    </a:lnB>
                    <a:noFill/>
                  </a:tcPr>
                </a:tc>
                <a:tc>
                  <a:txBody>
                    <a:bodyPr/>
                    <a:lstStyle/>
                    <a:p>
                      <a:pPr>
                        <a:buNone/>
                      </a:pPr>
                      <a:r>
                        <a:rPr lang="en-GB"/>
                        <a:t>Child</a:t>
                      </a:r>
                    </a:p>
                  </a:txBody>
                  <a:tcPr anchor="ctr">
                    <a:lnL>
                      <a:noFill/>
                    </a:lnL>
                    <a:lnR>
                      <a:noFill/>
                    </a:lnR>
                    <a:lnT>
                      <a:noFill/>
                    </a:lnT>
                    <a:lnB>
                      <a:noFill/>
                    </a:lnB>
                    <a:noFill/>
                  </a:tcPr>
                </a:tc>
                <a:tc>
                  <a:txBody>
                    <a:bodyPr/>
                    <a:lstStyle/>
                    <a:p>
                      <a:pPr>
                        <a:buNone/>
                      </a:pPr>
                      <a:r>
                        <a:rPr lang="en-GB"/>
                        <a:t>✅ Yes</a:t>
                      </a:r>
                    </a:p>
                  </a:txBody>
                  <a:tcPr anchor="ctr">
                    <a:lnL>
                      <a:noFill/>
                    </a:lnL>
                    <a:lnR>
                      <a:noFill/>
                    </a:lnR>
                    <a:lnT>
                      <a:noFill/>
                    </a:lnT>
                    <a:lnB>
                      <a:noFill/>
                    </a:lnB>
                    <a:noFill/>
                  </a:tcPr>
                </a:tc>
                <a:extLst>
                  <a:ext uri="{0D108BD9-81ED-4DB2-BD59-A6C34878D82A}">
                    <a16:rowId xmlns:a16="http://schemas.microsoft.com/office/drawing/2014/main" val="1859888624"/>
                  </a:ext>
                </a:extLst>
              </a:tr>
              <a:tr h="0">
                <a:tc>
                  <a:txBody>
                    <a:bodyPr/>
                    <a:lstStyle/>
                    <a:p>
                      <a:pPr>
                        <a:buNone/>
                      </a:pPr>
                      <a:r>
                        <a:rPr lang="en-GB"/>
                        <a:t>4</a:t>
                      </a:r>
                    </a:p>
                  </a:txBody>
                  <a:tcPr anchor="ctr">
                    <a:lnL>
                      <a:noFill/>
                    </a:lnL>
                    <a:lnR>
                      <a:noFill/>
                    </a:lnR>
                    <a:lnT>
                      <a:noFill/>
                    </a:lnT>
                    <a:lnB>
                      <a:noFill/>
                    </a:lnB>
                    <a:noFill/>
                  </a:tcPr>
                </a:tc>
                <a:tc>
                  <a:txBody>
                    <a:bodyPr/>
                    <a:lstStyle/>
                    <a:p>
                      <a:pPr>
                        <a:buNone/>
                      </a:pPr>
                      <a:r>
                        <a:rPr lang="en-GB"/>
                        <a:t>Male</a:t>
                      </a:r>
                    </a:p>
                  </a:txBody>
                  <a:tcPr anchor="ctr">
                    <a:lnL>
                      <a:noFill/>
                    </a:lnL>
                    <a:lnR>
                      <a:noFill/>
                    </a:lnR>
                    <a:lnT>
                      <a:noFill/>
                    </a:lnT>
                    <a:lnB>
                      <a:noFill/>
                    </a:lnB>
                    <a:noFill/>
                  </a:tcPr>
                </a:tc>
                <a:tc>
                  <a:txBody>
                    <a:bodyPr/>
                    <a:lstStyle/>
                    <a:p>
                      <a:pPr>
                        <a:buNone/>
                      </a:pPr>
                      <a:r>
                        <a:rPr lang="en-GB"/>
                        <a:t>1st</a:t>
                      </a:r>
                    </a:p>
                  </a:txBody>
                  <a:tcPr anchor="ctr">
                    <a:lnL>
                      <a:noFill/>
                    </a:lnL>
                    <a:lnR>
                      <a:noFill/>
                    </a:lnR>
                    <a:lnT>
                      <a:noFill/>
                    </a:lnT>
                    <a:lnB>
                      <a:noFill/>
                    </a:lnB>
                    <a:noFill/>
                  </a:tcPr>
                </a:tc>
                <a:tc>
                  <a:txBody>
                    <a:bodyPr/>
                    <a:lstStyle/>
                    <a:p>
                      <a:pPr>
                        <a:buNone/>
                      </a:pPr>
                      <a:r>
                        <a:rPr lang="en-GB" dirty="0"/>
                        <a:t>Adult</a:t>
                      </a:r>
                    </a:p>
                  </a:txBody>
                  <a:tcPr anchor="ctr">
                    <a:lnL>
                      <a:noFill/>
                    </a:lnL>
                    <a:lnR>
                      <a:noFill/>
                    </a:lnR>
                    <a:lnT>
                      <a:noFill/>
                    </a:lnT>
                    <a:lnB>
                      <a:noFill/>
                    </a:lnB>
                    <a:noFill/>
                  </a:tcPr>
                </a:tc>
                <a:tc>
                  <a:txBody>
                    <a:bodyPr/>
                    <a:lstStyle/>
                    <a:p>
                      <a:pPr>
                        <a:buNone/>
                      </a:pPr>
                      <a:r>
                        <a:rPr lang="en-GB" dirty="0"/>
                        <a:t>❌ No</a:t>
                      </a:r>
                    </a:p>
                  </a:txBody>
                  <a:tcPr anchor="ctr">
                    <a:lnL>
                      <a:noFill/>
                    </a:lnL>
                    <a:lnR>
                      <a:noFill/>
                    </a:lnR>
                    <a:lnT>
                      <a:noFill/>
                    </a:lnT>
                    <a:lnB>
                      <a:noFill/>
                    </a:lnB>
                    <a:noFill/>
                  </a:tcPr>
                </a:tc>
                <a:extLst>
                  <a:ext uri="{0D108BD9-81ED-4DB2-BD59-A6C34878D82A}">
                    <a16:rowId xmlns:a16="http://schemas.microsoft.com/office/drawing/2014/main" val="1840562413"/>
                  </a:ext>
                </a:extLst>
              </a:tr>
              <a:tr h="0">
                <a:tc>
                  <a:txBody>
                    <a:bodyPr/>
                    <a:lstStyle/>
                    <a:p>
                      <a:pPr>
                        <a:buNone/>
                      </a:pPr>
                      <a:r>
                        <a:rPr lang="en-GB"/>
                        <a:t>5</a:t>
                      </a:r>
                    </a:p>
                  </a:txBody>
                  <a:tcPr anchor="ctr">
                    <a:lnL>
                      <a:noFill/>
                    </a:lnL>
                    <a:lnR>
                      <a:noFill/>
                    </a:lnR>
                    <a:lnT>
                      <a:noFill/>
                    </a:lnT>
                    <a:lnB>
                      <a:noFill/>
                    </a:lnB>
                    <a:noFill/>
                  </a:tcPr>
                </a:tc>
                <a:tc>
                  <a:txBody>
                    <a:bodyPr/>
                    <a:lstStyle/>
                    <a:p>
                      <a:pPr>
                        <a:buNone/>
                      </a:pPr>
                      <a:r>
                        <a:rPr lang="en-GB"/>
                        <a:t>Male</a:t>
                      </a:r>
                    </a:p>
                  </a:txBody>
                  <a:tcPr anchor="ctr">
                    <a:lnL>
                      <a:noFill/>
                    </a:lnL>
                    <a:lnR>
                      <a:noFill/>
                    </a:lnR>
                    <a:lnT>
                      <a:noFill/>
                    </a:lnT>
                    <a:lnB>
                      <a:noFill/>
                    </a:lnB>
                    <a:noFill/>
                  </a:tcPr>
                </a:tc>
                <a:tc>
                  <a:txBody>
                    <a:bodyPr/>
                    <a:lstStyle/>
                    <a:p>
                      <a:pPr>
                        <a:buNone/>
                      </a:pPr>
                      <a:r>
                        <a:rPr lang="en-GB"/>
                        <a:t>3rd</a:t>
                      </a:r>
                    </a:p>
                  </a:txBody>
                  <a:tcPr anchor="ctr">
                    <a:lnL>
                      <a:noFill/>
                    </a:lnL>
                    <a:lnR>
                      <a:noFill/>
                    </a:lnR>
                    <a:lnT>
                      <a:noFill/>
                    </a:lnT>
                    <a:lnB>
                      <a:noFill/>
                    </a:lnB>
                    <a:noFill/>
                  </a:tcPr>
                </a:tc>
                <a:tc>
                  <a:txBody>
                    <a:bodyPr/>
                    <a:lstStyle/>
                    <a:p>
                      <a:pPr>
                        <a:buNone/>
                      </a:pPr>
                      <a:r>
                        <a:rPr lang="en-GB"/>
                        <a:t>Child</a:t>
                      </a:r>
                    </a:p>
                  </a:txBody>
                  <a:tcPr anchor="ctr">
                    <a:lnL>
                      <a:noFill/>
                    </a:lnL>
                    <a:lnR>
                      <a:noFill/>
                    </a:lnR>
                    <a:lnT>
                      <a:noFill/>
                    </a:lnT>
                    <a:lnB>
                      <a:noFill/>
                    </a:lnB>
                    <a:noFill/>
                  </a:tcPr>
                </a:tc>
                <a:tc>
                  <a:txBody>
                    <a:bodyPr/>
                    <a:lstStyle/>
                    <a:p>
                      <a:pPr>
                        <a:buNone/>
                      </a:pPr>
                      <a:r>
                        <a:rPr lang="en-GB"/>
                        <a:t>✅ Yes</a:t>
                      </a:r>
                    </a:p>
                  </a:txBody>
                  <a:tcPr anchor="ctr">
                    <a:lnL>
                      <a:noFill/>
                    </a:lnL>
                    <a:lnR>
                      <a:noFill/>
                    </a:lnR>
                    <a:lnT>
                      <a:noFill/>
                    </a:lnT>
                    <a:lnB>
                      <a:noFill/>
                    </a:lnB>
                    <a:noFill/>
                  </a:tcPr>
                </a:tc>
                <a:extLst>
                  <a:ext uri="{0D108BD9-81ED-4DB2-BD59-A6C34878D82A}">
                    <a16:rowId xmlns:a16="http://schemas.microsoft.com/office/drawing/2014/main" val="574109786"/>
                  </a:ext>
                </a:extLst>
              </a:tr>
              <a:tr h="0">
                <a:tc>
                  <a:txBody>
                    <a:bodyPr/>
                    <a:lstStyle/>
                    <a:p>
                      <a:pPr>
                        <a:buNone/>
                      </a:pPr>
                      <a:r>
                        <a:rPr lang="en-GB"/>
                        <a:t>6</a:t>
                      </a:r>
                    </a:p>
                  </a:txBody>
                  <a:tcPr anchor="ctr">
                    <a:lnL>
                      <a:noFill/>
                    </a:lnL>
                    <a:lnR>
                      <a:noFill/>
                    </a:lnR>
                    <a:lnT>
                      <a:noFill/>
                    </a:lnT>
                    <a:lnB>
                      <a:noFill/>
                    </a:lnB>
                    <a:noFill/>
                  </a:tcPr>
                </a:tc>
                <a:tc>
                  <a:txBody>
                    <a:bodyPr/>
                    <a:lstStyle/>
                    <a:p>
                      <a:pPr>
                        <a:buNone/>
                      </a:pPr>
                      <a:r>
                        <a:rPr lang="en-GB"/>
                        <a:t>Female</a:t>
                      </a:r>
                    </a:p>
                  </a:txBody>
                  <a:tcPr anchor="ctr">
                    <a:lnL>
                      <a:noFill/>
                    </a:lnL>
                    <a:lnR>
                      <a:noFill/>
                    </a:lnR>
                    <a:lnT>
                      <a:noFill/>
                    </a:lnT>
                    <a:lnB>
                      <a:noFill/>
                    </a:lnB>
                    <a:noFill/>
                  </a:tcPr>
                </a:tc>
                <a:tc>
                  <a:txBody>
                    <a:bodyPr/>
                    <a:lstStyle/>
                    <a:p>
                      <a:pPr>
                        <a:buNone/>
                      </a:pPr>
                      <a:r>
                        <a:rPr lang="en-GB"/>
                        <a:t>2nd</a:t>
                      </a:r>
                    </a:p>
                  </a:txBody>
                  <a:tcPr anchor="ctr">
                    <a:lnL>
                      <a:noFill/>
                    </a:lnL>
                    <a:lnR>
                      <a:noFill/>
                    </a:lnR>
                    <a:lnT>
                      <a:noFill/>
                    </a:lnT>
                    <a:lnB>
                      <a:noFill/>
                    </a:lnB>
                    <a:noFill/>
                  </a:tcPr>
                </a:tc>
                <a:tc>
                  <a:txBody>
                    <a:bodyPr/>
                    <a:lstStyle/>
                    <a:p>
                      <a:pPr>
                        <a:buNone/>
                      </a:pPr>
                      <a:r>
                        <a:rPr lang="en-GB"/>
                        <a:t>Adult</a:t>
                      </a:r>
                    </a:p>
                  </a:txBody>
                  <a:tcPr anchor="ctr">
                    <a:lnL>
                      <a:noFill/>
                    </a:lnL>
                    <a:lnR>
                      <a:noFill/>
                    </a:lnR>
                    <a:lnT>
                      <a:noFill/>
                    </a:lnT>
                    <a:lnB>
                      <a:noFill/>
                    </a:lnB>
                    <a:noFill/>
                  </a:tcPr>
                </a:tc>
                <a:tc>
                  <a:txBody>
                    <a:bodyPr/>
                    <a:lstStyle/>
                    <a:p>
                      <a:pPr>
                        <a:buNone/>
                      </a:pPr>
                      <a:r>
                        <a:rPr lang="en-GB" dirty="0"/>
                        <a:t>✅ Yes</a:t>
                      </a:r>
                    </a:p>
                  </a:txBody>
                  <a:tcPr anchor="ctr">
                    <a:lnL>
                      <a:noFill/>
                    </a:lnL>
                    <a:lnR>
                      <a:noFill/>
                    </a:lnR>
                    <a:lnT>
                      <a:noFill/>
                    </a:lnT>
                    <a:lnB>
                      <a:noFill/>
                    </a:lnB>
                    <a:noFill/>
                  </a:tcPr>
                </a:tc>
                <a:extLst>
                  <a:ext uri="{0D108BD9-81ED-4DB2-BD59-A6C34878D82A}">
                    <a16:rowId xmlns:a16="http://schemas.microsoft.com/office/drawing/2014/main" val="369196853"/>
                  </a:ext>
                </a:extLst>
              </a:tr>
            </a:tbl>
          </a:graphicData>
        </a:graphic>
      </p:graphicFrame>
      <p:sp>
        <p:nvSpPr>
          <p:cNvPr id="10" name="TextBox 9">
            <a:extLst>
              <a:ext uri="{FF2B5EF4-FFF2-40B4-BE49-F238E27FC236}">
                <a16:creationId xmlns:a16="http://schemas.microsoft.com/office/drawing/2014/main" id="{E1E7058A-D8E7-93FF-84D7-5B26A260970E}"/>
              </a:ext>
            </a:extLst>
          </p:cNvPr>
          <p:cNvSpPr txBox="1"/>
          <p:nvPr/>
        </p:nvSpPr>
        <p:spPr>
          <a:xfrm>
            <a:off x="5721268" y="1496967"/>
            <a:ext cx="4437160" cy="3046988"/>
          </a:xfrm>
          <a:prstGeom prst="rect">
            <a:avLst/>
          </a:prstGeom>
          <a:noFill/>
        </p:spPr>
        <p:txBody>
          <a:bodyPr wrap="square">
            <a:spAutoFit/>
          </a:bodyPr>
          <a:lstStyle/>
          <a:p>
            <a:r>
              <a:rPr lang="en-GB" sz="1600" b="1" dirty="0"/>
              <a:t>Split by Class</a:t>
            </a:r>
            <a:endParaRPr lang="en-GB" sz="1600" dirty="0"/>
          </a:p>
          <a:p>
            <a:pPr>
              <a:buFont typeface="Arial" panose="020B0604020202020204" pitchFamily="34" charset="0"/>
              <a:buChar char="•"/>
            </a:pPr>
            <a:r>
              <a:rPr lang="en-GB" sz="1600" dirty="0"/>
              <a:t>1st (rows 1, 4) → ✅ ❌</a:t>
            </a:r>
          </a:p>
          <a:p>
            <a:pPr>
              <a:buFont typeface="Arial" panose="020B0604020202020204" pitchFamily="34" charset="0"/>
              <a:buChar char="•"/>
            </a:pPr>
            <a:r>
              <a:rPr lang="en-GB" sz="1600" dirty="0"/>
              <a:t>2nd (row 6) → ✅ </a:t>
            </a:r>
          </a:p>
          <a:p>
            <a:pPr>
              <a:buFont typeface="Arial" panose="020B0604020202020204" pitchFamily="34" charset="0"/>
              <a:buChar char="•"/>
            </a:pPr>
            <a:r>
              <a:rPr lang="en-GB" sz="1600" dirty="0"/>
              <a:t>3rd (rows 2, 3, 5) → ❌ ✅ ✅</a:t>
            </a:r>
          </a:p>
          <a:p>
            <a:endParaRPr lang="en-GB" sz="1600" b="1" dirty="0"/>
          </a:p>
          <a:p>
            <a:r>
              <a:rPr lang="en-GB" sz="1600" b="1" dirty="0"/>
              <a:t>Split by Sex</a:t>
            </a:r>
            <a:endParaRPr lang="en-GB" sz="1600" dirty="0"/>
          </a:p>
          <a:p>
            <a:r>
              <a:rPr lang="en-GB" sz="1600" dirty="0"/>
              <a:t>Female (rows 1, 3, 6) → ✅ ✅ ✅</a:t>
            </a:r>
          </a:p>
          <a:p>
            <a:r>
              <a:rPr lang="en-GB" sz="1600" dirty="0"/>
              <a:t>Male (rows 2, 4, 5) → ❌ ❌ ✅</a:t>
            </a:r>
            <a:endParaRPr lang="en-GB" sz="1600" b="1" dirty="0"/>
          </a:p>
          <a:p>
            <a:endParaRPr lang="en-GB" sz="1600" b="1" dirty="0"/>
          </a:p>
          <a:p>
            <a:r>
              <a:rPr lang="en-GB" sz="1600" b="1" dirty="0"/>
              <a:t>Split by Age</a:t>
            </a:r>
            <a:endParaRPr lang="en-GB" sz="1600" dirty="0"/>
          </a:p>
          <a:p>
            <a:pPr>
              <a:buFont typeface="Arial" panose="020B0604020202020204" pitchFamily="34" charset="0"/>
              <a:buChar char="•"/>
            </a:pPr>
            <a:r>
              <a:rPr lang="en-GB" sz="1600" dirty="0"/>
              <a:t>Adult (rows 1, 2, 4, 6) → ✅ ❌ ❌ ✅</a:t>
            </a:r>
          </a:p>
          <a:p>
            <a:pPr>
              <a:buFont typeface="Arial" panose="020B0604020202020204" pitchFamily="34" charset="0"/>
              <a:buChar char="•"/>
            </a:pPr>
            <a:r>
              <a:rPr lang="en-GB" sz="1600" dirty="0"/>
              <a:t>Child (rows 3, 5) → ✅ ✅</a:t>
            </a:r>
          </a:p>
        </p:txBody>
      </p:sp>
    </p:spTree>
    <p:extLst>
      <p:ext uri="{BB962C8B-B14F-4D97-AF65-F5344CB8AC3E}">
        <p14:creationId xmlns:p14="http://schemas.microsoft.com/office/powerpoint/2010/main" val="4031804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BE08E-CE95-0706-D1E8-E04DC9CA848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998D05B-A1D3-569B-9DAA-40345EDA1517}"/>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5F621AC1-EDFF-6A84-73AB-B27D887937B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CEA1BF7B-CD08-B8F9-04EC-6F6A4C8B6382}"/>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7B041F67-195D-5F90-4573-052D2787722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2A679845-BF28-3691-31F0-9A8C0C7F5D9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2" name="TextBox 11">
            <a:extLst>
              <a:ext uri="{FF2B5EF4-FFF2-40B4-BE49-F238E27FC236}">
                <a16:creationId xmlns:a16="http://schemas.microsoft.com/office/drawing/2014/main" id="{7FF94C9E-2457-66C4-5D33-B1928001F790}"/>
              </a:ext>
            </a:extLst>
          </p:cNvPr>
          <p:cNvSpPr txBox="1"/>
          <p:nvPr/>
        </p:nvSpPr>
        <p:spPr>
          <a:xfrm>
            <a:off x="279149" y="671444"/>
            <a:ext cx="9562012"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Decision</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tree - Example</a:t>
            </a:r>
          </a:p>
        </p:txBody>
      </p:sp>
      <p:graphicFrame>
        <p:nvGraphicFramePr>
          <p:cNvPr id="2" name="Table 1">
            <a:extLst>
              <a:ext uri="{FF2B5EF4-FFF2-40B4-BE49-F238E27FC236}">
                <a16:creationId xmlns:a16="http://schemas.microsoft.com/office/drawing/2014/main" id="{E9E9F6C4-025A-E5AA-F403-821632A9F250}"/>
              </a:ext>
            </a:extLst>
          </p:cNvPr>
          <p:cNvGraphicFramePr>
            <a:graphicFrameLocks noGrp="1"/>
          </p:cNvGraphicFramePr>
          <p:nvPr>
            <p:extLst>
              <p:ext uri="{D42A27DB-BD31-4B8C-83A1-F6EECF244321}">
                <p14:modId xmlns:p14="http://schemas.microsoft.com/office/powerpoint/2010/main" val="3683560787"/>
              </p:ext>
            </p:extLst>
          </p:nvPr>
        </p:nvGraphicFramePr>
        <p:xfrm>
          <a:off x="497340" y="1752951"/>
          <a:ext cx="4562815" cy="2545592"/>
        </p:xfrm>
        <a:graphic>
          <a:graphicData uri="http://schemas.openxmlformats.org/drawingml/2006/table">
            <a:tbl>
              <a:tblPr/>
              <a:tblGrid>
                <a:gridCol w="912563">
                  <a:extLst>
                    <a:ext uri="{9D8B030D-6E8A-4147-A177-3AD203B41FA5}">
                      <a16:colId xmlns:a16="http://schemas.microsoft.com/office/drawing/2014/main" val="1366875925"/>
                    </a:ext>
                  </a:extLst>
                </a:gridCol>
                <a:gridCol w="912563">
                  <a:extLst>
                    <a:ext uri="{9D8B030D-6E8A-4147-A177-3AD203B41FA5}">
                      <a16:colId xmlns:a16="http://schemas.microsoft.com/office/drawing/2014/main" val="2215596143"/>
                    </a:ext>
                  </a:extLst>
                </a:gridCol>
                <a:gridCol w="912563">
                  <a:extLst>
                    <a:ext uri="{9D8B030D-6E8A-4147-A177-3AD203B41FA5}">
                      <a16:colId xmlns:a16="http://schemas.microsoft.com/office/drawing/2014/main" val="3962370717"/>
                    </a:ext>
                  </a:extLst>
                </a:gridCol>
                <a:gridCol w="912563">
                  <a:extLst>
                    <a:ext uri="{9D8B030D-6E8A-4147-A177-3AD203B41FA5}">
                      <a16:colId xmlns:a16="http://schemas.microsoft.com/office/drawing/2014/main" val="2624882336"/>
                    </a:ext>
                  </a:extLst>
                </a:gridCol>
                <a:gridCol w="912563">
                  <a:extLst>
                    <a:ext uri="{9D8B030D-6E8A-4147-A177-3AD203B41FA5}">
                      <a16:colId xmlns:a16="http://schemas.microsoft.com/office/drawing/2014/main" val="602348345"/>
                    </a:ext>
                  </a:extLst>
                </a:gridCol>
              </a:tblGrid>
              <a:tr h="0">
                <a:tc>
                  <a:txBody>
                    <a:bodyPr/>
                    <a:lstStyle/>
                    <a:p>
                      <a:pPr>
                        <a:buNone/>
                      </a:pPr>
                      <a:r>
                        <a:rPr lang="en-GB"/>
                        <a:t>#</a:t>
                      </a:r>
                    </a:p>
                  </a:txBody>
                  <a:tcPr anchor="ctr">
                    <a:lnL>
                      <a:noFill/>
                    </a:lnL>
                    <a:lnR>
                      <a:noFill/>
                    </a:lnR>
                    <a:lnT>
                      <a:noFill/>
                    </a:lnT>
                    <a:lnB>
                      <a:noFill/>
                    </a:lnB>
                    <a:noFill/>
                  </a:tcPr>
                </a:tc>
                <a:tc>
                  <a:txBody>
                    <a:bodyPr/>
                    <a:lstStyle/>
                    <a:p>
                      <a:pPr>
                        <a:buNone/>
                      </a:pPr>
                      <a:r>
                        <a:rPr lang="en-GB"/>
                        <a:t>Sex</a:t>
                      </a:r>
                    </a:p>
                  </a:txBody>
                  <a:tcPr anchor="ctr">
                    <a:lnL>
                      <a:noFill/>
                    </a:lnL>
                    <a:lnR>
                      <a:noFill/>
                    </a:lnR>
                    <a:lnT>
                      <a:noFill/>
                    </a:lnT>
                    <a:lnB>
                      <a:noFill/>
                    </a:lnB>
                    <a:noFill/>
                  </a:tcPr>
                </a:tc>
                <a:tc>
                  <a:txBody>
                    <a:bodyPr/>
                    <a:lstStyle/>
                    <a:p>
                      <a:pPr>
                        <a:buNone/>
                      </a:pPr>
                      <a:r>
                        <a:rPr lang="en-GB"/>
                        <a:t>Class</a:t>
                      </a:r>
                    </a:p>
                  </a:txBody>
                  <a:tcPr anchor="ctr">
                    <a:lnL>
                      <a:noFill/>
                    </a:lnL>
                    <a:lnR>
                      <a:noFill/>
                    </a:lnR>
                    <a:lnT>
                      <a:noFill/>
                    </a:lnT>
                    <a:lnB>
                      <a:noFill/>
                    </a:lnB>
                    <a:noFill/>
                  </a:tcPr>
                </a:tc>
                <a:tc>
                  <a:txBody>
                    <a:bodyPr/>
                    <a:lstStyle/>
                    <a:p>
                      <a:pPr>
                        <a:buNone/>
                      </a:pPr>
                      <a:r>
                        <a:rPr lang="en-GB"/>
                        <a:t>Age</a:t>
                      </a:r>
                    </a:p>
                  </a:txBody>
                  <a:tcPr anchor="ctr">
                    <a:lnL>
                      <a:noFill/>
                    </a:lnL>
                    <a:lnR>
                      <a:noFill/>
                    </a:lnR>
                    <a:lnT>
                      <a:noFill/>
                    </a:lnT>
                    <a:lnB>
                      <a:noFill/>
                    </a:lnB>
                    <a:noFill/>
                  </a:tcPr>
                </a:tc>
                <a:tc>
                  <a:txBody>
                    <a:bodyPr/>
                    <a:lstStyle/>
                    <a:p>
                      <a:pPr>
                        <a:buNone/>
                      </a:pPr>
                      <a:r>
                        <a:rPr lang="en-GB" dirty="0"/>
                        <a:t>Survived</a:t>
                      </a:r>
                    </a:p>
                  </a:txBody>
                  <a:tcPr anchor="ctr">
                    <a:lnL>
                      <a:noFill/>
                    </a:lnL>
                    <a:lnR>
                      <a:noFill/>
                    </a:lnR>
                    <a:lnT>
                      <a:noFill/>
                    </a:lnT>
                    <a:lnB>
                      <a:noFill/>
                    </a:lnB>
                    <a:noFill/>
                  </a:tcPr>
                </a:tc>
                <a:extLst>
                  <a:ext uri="{0D108BD9-81ED-4DB2-BD59-A6C34878D82A}">
                    <a16:rowId xmlns:a16="http://schemas.microsoft.com/office/drawing/2014/main" val="2681260917"/>
                  </a:ext>
                </a:extLst>
              </a:tr>
              <a:tr h="0">
                <a:tc>
                  <a:txBody>
                    <a:bodyPr/>
                    <a:lstStyle/>
                    <a:p>
                      <a:pPr>
                        <a:buNone/>
                      </a:pPr>
                      <a:r>
                        <a:rPr lang="en-GB"/>
                        <a:t>1</a:t>
                      </a:r>
                    </a:p>
                  </a:txBody>
                  <a:tcPr anchor="ctr">
                    <a:lnL>
                      <a:noFill/>
                    </a:lnL>
                    <a:lnR>
                      <a:noFill/>
                    </a:lnR>
                    <a:lnT>
                      <a:noFill/>
                    </a:lnT>
                    <a:lnB>
                      <a:noFill/>
                    </a:lnB>
                    <a:noFill/>
                  </a:tcPr>
                </a:tc>
                <a:tc>
                  <a:txBody>
                    <a:bodyPr/>
                    <a:lstStyle/>
                    <a:p>
                      <a:pPr>
                        <a:buNone/>
                      </a:pPr>
                      <a:r>
                        <a:rPr lang="en-GB"/>
                        <a:t>Female</a:t>
                      </a:r>
                    </a:p>
                  </a:txBody>
                  <a:tcPr anchor="ctr">
                    <a:lnL>
                      <a:noFill/>
                    </a:lnL>
                    <a:lnR>
                      <a:noFill/>
                    </a:lnR>
                    <a:lnT>
                      <a:noFill/>
                    </a:lnT>
                    <a:lnB>
                      <a:noFill/>
                    </a:lnB>
                    <a:noFill/>
                  </a:tcPr>
                </a:tc>
                <a:tc>
                  <a:txBody>
                    <a:bodyPr/>
                    <a:lstStyle/>
                    <a:p>
                      <a:pPr>
                        <a:buNone/>
                      </a:pPr>
                      <a:r>
                        <a:rPr lang="en-GB"/>
                        <a:t>1st</a:t>
                      </a:r>
                    </a:p>
                  </a:txBody>
                  <a:tcPr anchor="ctr">
                    <a:lnL>
                      <a:noFill/>
                    </a:lnL>
                    <a:lnR>
                      <a:noFill/>
                    </a:lnR>
                    <a:lnT>
                      <a:noFill/>
                    </a:lnT>
                    <a:lnB>
                      <a:noFill/>
                    </a:lnB>
                    <a:noFill/>
                  </a:tcPr>
                </a:tc>
                <a:tc>
                  <a:txBody>
                    <a:bodyPr/>
                    <a:lstStyle/>
                    <a:p>
                      <a:pPr>
                        <a:buNone/>
                      </a:pPr>
                      <a:r>
                        <a:rPr lang="en-GB" dirty="0"/>
                        <a:t>Adult</a:t>
                      </a:r>
                    </a:p>
                  </a:txBody>
                  <a:tcPr anchor="ctr">
                    <a:lnL>
                      <a:noFill/>
                    </a:lnL>
                    <a:lnR>
                      <a:noFill/>
                    </a:lnR>
                    <a:lnT>
                      <a:noFill/>
                    </a:lnT>
                    <a:lnB>
                      <a:noFill/>
                    </a:lnB>
                    <a:noFill/>
                  </a:tcPr>
                </a:tc>
                <a:tc>
                  <a:txBody>
                    <a:bodyPr/>
                    <a:lstStyle/>
                    <a:p>
                      <a:pPr>
                        <a:buNone/>
                      </a:pPr>
                      <a:r>
                        <a:rPr lang="en-GB" dirty="0"/>
                        <a:t>✅ Yes</a:t>
                      </a:r>
                    </a:p>
                  </a:txBody>
                  <a:tcPr anchor="ctr">
                    <a:lnL>
                      <a:noFill/>
                    </a:lnL>
                    <a:lnR>
                      <a:noFill/>
                    </a:lnR>
                    <a:lnT>
                      <a:noFill/>
                    </a:lnT>
                    <a:lnB>
                      <a:noFill/>
                    </a:lnB>
                    <a:noFill/>
                  </a:tcPr>
                </a:tc>
                <a:extLst>
                  <a:ext uri="{0D108BD9-81ED-4DB2-BD59-A6C34878D82A}">
                    <a16:rowId xmlns:a16="http://schemas.microsoft.com/office/drawing/2014/main" val="999080819"/>
                  </a:ext>
                </a:extLst>
              </a:tr>
              <a:tr h="0">
                <a:tc>
                  <a:txBody>
                    <a:bodyPr/>
                    <a:lstStyle/>
                    <a:p>
                      <a:pPr>
                        <a:buNone/>
                      </a:pPr>
                      <a:r>
                        <a:rPr lang="en-GB"/>
                        <a:t>2</a:t>
                      </a:r>
                    </a:p>
                  </a:txBody>
                  <a:tcPr anchor="ctr">
                    <a:lnL>
                      <a:noFill/>
                    </a:lnL>
                    <a:lnR>
                      <a:noFill/>
                    </a:lnR>
                    <a:lnT>
                      <a:noFill/>
                    </a:lnT>
                    <a:lnB>
                      <a:noFill/>
                    </a:lnB>
                    <a:noFill/>
                  </a:tcPr>
                </a:tc>
                <a:tc>
                  <a:txBody>
                    <a:bodyPr/>
                    <a:lstStyle/>
                    <a:p>
                      <a:pPr>
                        <a:buNone/>
                      </a:pPr>
                      <a:r>
                        <a:rPr lang="en-GB"/>
                        <a:t>Male</a:t>
                      </a:r>
                    </a:p>
                  </a:txBody>
                  <a:tcPr anchor="ctr">
                    <a:lnL>
                      <a:noFill/>
                    </a:lnL>
                    <a:lnR>
                      <a:noFill/>
                    </a:lnR>
                    <a:lnT>
                      <a:noFill/>
                    </a:lnT>
                    <a:lnB>
                      <a:noFill/>
                    </a:lnB>
                    <a:noFill/>
                  </a:tcPr>
                </a:tc>
                <a:tc>
                  <a:txBody>
                    <a:bodyPr/>
                    <a:lstStyle/>
                    <a:p>
                      <a:pPr>
                        <a:buNone/>
                      </a:pPr>
                      <a:r>
                        <a:rPr lang="en-GB"/>
                        <a:t>3rd</a:t>
                      </a:r>
                    </a:p>
                  </a:txBody>
                  <a:tcPr anchor="ctr">
                    <a:lnL>
                      <a:noFill/>
                    </a:lnL>
                    <a:lnR>
                      <a:noFill/>
                    </a:lnR>
                    <a:lnT>
                      <a:noFill/>
                    </a:lnT>
                    <a:lnB>
                      <a:noFill/>
                    </a:lnB>
                    <a:noFill/>
                  </a:tcPr>
                </a:tc>
                <a:tc>
                  <a:txBody>
                    <a:bodyPr/>
                    <a:lstStyle/>
                    <a:p>
                      <a:pPr>
                        <a:buNone/>
                      </a:pPr>
                      <a:r>
                        <a:rPr lang="en-GB" dirty="0"/>
                        <a:t>Adult</a:t>
                      </a:r>
                    </a:p>
                  </a:txBody>
                  <a:tcPr anchor="ctr">
                    <a:lnL>
                      <a:noFill/>
                    </a:lnL>
                    <a:lnR>
                      <a:noFill/>
                    </a:lnR>
                    <a:lnT>
                      <a:noFill/>
                    </a:lnT>
                    <a:lnB>
                      <a:noFill/>
                    </a:lnB>
                    <a:noFill/>
                  </a:tcPr>
                </a:tc>
                <a:tc>
                  <a:txBody>
                    <a:bodyPr/>
                    <a:lstStyle/>
                    <a:p>
                      <a:pPr>
                        <a:buNone/>
                      </a:pPr>
                      <a:r>
                        <a:rPr lang="en-GB" dirty="0"/>
                        <a:t>❌ No</a:t>
                      </a:r>
                    </a:p>
                  </a:txBody>
                  <a:tcPr anchor="ctr">
                    <a:lnL>
                      <a:noFill/>
                    </a:lnL>
                    <a:lnR>
                      <a:noFill/>
                    </a:lnR>
                    <a:lnT>
                      <a:noFill/>
                    </a:lnT>
                    <a:lnB>
                      <a:noFill/>
                    </a:lnB>
                    <a:noFill/>
                  </a:tcPr>
                </a:tc>
                <a:extLst>
                  <a:ext uri="{0D108BD9-81ED-4DB2-BD59-A6C34878D82A}">
                    <a16:rowId xmlns:a16="http://schemas.microsoft.com/office/drawing/2014/main" val="1206723066"/>
                  </a:ext>
                </a:extLst>
              </a:tr>
              <a:tr h="0">
                <a:tc>
                  <a:txBody>
                    <a:bodyPr/>
                    <a:lstStyle/>
                    <a:p>
                      <a:pPr>
                        <a:buNone/>
                      </a:pPr>
                      <a:r>
                        <a:rPr lang="en-GB"/>
                        <a:t>3</a:t>
                      </a:r>
                    </a:p>
                  </a:txBody>
                  <a:tcPr anchor="ctr">
                    <a:lnL>
                      <a:noFill/>
                    </a:lnL>
                    <a:lnR>
                      <a:noFill/>
                    </a:lnR>
                    <a:lnT>
                      <a:noFill/>
                    </a:lnT>
                    <a:lnB>
                      <a:noFill/>
                    </a:lnB>
                    <a:noFill/>
                  </a:tcPr>
                </a:tc>
                <a:tc>
                  <a:txBody>
                    <a:bodyPr/>
                    <a:lstStyle/>
                    <a:p>
                      <a:pPr>
                        <a:buNone/>
                      </a:pPr>
                      <a:r>
                        <a:rPr lang="en-GB"/>
                        <a:t>Female</a:t>
                      </a:r>
                    </a:p>
                  </a:txBody>
                  <a:tcPr anchor="ctr">
                    <a:lnL>
                      <a:noFill/>
                    </a:lnL>
                    <a:lnR>
                      <a:noFill/>
                    </a:lnR>
                    <a:lnT>
                      <a:noFill/>
                    </a:lnT>
                    <a:lnB>
                      <a:noFill/>
                    </a:lnB>
                    <a:noFill/>
                  </a:tcPr>
                </a:tc>
                <a:tc>
                  <a:txBody>
                    <a:bodyPr/>
                    <a:lstStyle/>
                    <a:p>
                      <a:pPr>
                        <a:buNone/>
                      </a:pPr>
                      <a:r>
                        <a:rPr lang="en-GB"/>
                        <a:t>3rd</a:t>
                      </a:r>
                    </a:p>
                  </a:txBody>
                  <a:tcPr anchor="ctr">
                    <a:lnL>
                      <a:noFill/>
                    </a:lnL>
                    <a:lnR>
                      <a:noFill/>
                    </a:lnR>
                    <a:lnT>
                      <a:noFill/>
                    </a:lnT>
                    <a:lnB>
                      <a:noFill/>
                    </a:lnB>
                    <a:noFill/>
                  </a:tcPr>
                </a:tc>
                <a:tc>
                  <a:txBody>
                    <a:bodyPr/>
                    <a:lstStyle/>
                    <a:p>
                      <a:pPr>
                        <a:buNone/>
                      </a:pPr>
                      <a:r>
                        <a:rPr lang="en-GB"/>
                        <a:t>Child</a:t>
                      </a:r>
                    </a:p>
                  </a:txBody>
                  <a:tcPr anchor="ctr">
                    <a:lnL>
                      <a:noFill/>
                    </a:lnL>
                    <a:lnR>
                      <a:noFill/>
                    </a:lnR>
                    <a:lnT>
                      <a:noFill/>
                    </a:lnT>
                    <a:lnB>
                      <a:noFill/>
                    </a:lnB>
                    <a:noFill/>
                  </a:tcPr>
                </a:tc>
                <a:tc>
                  <a:txBody>
                    <a:bodyPr/>
                    <a:lstStyle/>
                    <a:p>
                      <a:pPr>
                        <a:buNone/>
                      </a:pPr>
                      <a:r>
                        <a:rPr lang="en-GB"/>
                        <a:t>✅ Yes</a:t>
                      </a:r>
                    </a:p>
                  </a:txBody>
                  <a:tcPr anchor="ctr">
                    <a:lnL>
                      <a:noFill/>
                    </a:lnL>
                    <a:lnR>
                      <a:noFill/>
                    </a:lnR>
                    <a:lnT>
                      <a:noFill/>
                    </a:lnT>
                    <a:lnB>
                      <a:noFill/>
                    </a:lnB>
                    <a:noFill/>
                  </a:tcPr>
                </a:tc>
                <a:extLst>
                  <a:ext uri="{0D108BD9-81ED-4DB2-BD59-A6C34878D82A}">
                    <a16:rowId xmlns:a16="http://schemas.microsoft.com/office/drawing/2014/main" val="1859888624"/>
                  </a:ext>
                </a:extLst>
              </a:tr>
              <a:tr h="0">
                <a:tc>
                  <a:txBody>
                    <a:bodyPr/>
                    <a:lstStyle/>
                    <a:p>
                      <a:pPr>
                        <a:buNone/>
                      </a:pPr>
                      <a:r>
                        <a:rPr lang="en-GB"/>
                        <a:t>4</a:t>
                      </a:r>
                    </a:p>
                  </a:txBody>
                  <a:tcPr anchor="ctr">
                    <a:lnL>
                      <a:noFill/>
                    </a:lnL>
                    <a:lnR>
                      <a:noFill/>
                    </a:lnR>
                    <a:lnT>
                      <a:noFill/>
                    </a:lnT>
                    <a:lnB>
                      <a:noFill/>
                    </a:lnB>
                    <a:noFill/>
                  </a:tcPr>
                </a:tc>
                <a:tc>
                  <a:txBody>
                    <a:bodyPr/>
                    <a:lstStyle/>
                    <a:p>
                      <a:pPr>
                        <a:buNone/>
                      </a:pPr>
                      <a:r>
                        <a:rPr lang="en-GB"/>
                        <a:t>Male</a:t>
                      </a:r>
                    </a:p>
                  </a:txBody>
                  <a:tcPr anchor="ctr">
                    <a:lnL>
                      <a:noFill/>
                    </a:lnL>
                    <a:lnR>
                      <a:noFill/>
                    </a:lnR>
                    <a:lnT>
                      <a:noFill/>
                    </a:lnT>
                    <a:lnB>
                      <a:noFill/>
                    </a:lnB>
                    <a:noFill/>
                  </a:tcPr>
                </a:tc>
                <a:tc>
                  <a:txBody>
                    <a:bodyPr/>
                    <a:lstStyle/>
                    <a:p>
                      <a:pPr>
                        <a:buNone/>
                      </a:pPr>
                      <a:r>
                        <a:rPr lang="en-GB"/>
                        <a:t>1st</a:t>
                      </a:r>
                    </a:p>
                  </a:txBody>
                  <a:tcPr anchor="ctr">
                    <a:lnL>
                      <a:noFill/>
                    </a:lnL>
                    <a:lnR>
                      <a:noFill/>
                    </a:lnR>
                    <a:lnT>
                      <a:noFill/>
                    </a:lnT>
                    <a:lnB>
                      <a:noFill/>
                    </a:lnB>
                    <a:noFill/>
                  </a:tcPr>
                </a:tc>
                <a:tc>
                  <a:txBody>
                    <a:bodyPr/>
                    <a:lstStyle/>
                    <a:p>
                      <a:pPr>
                        <a:buNone/>
                      </a:pPr>
                      <a:r>
                        <a:rPr lang="en-GB"/>
                        <a:t>Adult</a:t>
                      </a:r>
                    </a:p>
                  </a:txBody>
                  <a:tcPr anchor="ctr">
                    <a:lnL>
                      <a:noFill/>
                    </a:lnL>
                    <a:lnR>
                      <a:noFill/>
                    </a:lnR>
                    <a:lnT>
                      <a:noFill/>
                    </a:lnT>
                    <a:lnB>
                      <a:noFill/>
                    </a:lnB>
                    <a:noFill/>
                  </a:tcPr>
                </a:tc>
                <a:tc>
                  <a:txBody>
                    <a:bodyPr/>
                    <a:lstStyle/>
                    <a:p>
                      <a:pPr>
                        <a:buNone/>
                      </a:pPr>
                      <a:r>
                        <a:rPr lang="en-GB" dirty="0"/>
                        <a:t>❌ No</a:t>
                      </a:r>
                    </a:p>
                  </a:txBody>
                  <a:tcPr anchor="ctr">
                    <a:lnL>
                      <a:noFill/>
                    </a:lnL>
                    <a:lnR>
                      <a:noFill/>
                    </a:lnR>
                    <a:lnT>
                      <a:noFill/>
                    </a:lnT>
                    <a:lnB>
                      <a:noFill/>
                    </a:lnB>
                    <a:noFill/>
                  </a:tcPr>
                </a:tc>
                <a:extLst>
                  <a:ext uri="{0D108BD9-81ED-4DB2-BD59-A6C34878D82A}">
                    <a16:rowId xmlns:a16="http://schemas.microsoft.com/office/drawing/2014/main" val="1840562413"/>
                  </a:ext>
                </a:extLst>
              </a:tr>
              <a:tr h="0">
                <a:tc>
                  <a:txBody>
                    <a:bodyPr/>
                    <a:lstStyle/>
                    <a:p>
                      <a:pPr>
                        <a:buNone/>
                      </a:pPr>
                      <a:r>
                        <a:rPr lang="en-GB"/>
                        <a:t>5</a:t>
                      </a:r>
                    </a:p>
                  </a:txBody>
                  <a:tcPr anchor="ctr">
                    <a:lnL>
                      <a:noFill/>
                    </a:lnL>
                    <a:lnR>
                      <a:noFill/>
                    </a:lnR>
                    <a:lnT>
                      <a:noFill/>
                    </a:lnT>
                    <a:lnB>
                      <a:noFill/>
                    </a:lnB>
                    <a:noFill/>
                  </a:tcPr>
                </a:tc>
                <a:tc>
                  <a:txBody>
                    <a:bodyPr/>
                    <a:lstStyle/>
                    <a:p>
                      <a:pPr>
                        <a:buNone/>
                      </a:pPr>
                      <a:r>
                        <a:rPr lang="en-GB"/>
                        <a:t>Male</a:t>
                      </a:r>
                    </a:p>
                  </a:txBody>
                  <a:tcPr anchor="ctr">
                    <a:lnL>
                      <a:noFill/>
                    </a:lnL>
                    <a:lnR>
                      <a:noFill/>
                    </a:lnR>
                    <a:lnT>
                      <a:noFill/>
                    </a:lnT>
                    <a:lnB>
                      <a:noFill/>
                    </a:lnB>
                    <a:noFill/>
                  </a:tcPr>
                </a:tc>
                <a:tc>
                  <a:txBody>
                    <a:bodyPr/>
                    <a:lstStyle/>
                    <a:p>
                      <a:pPr>
                        <a:buNone/>
                      </a:pPr>
                      <a:r>
                        <a:rPr lang="en-GB"/>
                        <a:t>3rd</a:t>
                      </a:r>
                    </a:p>
                  </a:txBody>
                  <a:tcPr anchor="ctr">
                    <a:lnL>
                      <a:noFill/>
                    </a:lnL>
                    <a:lnR>
                      <a:noFill/>
                    </a:lnR>
                    <a:lnT>
                      <a:noFill/>
                    </a:lnT>
                    <a:lnB>
                      <a:noFill/>
                    </a:lnB>
                    <a:noFill/>
                  </a:tcPr>
                </a:tc>
                <a:tc>
                  <a:txBody>
                    <a:bodyPr/>
                    <a:lstStyle/>
                    <a:p>
                      <a:pPr>
                        <a:buNone/>
                      </a:pPr>
                      <a:r>
                        <a:rPr lang="en-GB"/>
                        <a:t>Child</a:t>
                      </a:r>
                    </a:p>
                  </a:txBody>
                  <a:tcPr anchor="ctr">
                    <a:lnL>
                      <a:noFill/>
                    </a:lnL>
                    <a:lnR>
                      <a:noFill/>
                    </a:lnR>
                    <a:lnT>
                      <a:noFill/>
                    </a:lnT>
                    <a:lnB>
                      <a:noFill/>
                    </a:lnB>
                    <a:noFill/>
                  </a:tcPr>
                </a:tc>
                <a:tc>
                  <a:txBody>
                    <a:bodyPr/>
                    <a:lstStyle/>
                    <a:p>
                      <a:pPr>
                        <a:buNone/>
                      </a:pPr>
                      <a:r>
                        <a:rPr lang="en-GB"/>
                        <a:t>✅ Yes</a:t>
                      </a:r>
                    </a:p>
                  </a:txBody>
                  <a:tcPr anchor="ctr">
                    <a:lnL>
                      <a:noFill/>
                    </a:lnL>
                    <a:lnR>
                      <a:noFill/>
                    </a:lnR>
                    <a:lnT>
                      <a:noFill/>
                    </a:lnT>
                    <a:lnB>
                      <a:noFill/>
                    </a:lnB>
                    <a:noFill/>
                  </a:tcPr>
                </a:tc>
                <a:extLst>
                  <a:ext uri="{0D108BD9-81ED-4DB2-BD59-A6C34878D82A}">
                    <a16:rowId xmlns:a16="http://schemas.microsoft.com/office/drawing/2014/main" val="574109786"/>
                  </a:ext>
                </a:extLst>
              </a:tr>
              <a:tr h="0">
                <a:tc>
                  <a:txBody>
                    <a:bodyPr/>
                    <a:lstStyle/>
                    <a:p>
                      <a:pPr>
                        <a:buNone/>
                      </a:pPr>
                      <a:r>
                        <a:rPr lang="en-GB"/>
                        <a:t>6</a:t>
                      </a:r>
                    </a:p>
                  </a:txBody>
                  <a:tcPr anchor="ctr">
                    <a:lnL>
                      <a:noFill/>
                    </a:lnL>
                    <a:lnR>
                      <a:noFill/>
                    </a:lnR>
                    <a:lnT>
                      <a:noFill/>
                    </a:lnT>
                    <a:lnB>
                      <a:noFill/>
                    </a:lnB>
                    <a:noFill/>
                  </a:tcPr>
                </a:tc>
                <a:tc>
                  <a:txBody>
                    <a:bodyPr/>
                    <a:lstStyle/>
                    <a:p>
                      <a:pPr>
                        <a:buNone/>
                      </a:pPr>
                      <a:r>
                        <a:rPr lang="en-GB"/>
                        <a:t>Female</a:t>
                      </a:r>
                    </a:p>
                  </a:txBody>
                  <a:tcPr anchor="ctr">
                    <a:lnL>
                      <a:noFill/>
                    </a:lnL>
                    <a:lnR>
                      <a:noFill/>
                    </a:lnR>
                    <a:lnT>
                      <a:noFill/>
                    </a:lnT>
                    <a:lnB>
                      <a:noFill/>
                    </a:lnB>
                    <a:noFill/>
                  </a:tcPr>
                </a:tc>
                <a:tc>
                  <a:txBody>
                    <a:bodyPr/>
                    <a:lstStyle/>
                    <a:p>
                      <a:pPr>
                        <a:buNone/>
                      </a:pPr>
                      <a:r>
                        <a:rPr lang="en-GB" dirty="0"/>
                        <a:t>2nd</a:t>
                      </a:r>
                    </a:p>
                  </a:txBody>
                  <a:tcPr anchor="ctr">
                    <a:lnL>
                      <a:noFill/>
                    </a:lnL>
                    <a:lnR>
                      <a:noFill/>
                    </a:lnR>
                    <a:lnT>
                      <a:noFill/>
                    </a:lnT>
                    <a:lnB>
                      <a:noFill/>
                    </a:lnB>
                    <a:noFill/>
                  </a:tcPr>
                </a:tc>
                <a:tc>
                  <a:txBody>
                    <a:bodyPr/>
                    <a:lstStyle/>
                    <a:p>
                      <a:pPr>
                        <a:buNone/>
                      </a:pPr>
                      <a:r>
                        <a:rPr lang="en-GB"/>
                        <a:t>Adult</a:t>
                      </a:r>
                    </a:p>
                  </a:txBody>
                  <a:tcPr anchor="ctr">
                    <a:lnL>
                      <a:noFill/>
                    </a:lnL>
                    <a:lnR>
                      <a:noFill/>
                    </a:lnR>
                    <a:lnT>
                      <a:noFill/>
                    </a:lnT>
                    <a:lnB>
                      <a:noFill/>
                    </a:lnB>
                    <a:noFill/>
                  </a:tcPr>
                </a:tc>
                <a:tc>
                  <a:txBody>
                    <a:bodyPr/>
                    <a:lstStyle/>
                    <a:p>
                      <a:pPr>
                        <a:buNone/>
                      </a:pPr>
                      <a:r>
                        <a:rPr lang="en-GB" dirty="0"/>
                        <a:t>✅ Yes</a:t>
                      </a:r>
                    </a:p>
                  </a:txBody>
                  <a:tcPr anchor="ctr">
                    <a:lnL>
                      <a:noFill/>
                    </a:lnL>
                    <a:lnR>
                      <a:noFill/>
                    </a:lnR>
                    <a:lnT>
                      <a:noFill/>
                    </a:lnT>
                    <a:lnB>
                      <a:noFill/>
                    </a:lnB>
                    <a:noFill/>
                  </a:tcPr>
                </a:tc>
                <a:extLst>
                  <a:ext uri="{0D108BD9-81ED-4DB2-BD59-A6C34878D82A}">
                    <a16:rowId xmlns:a16="http://schemas.microsoft.com/office/drawing/2014/main" val="369196853"/>
                  </a:ext>
                </a:extLst>
              </a:tr>
              <a:tr h="0">
                <a:tc>
                  <a:txBody>
                    <a:bodyPr/>
                    <a:lstStyle/>
                    <a:p>
                      <a:pPr>
                        <a:buNone/>
                      </a:pPr>
                      <a:r>
                        <a:rPr lang="en-GB" dirty="0">
                          <a:solidFill>
                            <a:srgbClr val="FE0E67"/>
                          </a:solidFill>
                        </a:rPr>
                        <a:t>7</a:t>
                      </a:r>
                    </a:p>
                  </a:txBody>
                  <a:tcPr anchor="ctr">
                    <a:lnL>
                      <a:noFill/>
                    </a:lnL>
                    <a:lnR>
                      <a:noFill/>
                    </a:lnR>
                    <a:lnT>
                      <a:noFill/>
                    </a:lnT>
                    <a:lnB>
                      <a:noFill/>
                    </a:lnB>
                    <a:noFill/>
                  </a:tcPr>
                </a:tc>
                <a:tc>
                  <a:txBody>
                    <a:bodyPr/>
                    <a:lstStyle/>
                    <a:p>
                      <a:pPr>
                        <a:buNone/>
                      </a:pPr>
                      <a:r>
                        <a:rPr lang="en-GB" dirty="0">
                          <a:solidFill>
                            <a:srgbClr val="FE0E67"/>
                          </a:solidFill>
                        </a:rPr>
                        <a:t>Male</a:t>
                      </a:r>
                    </a:p>
                  </a:txBody>
                  <a:tcPr anchor="ctr">
                    <a:lnL>
                      <a:noFill/>
                    </a:lnL>
                    <a:lnR>
                      <a:noFill/>
                    </a:lnR>
                    <a:lnT>
                      <a:noFill/>
                    </a:lnT>
                    <a:lnB>
                      <a:noFill/>
                    </a:lnB>
                    <a:noFill/>
                  </a:tcPr>
                </a:tc>
                <a:tc>
                  <a:txBody>
                    <a:bodyPr/>
                    <a:lstStyle/>
                    <a:p>
                      <a:pPr>
                        <a:buNone/>
                      </a:pPr>
                      <a:r>
                        <a:rPr lang="en-GB" dirty="0">
                          <a:solidFill>
                            <a:srgbClr val="FE0E67"/>
                          </a:solidFill>
                        </a:rPr>
                        <a:t>1st</a:t>
                      </a:r>
                    </a:p>
                  </a:txBody>
                  <a:tcPr anchor="ctr">
                    <a:lnL>
                      <a:noFill/>
                    </a:lnL>
                    <a:lnR>
                      <a:noFill/>
                    </a:lnR>
                    <a:lnT>
                      <a:noFill/>
                    </a:lnT>
                    <a:lnB>
                      <a:noFill/>
                    </a:lnB>
                    <a:noFill/>
                  </a:tcPr>
                </a:tc>
                <a:tc>
                  <a:txBody>
                    <a:bodyPr/>
                    <a:lstStyle/>
                    <a:p>
                      <a:pPr>
                        <a:buNone/>
                      </a:pPr>
                      <a:r>
                        <a:rPr lang="en-GB" dirty="0">
                          <a:solidFill>
                            <a:srgbClr val="FE0E67"/>
                          </a:solidFill>
                        </a:rPr>
                        <a:t>Child</a:t>
                      </a:r>
                    </a:p>
                  </a:txBody>
                  <a:tcPr anchor="ctr">
                    <a:lnL>
                      <a:noFill/>
                    </a:lnL>
                    <a:lnR>
                      <a:noFill/>
                    </a:lnR>
                    <a:lnT>
                      <a:noFill/>
                    </a:lnT>
                    <a:lnB>
                      <a:noFill/>
                    </a:lnB>
                    <a:noFill/>
                  </a:tcPr>
                </a:tc>
                <a:tc>
                  <a:txBody>
                    <a:bodyPr/>
                    <a:lstStyle/>
                    <a:p>
                      <a:pPr>
                        <a:buNone/>
                      </a:pPr>
                      <a:r>
                        <a:rPr lang="en-GB" dirty="0">
                          <a:solidFill>
                            <a:srgbClr val="FE0E67"/>
                          </a:solidFill>
                        </a:rPr>
                        <a:t>??</a:t>
                      </a:r>
                    </a:p>
                  </a:txBody>
                  <a:tcPr anchor="ctr">
                    <a:lnL>
                      <a:noFill/>
                    </a:lnL>
                    <a:lnR>
                      <a:noFill/>
                    </a:lnR>
                    <a:lnT>
                      <a:noFill/>
                    </a:lnT>
                    <a:lnB>
                      <a:noFill/>
                    </a:lnB>
                    <a:noFill/>
                  </a:tcPr>
                </a:tc>
                <a:extLst>
                  <a:ext uri="{0D108BD9-81ED-4DB2-BD59-A6C34878D82A}">
                    <a16:rowId xmlns:a16="http://schemas.microsoft.com/office/drawing/2014/main" val="1872245656"/>
                  </a:ext>
                </a:extLst>
              </a:tr>
            </a:tbl>
          </a:graphicData>
        </a:graphic>
      </p:graphicFrame>
      <p:sp>
        <p:nvSpPr>
          <p:cNvPr id="11" name="Rounded Rectangle 10">
            <a:extLst>
              <a:ext uri="{FF2B5EF4-FFF2-40B4-BE49-F238E27FC236}">
                <a16:creationId xmlns:a16="http://schemas.microsoft.com/office/drawing/2014/main" id="{56C3F929-8B66-A636-0FED-68AC447E9604}"/>
              </a:ext>
            </a:extLst>
          </p:cNvPr>
          <p:cNvSpPr/>
          <p:nvPr/>
        </p:nvSpPr>
        <p:spPr>
          <a:xfrm>
            <a:off x="6426925" y="1602856"/>
            <a:ext cx="1463041" cy="63034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Female?</a:t>
            </a:r>
          </a:p>
        </p:txBody>
      </p:sp>
      <p:sp>
        <p:nvSpPr>
          <p:cNvPr id="13" name="Rounded Rectangle 12">
            <a:extLst>
              <a:ext uri="{FF2B5EF4-FFF2-40B4-BE49-F238E27FC236}">
                <a16:creationId xmlns:a16="http://schemas.microsoft.com/office/drawing/2014/main" id="{3FBB869A-0CF0-2DB6-B7F5-643640164BF8}"/>
              </a:ext>
            </a:extLst>
          </p:cNvPr>
          <p:cNvSpPr/>
          <p:nvPr/>
        </p:nvSpPr>
        <p:spPr>
          <a:xfrm>
            <a:off x="5511322" y="2547062"/>
            <a:ext cx="1463041" cy="630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GB" dirty="0"/>
              <a:t>✅ Survived</a:t>
            </a:r>
          </a:p>
        </p:txBody>
      </p:sp>
      <p:sp>
        <p:nvSpPr>
          <p:cNvPr id="14" name="Rounded Rectangle 13">
            <a:extLst>
              <a:ext uri="{FF2B5EF4-FFF2-40B4-BE49-F238E27FC236}">
                <a16:creationId xmlns:a16="http://schemas.microsoft.com/office/drawing/2014/main" id="{ABDFD34D-F070-9159-E709-EB2FC6BDA86D}"/>
              </a:ext>
            </a:extLst>
          </p:cNvPr>
          <p:cNvSpPr/>
          <p:nvPr/>
        </p:nvSpPr>
        <p:spPr>
          <a:xfrm>
            <a:off x="7222081" y="2538353"/>
            <a:ext cx="1463041" cy="63034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Child?</a:t>
            </a:r>
          </a:p>
        </p:txBody>
      </p:sp>
      <p:sp>
        <p:nvSpPr>
          <p:cNvPr id="18" name="Rounded Rectangle 17">
            <a:extLst>
              <a:ext uri="{FF2B5EF4-FFF2-40B4-BE49-F238E27FC236}">
                <a16:creationId xmlns:a16="http://schemas.microsoft.com/office/drawing/2014/main" id="{3185F8B9-90F0-7998-3AB4-C11B2DB7C813}"/>
              </a:ext>
            </a:extLst>
          </p:cNvPr>
          <p:cNvSpPr/>
          <p:nvPr/>
        </p:nvSpPr>
        <p:spPr>
          <a:xfrm>
            <a:off x="8081555" y="3584734"/>
            <a:ext cx="1463041" cy="630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GB" dirty="0"/>
              <a:t>✅ Survived</a:t>
            </a:r>
          </a:p>
        </p:txBody>
      </p:sp>
      <p:sp>
        <p:nvSpPr>
          <p:cNvPr id="19" name="Rounded Rectangle 18">
            <a:extLst>
              <a:ext uri="{FF2B5EF4-FFF2-40B4-BE49-F238E27FC236}">
                <a16:creationId xmlns:a16="http://schemas.microsoft.com/office/drawing/2014/main" id="{D87E8F44-FEFD-56D6-D775-831769A79D2F}"/>
              </a:ext>
            </a:extLst>
          </p:cNvPr>
          <p:cNvSpPr/>
          <p:nvPr/>
        </p:nvSpPr>
        <p:spPr>
          <a:xfrm>
            <a:off x="6426925" y="3570045"/>
            <a:ext cx="1463041" cy="630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GB" dirty="0"/>
              <a:t>❌ Didn’t survive</a:t>
            </a:r>
          </a:p>
        </p:txBody>
      </p:sp>
      <p:sp>
        <p:nvSpPr>
          <p:cNvPr id="22" name="Down Arrow 21">
            <a:extLst>
              <a:ext uri="{FF2B5EF4-FFF2-40B4-BE49-F238E27FC236}">
                <a16:creationId xmlns:a16="http://schemas.microsoft.com/office/drawing/2014/main" id="{4CA6A149-99B7-578D-55F6-9A3845DFA7BB}"/>
              </a:ext>
            </a:extLst>
          </p:cNvPr>
          <p:cNvSpPr/>
          <p:nvPr/>
        </p:nvSpPr>
        <p:spPr>
          <a:xfrm rot="2843364">
            <a:off x="6678271" y="2233196"/>
            <a:ext cx="96998" cy="3051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Down Arrow 22">
            <a:extLst>
              <a:ext uri="{FF2B5EF4-FFF2-40B4-BE49-F238E27FC236}">
                <a16:creationId xmlns:a16="http://schemas.microsoft.com/office/drawing/2014/main" id="{1E897DEE-460D-49DD-9A58-D790F987AF95}"/>
              </a:ext>
            </a:extLst>
          </p:cNvPr>
          <p:cNvSpPr/>
          <p:nvPr/>
        </p:nvSpPr>
        <p:spPr>
          <a:xfrm rot="18495332">
            <a:off x="7440274" y="2237546"/>
            <a:ext cx="96998" cy="3051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Down Arrow 23">
            <a:extLst>
              <a:ext uri="{FF2B5EF4-FFF2-40B4-BE49-F238E27FC236}">
                <a16:creationId xmlns:a16="http://schemas.microsoft.com/office/drawing/2014/main" id="{B792DB81-C2AC-9A36-AA4E-2196D7010D9C}"/>
              </a:ext>
            </a:extLst>
          </p:cNvPr>
          <p:cNvSpPr/>
          <p:nvPr/>
        </p:nvSpPr>
        <p:spPr>
          <a:xfrm rot="2843364">
            <a:off x="7597027" y="3239039"/>
            <a:ext cx="96998" cy="3051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Down Arrow 24">
            <a:extLst>
              <a:ext uri="{FF2B5EF4-FFF2-40B4-BE49-F238E27FC236}">
                <a16:creationId xmlns:a16="http://schemas.microsoft.com/office/drawing/2014/main" id="{1480B95F-85B3-49A8-6715-2018EAF86E74}"/>
              </a:ext>
            </a:extLst>
          </p:cNvPr>
          <p:cNvSpPr/>
          <p:nvPr/>
        </p:nvSpPr>
        <p:spPr>
          <a:xfrm rot="18495332">
            <a:off x="8359030" y="3243389"/>
            <a:ext cx="96998" cy="30515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632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784149" y="2088747"/>
            <a:ext cx="0" cy="2597755"/>
          </a:xfrm>
          <a:custGeom>
            <a:avLst/>
            <a:gdLst/>
            <a:ahLst/>
            <a:cxnLst/>
            <a:rect l="l" t="t" r="r" b="b"/>
            <a:pathLst>
              <a:path h="5180965">
                <a:moveTo>
                  <a:pt x="0" y="5180663"/>
                </a:moveTo>
                <a:lnTo>
                  <a:pt x="0" y="0"/>
                </a:lnTo>
              </a:path>
            </a:pathLst>
          </a:custGeom>
          <a:ln w="104708">
            <a:solidFill>
              <a:srgbClr val="041D40"/>
            </a:solidFill>
          </a:ln>
        </p:spPr>
        <p:txBody>
          <a:bodyPr wrap="square" lIns="0" tIns="0" rIns="0" bIns="0" rtlCol="0"/>
          <a:lstStyle/>
          <a:p>
            <a:endParaRPr sz="903"/>
          </a:p>
        </p:txBody>
      </p:sp>
      <p:sp>
        <p:nvSpPr>
          <p:cNvPr id="6" name="object 6"/>
          <p:cNvSpPr txBox="1"/>
          <p:nvPr/>
        </p:nvSpPr>
        <p:spPr>
          <a:xfrm>
            <a:off x="564776" y="2991136"/>
            <a:ext cx="3979882" cy="376083"/>
          </a:xfrm>
          <a:prstGeom prst="rect">
            <a:avLst/>
          </a:prstGeom>
        </p:spPr>
        <p:txBody>
          <a:bodyPr vert="horz" wrap="square" lIns="0" tIns="6686" rIns="0" bIns="0" rtlCol="0">
            <a:spAutoFit/>
          </a:bodyPr>
          <a:lstStyle/>
          <a:p>
            <a:pPr marL="6368">
              <a:spcBef>
                <a:spcPts val="53"/>
              </a:spcBef>
            </a:pPr>
            <a:r>
              <a:rPr sz="2400" dirty="0">
                <a:latin typeface="Arial MT"/>
                <a:cs typeface="Arial MT"/>
              </a:rPr>
              <a:t>Can</a:t>
            </a:r>
            <a:r>
              <a:rPr sz="2400" spc="28" dirty="0">
                <a:latin typeface="Arial MT"/>
                <a:cs typeface="Arial MT"/>
              </a:rPr>
              <a:t> </a:t>
            </a:r>
            <a:r>
              <a:rPr sz="2400" dirty="0">
                <a:latin typeface="Arial MT"/>
                <a:cs typeface="Arial MT"/>
              </a:rPr>
              <a:t>handle</a:t>
            </a:r>
            <a:r>
              <a:rPr sz="2400" spc="28" dirty="0">
                <a:latin typeface="Arial MT"/>
                <a:cs typeface="Arial MT"/>
              </a:rPr>
              <a:t> </a:t>
            </a:r>
            <a:r>
              <a:rPr sz="2400" dirty="0">
                <a:latin typeface="Arial MT"/>
                <a:cs typeface="Arial MT"/>
              </a:rPr>
              <a:t>mixed</a:t>
            </a:r>
            <a:r>
              <a:rPr sz="2400" spc="25" dirty="0">
                <a:latin typeface="Arial MT"/>
                <a:cs typeface="Arial MT"/>
              </a:rPr>
              <a:t> </a:t>
            </a:r>
            <a:r>
              <a:rPr sz="2400" dirty="0">
                <a:latin typeface="Arial MT"/>
                <a:cs typeface="Arial MT"/>
              </a:rPr>
              <a:t>data</a:t>
            </a:r>
            <a:r>
              <a:rPr sz="2400" spc="28" dirty="0">
                <a:latin typeface="Arial MT"/>
                <a:cs typeface="Arial MT"/>
              </a:rPr>
              <a:t> </a:t>
            </a:r>
            <a:r>
              <a:rPr sz="2400" spc="-5" dirty="0">
                <a:latin typeface="Arial MT"/>
                <a:cs typeface="Arial MT"/>
              </a:rPr>
              <a:t>types</a:t>
            </a:r>
            <a:endParaRPr sz="2400" dirty="0">
              <a:latin typeface="Arial MT"/>
              <a:cs typeface="Arial MT"/>
            </a:endParaRPr>
          </a:p>
        </p:txBody>
      </p:sp>
      <p:sp>
        <p:nvSpPr>
          <p:cNvPr id="8" name="object 8"/>
          <p:cNvSpPr txBox="1"/>
          <p:nvPr/>
        </p:nvSpPr>
        <p:spPr>
          <a:xfrm>
            <a:off x="564776" y="2088747"/>
            <a:ext cx="3430280" cy="376083"/>
          </a:xfrm>
          <a:prstGeom prst="rect">
            <a:avLst/>
          </a:prstGeom>
        </p:spPr>
        <p:txBody>
          <a:bodyPr vert="horz" wrap="square" lIns="0" tIns="6686" rIns="0" bIns="0" rtlCol="0">
            <a:spAutoFit/>
          </a:bodyPr>
          <a:lstStyle/>
          <a:p>
            <a:pPr marL="6368">
              <a:spcBef>
                <a:spcPts val="53"/>
              </a:spcBef>
            </a:pPr>
            <a:r>
              <a:rPr sz="2400" dirty="0">
                <a:latin typeface="Arial MT"/>
              </a:rPr>
              <a:t>Easy to</a:t>
            </a:r>
            <a:r>
              <a:rPr sz="2000" spc="-50" dirty="0">
                <a:latin typeface="Arial MT"/>
                <a:cs typeface="Arial MT"/>
              </a:rPr>
              <a:t> </a:t>
            </a:r>
            <a:r>
              <a:rPr sz="2400" dirty="0">
                <a:latin typeface="Arial MT"/>
              </a:rPr>
              <a:t>understand</a:t>
            </a:r>
          </a:p>
        </p:txBody>
      </p:sp>
      <p:sp>
        <p:nvSpPr>
          <p:cNvPr id="9" name="object 9"/>
          <p:cNvSpPr txBox="1"/>
          <p:nvPr/>
        </p:nvSpPr>
        <p:spPr>
          <a:xfrm>
            <a:off x="5179686" y="2150073"/>
            <a:ext cx="4336163" cy="314757"/>
          </a:xfrm>
          <a:prstGeom prst="rect">
            <a:avLst/>
          </a:prstGeom>
        </p:spPr>
        <p:txBody>
          <a:bodyPr vert="horz" wrap="square" lIns="0" tIns="42346" rIns="0" bIns="0" rtlCol="0">
            <a:spAutoFit/>
          </a:bodyPr>
          <a:lstStyle/>
          <a:p>
            <a:pPr marR="2547">
              <a:lnSpc>
                <a:spcPts val="2126"/>
              </a:lnSpc>
              <a:spcBef>
                <a:spcPts val="1200"/>
              </a:spcBef>
            </a:pPr>
            <a:r>
              <a:rPr sz="2400" dirty="0">
                <a:latin typeface="Arial MT"/>
              </a:rPr>
              <a:t>Doesn’t always generalise well</a:t>
            </a:r>
          </a:p>
        </p:txBody>
      </p:sp>
      <p:sp>
        <p:nvSpPr>
          <p:cNvPr id="10" name="TextBox 9">
            <a:extLst>
              <a:ext uri="{FF2B5EF4-FFF2-40B4-BE49-F238E27FC236}">
                <a16:creationId xmlns:a16="http://schemas.microsoft.com/office/drawing/2014/main" id="{86609C3F-77E8-2CA0-50DA-BFB306A2A66E}"/>
              </a:ext>
            </a:extLst>
          </p:cNvPr>
          <p:cNvSpPr txBox="1"/>
          <p:nvPr/>
        </p:nvSpPr>
        <p:spPr>
          <a:xfrm>
            <a:off x="279149" y="671444"/>
            <a:ext cx="9562012"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Decision tree – Pros &amp; Cons</a:t>
            </a:r>
          </a:p>
        </p:txBody>
      </p:sp>
      <p:sp>
        <p:nvSpPr>
          <p:cNvPr id="2" name="object 6">
            <a:extLst>
              <a:ext uri="{FF2B5EF4-FFF2-40B4-BE49-F238E27FC236}">
                <a16:creationId xmlns:a16="http://schemas.microsoft.com/office/drawing/2014/main" id="{11ED1BE8-036D-E67E-4BF8-330C1D7D61C3}"/>
              </a:ext>
            </a:extLst>
          </p:cNvPr>
          <p:cNvSpPr txBox="1"/>
          <p:nvPr/>
        </p:nvSpPr>
        <p:spPr>
          <a:xfrm>
            <a:off x="564776" y="3893525"/>
            <a:ext cx="3979882" cy="376083"/>
          </a:xfrm>
          <a:prstGeom prst="rect">
            <a:avLst/>
          </a:prstGeom>
        </p:spPr>
        <p:txBody>
          <a:bodyPr vert="horz" wrap="square" lIns="0" tIns="6686" rIns="0" bIns="0" rtlCol="0">
            <a:spAutoFit/>
          </a:bodyPr>
          <a:lstStyle/>
          <a:p>
            <a:pPr marL="6368">
              <a:spcBef>
                <a:spcPts val="53"/>
              </a:spcBef>
            </a:pPr>
            <a:r>
              <a:rPr lang="en-GB" sz="2400" dirty="0">
                <a:latin typeface="Arial MT"/>
                <a:cs typeface="Arial MT"/>
              </a:rPr>
              <a:t>No need to scale data</a:t>
            </a:r>
            <a:endParaRPr sz="2400" dirty="0">
              <a:latin typeface="Arial MT"/>
              <a:cs typeface="Arial MT"/>
            </a:endParaRPr>
          </a:p>
        </p:txBody>
      </p:sp>
      <p:sp>
        <p:nvSpPr>
          <p:cNvPr id="12" name="object 9">
            <a:extLst>
              <a:ext uri="{FF2B5EF4-FFF2-40B4-BE49-F238E27FC236}">
                <a16:creationId xmlns:a16="http://schemas.microsoft.com/office/drawing/2014/main" id="{49456515-B411-BA21-3849-ECA561F6B3DF}"/>
              </a:ext>
            </a:extLst>
          </p:cNvPr>
          <p:cNvSpPr txBox="1"/>
          <p:nvPr/>
        </p:nvSpPr>
        <p:spPr>
          <a:xfrm>
            <a:off x="5179685" y="3072867"/>
            <a:ext cx="4336163" cy="584062"/>
          </a:xfrm>
          <a:prstGeom prst="rect">
            <a:avLst/>
          </a:prstGeom>
        </p:spPr>
        <p:txBody>
          <a:bodyPr vert="horz" wrap="square" lIns="0" tIns="42346" rIns="0" bIns="0" rtlCol="0">
            <a:spAutoFit/>
          </a:bodyPr>
          <a:lstStyle/>
          <a:p>
            <a:pPr marR="2547">
              <a:lnSpc>
                <a:spcPts val="2126"/>
              </a:lnSpc>
              <a:spcBef>
                <a:spcPts val="1200"/>
              </a:spcBef>
            </a:pPr>
            <a:r>
              <a:rPr lang="en-GB" sz="2400" dirty="0">
                <a:latin typeface="Arial MT"/>
              </a:rPr>
              <a:t>Tree structure sensitive to small change in data</a:t>
            </a:r>
            <a:endParaRPr sz="2400" dirty="0">
              <a:latin typeface="Arial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E50D2-81FB-3922-3ADC-E57A80C6422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4BD84B1-8817-71A2-C5D1-F06A51464F9A}"/>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B1F468EA-75A1-2013-81A3-DF8982B7D20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F7104524-1C6F-E412-BD31-B139A439EC60}"/>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63D047F1-4483-3EBF-A968-D7D687CA195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F8481FDE-EB69-2F97-D6E3-BD68E68D1B27}"/>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4DF510BD-7D8A-4B22-E2DA-66D6CA560E0F}"/>
              </a:ext>
            </a:extLst>
          </p:cNvPr>
          <p:cNvSpPr txBox="1"/>
          <p:nvPr/>
        </p:nvSpPr>
        <p:spPr>
          <a:xfrm>
            <a:off x="1105061" y="390183"/>
            <a:ext cx="7707410"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K-nearest</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neighbour</a:t>
            </a:r>
          </a:p>
        </p:txBody>
      </p:sp>
      <p:sp>
        <p:nvSpPr>
          <p:cNvPr id="5" name="TextBox 4">
            <a:extLst>
              <a:ext uri="{FF2B5EF4-FFF2-40B4-BE49-F238E27FC236}">
                <a16:creationId xmlns:a16="http://schemas.microsoft.com/office/drawing/2014/main" id="{32AEBB20-EC30-6280-4A71-5D7995466D89}"/>
              </a:ext>
            </a:extLst>
          </p:cNvPr>
          <p:cNvSpPr txBox="1"/>
          <p:nvPr/>
        </p:nvSpPr>
        <p:spPr>
          <a:xfrm>
            <a:off x="641758" y="4111789"/>
            <a:ext cx="9271418" cy="461665"/>
          </a:xfrm>
          <a:prstGeom prst="rect">
            <a:avLst/>
          </a:prstGeom>
          <a:noFill/>
        </p:spPr>
        <p:txBody>
          <a:bodyPr wrap="square">
            <a:spAutoFit/>
          </a:bodyPr>
          <a:lstStyle/>
          <a:p>
            <a:r>
              <a:rPr lang="en-GB" sz="2400" dirty="0"/>
              <a:t>Ask your 5 most similar friends. If most liked it, you probably will too.</a:t>
            </a:r>
            <a:endParaRPr lang="en-US" sz="2400" dirty="0"/>
          </a:p>
        </p:txBody>
      </p:sp>
      <p:grpSp>
        <p:nvGrpSpPr>
          <p:cNvPr id="28" name="Group 27">
            <a:extLst>
              <a:ext uri="{FF2B5EF4-FFF2-40B4-BE49-F238E27FC236}">
                <a16:creationId xmlns:a16="http://schemas.microsoft.com/office/drawing/2014/main" id="{877135AD-E2DC-9F25-B312-913D17BFD057}"/>
              </a:ext>
            </a:extLst>
          </p:cNvPr>
          <p:cNvGrpSpPr/>
          <p:nvPr/>
        </p:nvGrpSpPr>
        <p:grpSpPr>
          <a:xfrm>
            <a:off x="2804890" y="1020523"/>
            <a:ext cx="4307751" cy="3040542"/>
            <a:chOff x="347135" y="1122495"/>
            <a:chExt cx="4307751" cy="3040542"/>
          </a:xfrm>
        </p:grpSpPr>
        <p:pic>
          <p:nvPicPr>
            <p:cNvPr id="11" name="Picture 10" descr="A white and yellow person&#10;&#10;AI-generated content may be incorrect.">
              <a:extLst>
                <a:ext uri="{FF2B5EF4-FFF2-40B4-BE49-F238E27FC236}">
                  <a16:creationId xmlns:a16="http://schemas.microsoft.com/office/drawing/2014/main" id="{CC6DB425-B4DF-6BDD-0F2D-D51199473FDD}"/>
                </a:ext>
              </a:extLst>
            </p:cNvPr>
            <p:cNvPicPr>
              <a:picLocks noChangeAspect="1"/>
            </p:cNvPicPr>
            <p:nvPr/>
          </p:nvPicPr>
          <p:blipFill>
            <a:blip r:embed="rId6"/>
            <a:stretch>
              <a:fillRect/>
            </a:stretch>
          </p:blipFill>
          <p:spPr>
            <a:xfrm>
              <a:off x="1257506" y="2240908"/>
              <a:ext cx="839138" cy="839138"/>
            </a:xfrm>
            <a:prstGeom prst="rect">
              <a:avLst/>
            </a:prstGeom>
          </p:spPr>
        </p:pic>
        <p:pic>
          <p:nvPicPr>
            <p:cNvPr id="13" name="Picture 12" descr="A blue person icon on a black background&#10;&#10;AI-generated content may be incorrect.">
              <a:extLst>
                <a:ext uri="{FF2B5EF4-FFF2-40B4-BE49-F238E27FC236}">
                  <a16:creationId xmlns:a16="http://schemas.microsoft.com/office/drawing/2014/main" id="{9AFB51AE-E053-0B66-E1EE-87C0E7045701}"/>
                </a:ext>
              </a:extLst>
            </p:cNvPr>
            <p:cNvPicPr>
              <a:picLocks noChangeAspect="1"/>
            </p:cNvPicPr>
            <p:nvPr/>
          </p:nvPicPr>
          <p:blipFill>
            <a:blip r:embed="rId7"/>
            <a:stretch>
              <a:fillRect/>
            </a:stretch>
          </p:blipFill>
          <p:spPr>
            <a:xfrm>
              <a:off x="347135" y="2004294"/>
              <a:ext cx="813281" cy="813281"/>
            </a:xfrm>
            <a:prstGeom prst="rect">
              <a:avLst/>
            </a:prstGeom>
          </p:spPr>
        </p:pic>
        <p:pic>
          <p:nvPicPr>
            <p:cNvPr id="18" name="Picture 17" descr="A white and yellow person&#10;&#10;AI-generated content may be incorrect.">
              <a:extLst>
                <a:ext uri="{FF2B5EF4-FFF2-40B4-BE49-F238E27FC236}">
                  <a16:creationId xmlns:a16="http://schemas.microsoft.com/office/drawing/2014/main" id="{7D00DE3B-F34F-AC1B-4030-F1FAE0B70FC6}"/>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2117953" y="1936648"/>
              <a:ext cx="813281" cy="813281"/>
            </a:xfrm>
            <a:prstGeom prst="rect">
              <a:avLst/>
            </a:prstGeom>
          </p:spPr>
        </p:pic>
        <p:pic>
          <p:nvPicPr>
            <p:cNvPr id="20" name="Picture 19" descr="A blue person icon on a black background&#10;&#10;AI-generated content may be incorrect.">
              <a:extLst>
                <a:ext uri="{FF2B5EF4-FFF2-40B4-BE49-F238E27FC236}">
                  <a16:creationId xmlns:a16="http://schemas.microsoft.com/office/drawing/2014/main" id="{7B9B35D6-CEF5-3E22-476D-A2DD423A0F7D}"/>
                </a:ext>
              </a:extLst>
            </p:cNvPr>
            <p:cNvPicPr>
              <a:picLocks noChangeAspect="1"/>
            </p:cNvPicPr>
            <p:nvPr/>
          </p:nvPicPr>
          <p:blipFill>
            <a:blip r:embed="rId7"/>
            <a:stretch>
              <a:fillRect/>
            </a:stretch>
          </p:blipFill>
          <p:spPr>
            <a:xfrm>
              <a:off x="3067536" y="1552721"/>
              <a:ext cx="813281" cy="813281"/>
            </a:xfrm>
            <a:prstGeom prst="rect">
              <a:avLst/>
            </a:prstGeom>
          </p:spPr>
        </p:pic>
        <p:pic>
          <p:nvPicPr>
            <p:cNvPr id="21" name="Picture 20" descr="A blue person icon on a black background&#10;&#10;AI-generated content may be incorrect.">
              <a:extLst>
                <a:ext uri="{FF2B5EF4-FFF2-40B4-BE49-F238E27FC236}">
                  <a16:creationId xmlns:a16="http://schemas.microsoft.com/office/drawing/2014/main" id="{7DC836BB-A127-D94F-699D-20CB59A50A67}"/>
                </a:ext>
              </a:extLst>
            </p:cNvPr>
            <p:cNvPicPr>
              <a:picLocks noChangeAspect="1"/>
            </p:cNvPicPr>
            <p:nvPr/>
          </p:nvPicPr>
          <p:blipFill>
            <a:blip r:embed="rId7"/>
            <a:stretch>
              <a:fillRect/>
            </a:stretch>
          </p:blipFill>
          <p:spPr>
            <a:xfrm>
              <a:off x="2931234" y="3349756"/>
              <a:ext cx="813281" cy="813281"/>
            </a:xfrm>
            <a:prstGeom prst="rect">
              <a:avLst/>
            </a:prstGeom>
          </p:spPr>
        </p:pic>
        <p:pic>
          <p:nvPicPr>
            <p:cNvPr id="22" name="Picture 21" descr="A white and yellow person&#10;&#10;AI-generated content may be incorrect.">
              <a:extLst>
                <a:ext uri="{FF2B5EF4-FFF2-40B4-BE49-F238E27FC236}">
                  <a16:creationId xmlns:a16="http://schemas.microsoft.com/office/drawing/2014/main" id="{C23239C2-FB2C-FE6D-0DEC-F5F8D56D1D8C}"/>
                </a:ext>
              </a:extLst>
            </p:cNvPr>
            <p:cNvPicPr>
              <a:picLocks noChangeAspect="1"/>
            </p:cNvPicPr>
            <p:nvPr/>
          </p:nvPicPr>
          <p:blipFill>
            <a:blip r:embed="rId6"/>
            <a:stretch>
              <a:fillRect/>
            </a:stretch>
          </p:blipFill>
          <p:spPr>
            <a:xfrm>
              <a:off x="2861583" y="2482530"/>
              <a:ext cx="813281" cy="813281"/>
            </a:xfrm>
            <a:prstGeom prst="rect">
              <a:avLst/>
            </a:prstGeom>
          </p:spPr>
        </p:pic>
        <p:pic>
          <p:nvPicPr>
            <p:cNvPr id="23" name="Picture 22" descr="A blue person icon on a black background&#10;&#10;AI-generated content may be incorrect.">
              <a:extLst>
                <a:ext uri="{FF2B5EF4-FFF2-40B4-BE49-F238E27FC236}">
                  <a16:creationId xmlns:a16="http://schemas.microsoft.com/office/drawing/2014/main" id="{BC2899D9-9514-49C6-B663-DABD28896731}"/>
                </a:ext>
              </a:extLst>
            </p:cNvPr>
            <p:cNvPicPr>
              <a:picLocks noChangeAspect="1"/>
            </p:cNvPicPr>
            <p:nvPr/>
          </p:nvPicPr>
          <p:blipFill>
            <a:blip r:embed="rId7"/>
            <a:stretch>
              <a:fillRect/>
            </a:stretch>
          </p:blipFill>
          <p:spPr>
            <a:xfrm>
              <a:off x="2048302" y="2945923"/>
              <a:ext cx="813281" cy="813281"/>
            </a:xfrm>
            <a:prstGeom prst="rect">
              <a:avLst/>
            </a:prstGeom>
          </p:spPr>
        </p:pic>
        <p:pic>
          <p:nvPicPr>
            <p:cNvPr id="24" name="Picture 23" descr="A blue person icon on a black background&#10;&#10;AI-generated content may be incorrect.">
              <a:extLst>
                <a:ext uri="{FF2B5EF4-FFF2-40B4-BE49-F238E27FC236}">
                  <a16:creationId xmlns:a16="http://schemas.microsoft.com/office/drawing/2014/main" id="{A24EABE3-9449-3B0C-FD3D-C6DF4DAB19C5}"/>
                </a:ext>
              </a:extLst>
            </p:cNvPr>
            <p:cNvPicPr>
              <a:picLocks noChangeAspect="1"/>
            </p:cNvPicPr>
            <p:nvPr/>
          </p:nvPicPr>
          <p:blipFill>
            <a:blip r:embed="rId7"/>
            <a:stretch>
              <a:fillRect/>
            </a:stretch>
          </p:blipFill>
          <p:spPr>
            <a:xfrm>
              <a:off x="1063190" y="3295810"/>
              <a:ext cx="813281" cy="813281"/>
            </a:xfrm>
            <a:prstGeom prst="rect">
              <a:avLst/>
            </a:prstGeom>
          </p:spPr>
        </p:pic>
        <p:pic>
          <p:nvPicPr>
            <p:cNvPr id="25" name="Picture 24" descr="A white and yellow person&#10;&#10;AI-generated content may be incorrect.">
              <a:extLst>
                <a:ext uri="{FF2B5EF4-FFF2-40B4-BE49-F238E27FC236}">
                  <a16:creationId xmlns:a16="http://schemas.microsoft.com/office/drawing/2014/main" id="{A39FCB7C-5F13-551C-BC8A-2369DE0B7C4E}"/>
                </a:ext>
              </a:extLst>
            </p:cNvPr>
            <p:cNvPicPr>
              <a:picLocks noChangeAspect="1"/>
            </p:cNvPicPr>
            <p:nvPr/>
          </p:nvPicPr>
          <p:blipFill>
            <a:blip r:embed="rId6"/>
            <a:stretch>
              <a:fillRect/>
            </a:stretch>
          </p:blipFill>
          <p:spPr>
            <a:xfrm>
              <a:off x="1304672" y="1240707"/>
              <a:ext cx="813281" cy="813281"/>
            </a:xfrm>
            <a:prstGeom prst="rect">
              <a:avLst/>
            </a:prstGeom>
          </p:spPr>
        </p:pic>
        <p:pic>
          <p:nvPicPr>
            <p:cNvPr id="26" name="Picture 25" descr="A blue person icon on a black background&#10;&#10;AI-generated content may be incorrect.">
              <a:extLst>
                <a:ext uri="{FF2B5EF4-FFF2-40B4-BE49-F238E27FC236}">
                  <a16:creationId xmlns:a16="http://schemas.microsoft.com/office/drawing/2014/main" id="{D0B7D8A4-5C60-23C1-B359-E3628E817590}"/>
                </a:ext>
              </a:extLst>
            </p:cNvPr>
            <p:cNvPicPr>
              <a:picLocks noChangeAspect="1"/>
            </p:cNvPicPr>
            <p:nvPr/>
          </p:nvPicPr>
          <p:blipFill>
            <a:blip r:embed="rId7"/>
            <a:stretch>
              <a:fillRect/>
            </a:stretch>
          </p:blipFill>
          <p:spPr>
            <a:xfrm>
              <a:off x="3841605" y="2366002"/>
              <a:ext cx="813281" cy="813281"/>
            </a:xfrm>
            <a:prstGeom prst="rect">
              <a:avLst/>
            </a:prstGeom>
          </p:spPr>
        </p:pic>
        <p:sp>
          <p:nvSpPr>
            <p:cNvPr id="27" name="Freeform 26">
              <a:extLst>
                <a:ext uri="{FF2B5EF4-FFF2-40B4-BE49-F238E27FC236}">
                  <a16:creationId xmlns:a16="http://schemas.microsoft.com/office/drawing/2014/main" id="{3D6FEF26-6B20-6392-7606-7C5FB8EDDFCC}"/>
                </a:ext>
              </a:extLst>
            </p:cNvPr>
            <p:cNvSpPr/>
            <p:nvPr/>
          </p:nvSpPr>
          <p:spPr>
            <a:xfrm>
              <a:off x="1026356" y="1122495"/>
              <a:ext cx="3033052" cy="2864627"/>
            </a:xfrm>
            <a:custGeom>
              <a:avLst/>
              <a:gdLst>
                <a:gd name="connsiteX0" fmla="*/ 188490 w 3033052"/>
                <a:gd name="connsiteY0" fmla="*/ 954499 h 2864627"/>
                <a:gd name="connsiteX1" fmla="*/ 201553 w 3033052"/>
                <a:gd name="connsiteY1" fmla="*/ 236042 h 2864627"/>
                <a:gd name="connsiteX2" fmla="*/ 776318 w 3033052"/>
                <a:gd name="connsiteY2" fmla="*/ 911 h 2864627"/>
                <a:gd name="connsiteX3" fmla="*/ 1324958 w 3033052"/>
                <a:gd name="connsiteY3" fmla="*/ 301356 h 2864627"/>
                <a:gd name="connsiteX4" fmla="*/ 1978101 w 3033052"/>
                <a:gd name="connsiteY4" fmla="*/ 405859 h 2864627"/>
                <a:gd name="connsiteX5" fmla="*/ 2369987 w 3033052"/>
                <a:gd name="connsiteY5" fmla="*/ 196854 h 2864627"/>
                <a:gd name="connsiteX6" fmla="*/ 2983941 w 3033052"/>
                <a:gd name="connsiteY6" fmla="*/ 471174 h 2864627"/>
                <a:gd name="connsiteX7" fmla="*/ 2970878 w 3033052"/>
                <a:gd name="connsiteY7" fmla="*/ 1032876 h 2864627"/>
                <a:gd name="connsiteX8" fmla="*/ 2774935 w 3033052"/>
                <a:gd name="connsiteY8" fmla="*/ 1516202 h 2864627"/>
                <a:gd name="connsiteX9" fmla="*/ 2840250 w 3033052"/>
                <a:gd name="connsiteY9" fmla="*/ 2299974 h 2864627"/>
                <a:gd name="connsiteX10" fmla="*/ 2017290 w 3033052"/>
                <a:gd name="connsiteY10" fmla="*/ 2339162 h 2864627"/>
                <a:gd name="connsiteX11" fmla="*/ 1847473 w 3033052"/>
                <a:gd name="connsiteY11" fmla="*/ 2757174 h 2864627"/>
                <a:gd name="connsiteX12" fmla="*/ 1089827 w 3033052"/>
                <a:gd name="connsiteY12" fmla="*/ 2809425 h 2864627"/>
                <a:gd name="connsiteX13" fmla="*/ 802444 w 3033052"/>
                <a:gd name="connsiteY13" fmla="*/ 2064842 h 2864627"/>
                <a:gd name="connsiteX14" fmla="*/ 18673 w 3033052"/>
                <a:gd name="connsiteY14" fmla="*/ 1895025 h 2864627"/>
                <a:gd name="connsiteX15" fmla="*/ 240741 w 3033052"/>
                <a:gd name="connsiteY15" fmla="*/ 1176568 h 2864627"/>
                <a:gd name="connsiteX16" fmla="*/ 188490 w 3033052"/>
                <a:gd name="connsiteY16" fmla="*/ 954499 h 286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033052" h="2864627">
                  <a:moveTo>
                    <a:pt x="188490" y="954499"/>
                  </a:moveTo>
                  <a:cubicBezTo>
                    <a:pt x="181959" y="797745"/>
                    <a:pt x="103582" y="394973"/>
                    <a:pt x="201553" y="236042"/>
                  </a:cubicBezTo>
                  <a:cubicBezTo>
                    <a:pt x="299524" y="77111"/>
                    <a:pt x="589084" y="-9975"/>
                    <a:pt x="776318" y="911"/>
                  </a:cubicBezTo>
                  <a:cubicBezTo>
                    <a:pt x="963552" y="11797"/>
                    <a:pt x="1124661" y="233865"/>
                    <a:pt x="1324958" y="301356"/>
                  </a:cubicBezTo>
                  <a:cubicBezTo>
                    <a:pt x="1525255" y="368847"/>
                    <a:pt x="1803930" y="423276"/>
                    <a:pt x="1978101" y="405859"/>
                  </a:cubicBezTo>
                  <a:cubicBezTo>
                    <a:pt x="2152272" y="388442"/>
                    <a:pt x="2202347" y="185968"/>
                    <a:pt x="2369987" y="196854"/>
                  </a:cubicBezTo>
                  <a:cubicBezTo>
                    <a:pt x="2537627" y="207740"/>
                    <a:pt x="2883793" y="331837"/>
                    <a:pt x="2983941" y="471174"/>
                  </a:cubicBezTo>
                  <a:cubicBezTo>
                    <a:pt x="3084089" y="610511"/>
                    <a:pt x="3005712" y="858705"/>
                    <a:pt x="2970878" y="1032876"/>
                  </a:cubicBezTo>
                  <a:cubicBezTo>
                    <a:pt x="2936044" y="1207047"/>
                    <a:pt x="2796706" y="1305019"/>
                    <a:pt x="2774935" y="1516202"/>
                  </a:cubicBezTo>
                  <a:cubicBezTo>
                    <a:pt x="2753164" y="1727385"/>
                    <a:pt x="2966524" y="2162814"/>
                    <a:pt x="2840250" y="2299974"/>
                  </a:cubicBezTo>
                  <a:cubicBezTo>
                    <a:pt x="2713976" y="2437134"/>
                    <a:pt x="2182753" y="2262962"/>
                    <a:pt x="2017290" y="2339162"/>
                  </a:cubicBezTo>
                  <a:cubicBezTo>
                    <a:pt x="1851827" y="2415362"/>
                    <a:pt x="2002050" y="2678797"/>
                    <a:pt x="1847473" y="2757174"/>
                  </a:cubicBezTo>
                  <a:cubicBezTo>
                    <a:pt x="1692896" y="2835551"/>
                    <a:pt x="1263999" y="2924814"/>
                    <a:pt x="1089827" y="2809425"/>
                  </a:cubicBezTo>
                  <a:cubicBezTo>
                    <a:pt x="915656" y="2694036"/>
                    <a:pt x="980970" y="2217242"/>
                    <a:pt x="802444" y="2064842"/>
                  </a:cubicBezTo>
                  <a:cubicBezTo>
                    <a:pt x="623918" y="1912442"/>
                    <a:pt x="112290" y="2043071"/>
                    <a:pt x="18673" y="1895025"/>
                  </a:cubicBezTo>
                  <a:cubicBezTo>
                    <a:pt x="-74944" y="1746979"/>
                    <a:pt x="212438" y="1337676"/>
                    <a:pt x="240741" y="1176568"/>
                  </a:cubicBezTo>
                  <a:cubicBezTo>
                    <a:pt x="269044" y="1015460"/>
                    <a:pt x="195021" y="1111253"/>
                    <a:pt x="188490" y="954499"/>
                  </a:cubicBezTo>
                  <a:close/>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2489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9B05B-E201-9C93-0086-A0460EF515F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E63DF7C-CEB4-DB66-9370-8B72B922D72B}"/>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7B81E2A4-1CAE-3DD2-6C2A-BAAF2EC214E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BE8CFC37-E9A4-EE68-ADFD-D1BACEA44912}"/>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409F0230-AAD8-9020-52F7-A85D2778A81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45B68E9B-CBD4-BD4A-0BA4-B9C4591C828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99D6491B-F6EB-BCFD-811A-80020D797867}"/>
              </a:ext>
            </a:extLst>
          </p:cNvPr>
          <p:cNvSpPr txBox="1"/>
          <p:nvPr/>
        </p:nvSpPr>
        <p:spPr>
          <a:xfrm>
            <a:off x="0" y="583155"/>
            <a:ext cx="996845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How</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does</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a K-NN algorithm make a decision?</a:t>
            </a:r>
          </a:p>
        </p:txBody>
      </p:sp>
      <p:sp>
        <p:nvSpPr>
          <p:cNvPr id="4" name="object 3">
            <a:extLst>
              <a:ext uri="{FF2B5EF4-FFF2-40B4-BE49-F238E27FC236}">
                <a16:creationId xmlns:a16="http://schemas.microsoft.com/office/drawing/2014/main" id="{76D15C54-6BBB-62A6-CEB8-3C68002088C2}"/>
              </a:ext>
            </a:extLst>
          </p:cNvPr>
          <p:cNvSpPr txBox="1"/>
          <p:nvPr/>
        </p:nvSpPr>
        <p:spPr>
          <a:xfrm>
            <a:off x="570874" y="1893715"/>
            <a:ext cx="4601073" cy="1601391"/>
          </a:xfrm>
          <a:prstGeom prst="rect">
            <a:avLst/>
          </a:prstGeom>
        </p:spPr>
        <p:txBody>
          <a:bodyPr vert="horz" wrap="square" lIns="0" tIns="42346" rIns="0" bIns="0" rtlCol="0">
            <a:spAutoFit/>
          </a:bodyPr>
          <a:lstStyle/>
          <a:p>
            <a:pPr marL="6368" marR="71638" indent="280182">
              <a:lnSpc>
                <a:spcPts val="2126"/>
              </a:lnSpc>
              <a:spcBef>
                <a:spcPts val="333"/>
              </a:spcBef>
              <a:buAutoNum type="arabicPeriod"/>
              <a:tabLst>
                <a:tab pos="286550" algn="l"/>
              </a:tabLst>
            </a:pPr>
            <a:r>
              <a:rPr sz="1981" dirty="0">
                <a:latin typeface="Arial MT"/>
                <a:cs typeface="Arial MT"/>
              </a:rPr>
              <a:t>Compute</a:t>
            </a:r>
            <a:r>
              <a:rPr sz="1981" spc="120" dirty="0">
                <a:latin typeface="Arial MT"/>
                <a:cs typeface="Arial MT"/>
              </a:rPr>
              <a:t> </a:t>
            </a:r>
            <a:r>
              <a:rPr sz="1981" dirty="0">
                <a:latin typeface="Arial MT"/>
                <a:cs typeface="Arial MT"/>
              </a:rPr>
              <a:t>distance</a:t>
            </a:r>
            <a:r>
              <a:rPr sz="1981" spc="120" dirty="0">
                <a:latin typeface="Arial MT"/>
                <a:cs typeface="Arial MT"/>
              </a:rPr>
              <a:t> </a:t>
            </a:r>
            <a:r>
              <a:rPr sz="1981" dirty="0">
                <a:latin typeface="Arial MT"/>
                <a:cs typeface="Arial MT"/>
              </a:rPr>
              <a:t>between</a:t>
            </a:r>
            <a:r>
              <a:rPr sz="1981" spc="118" dirty="0">
                <a:latin typeface="Arial MT"/>
                <a:cs typeface="Arial MT"/>
              </a:rPr>
              <a:t> </a:t>
            </a:r>
            <a:r>
              <a:rPr sz="1981" dirty="0">
                <a:latin typeface="Arial MT"/>
                <a:cs typeface="Arial MT"/>
              </a:rPr>
              <a:t>test</a:t>
            </a:r>
            <a:r>
              <a:rPr sz="1981" spc="120" dirty="0">
                <a:latin typeface="Arial MT"/>
                <a:cs typeface="Arial MT"/>
              </a:rPr>
              <a:t> </a:t>
            </a:r>
            <a:r>
              <a:rPr sz="1981" spc="28" dirty="0">
                <a:latin typeface="Arial MT"/>
                <a:cs typeface="Arial MT"/>
              </a:rPr>
              <a:t>point </a:t>
            </a:r>
            <a:r>
              <a:rPr sz="1981" dirty="0">
                <a:latin typeface="Arial MT"/>
                <a:cs typeface="Arial MT"/>
              </a:rPr>
              <a:t>and</a:t>
            </a:r>
            <a:r>
              <a:rPr sz="1981" spc="20" dirty="0">
                <a:latin typeface="Arial MT"/>
                <a:cs typeface="Arial MT"/>
              </a:rPr>
              <a:t> </a:t>
            </a:r>
            <a:r>
              <a:rPr sz="1981" dirty="0">
                <a:latin typeface="Arial MT"/>
                <a:cs typeface="Arial MT"/>
              </a:rPr>
              <a:t>all</a:t>
            </a:r>
            <a:r>
              <a:rPr sz="1981" spc="20" dirty="0">
                <a:latin typeface="Arial MT"/>
                <a:cs typeface="Arial MT"/>
              </a:rPr>
              <a:t> </a:t>
            </a:r>
            <a:r>
              <a:rPr sz="1981" dirty="0">
                <a:latin typeface="Arial MT"/>
                <a:cs typeface="Arial MT"/>
              </a:rPr>
              <a:t>training</a:t>
            </a:r>
            <a:r>
              <a:rPr sz="1981" spc="18" dirty="0">
                <a:latin typeface="Arial MT"/>
                <a:cs typeface="Arial MT"/>
              </a:rPr>
              <a:t> </a:t>
            </a:r>
            <a:r>
              <a:rPr sz="1981" spc="20" dirty="0">
                <a:latin typeface="Arial MT"/>
                <a:cs typeface="Arial MT"/>
              </a:rPr>
              <a:t>points</a:t>
            </a:r>
            <a:endParaRPr sz="1981" dirty="0">
              <a:latin typeface="Arial MT"/>
              <a:cs typeface="Arial MT"/>
            </a:endParaRPr>
          </a:p>
          <a:p>
            <a:pPr marL="286550" indent="-280182">
              <a:spcBef>
                <a:spcPts val="1579"/>
              </a:spcBef>
              <a:buAutoNum type="arabicPeriod"/>
              <a:tabLst>
                <a:tab pos="286550" algn="l"/>
              </a:tabLst>
            </a:pPr>
            <a:r>
              <a:rPr sz="1981" dirty="0">
                <a:latin typeface="Arial MT"/>
                <a:cs typeface="Arial MT"/>
              </a:rPr>
              <a:t>Pick</a:t>
            </a:r>
            <a:r>
              <a:rPr sz="1981" spc="53" dirty="0">
                <a:latin typeface="Arial MT"/>
                <a:cs typeface="Arial MT"/>
              </a:rPr>
              <a:t> </a:t>
            </a:r>
            <a:r>
              <a:rPr sz="1981" dirty="0">
                <a:latin typeface="Arial MT"/>
                <a:cs typeface="Arial MT"/>
              </a:rPr>
              <a:t>the</a:t>
            </a:r>
            <a:r>
              <a:rPr sz="1981" spc="55" dirty="0">
                <a:latin typeface="Arial MT"/>
                <a:cs typeface="Arial MT"/>
              </a:rPr>
              <a:t> </a:t>
            </a:r>
            <a:r>
              <a:rPr sz="1981" spc="28" dirty="0">
                <a:latin typeface="Arial MT"/>
                <a:cs typeface="Arial MT"/>
              </a:rPr>
              <a:t>k</a:t>
            </a:r>
            <a:r>
              <a:rPr sz="1981" spc="57" dirty="0">
                <a:latin typeface="Arial MT"/>
                <a:cs typeface="Arial MT"/>
              </a:rPr>
              <a:t> </a:t>
            </a:r>
            <a:r>
              <a:rPr sz="1981" dirty="0">
                <a:latin typeface="Arial MT"/>
                <a:cs typeface="Arial MT"/>
              </a:rPr>
              <a:t>closest</a:t>
            </a:r>
            <a:r>
              <a:rPr sz="1981" spc="57" dirty="0">
                <a:latin typeface="Arial MT"/>
                <a:cs typeface="Arial MT"/>
              </a:rPr>
              <a:t> </a:t>
            </a:r>
            <a:r>
              <a:rPr sz="1981" spc="-10" dirty="0">
                <a:latin typeface="Arial MT"/>
                <a:cs typeface="Arial MT"/>
              </a:rPr>
              <a:t>ones</a:t>
            </a:r>
            <a:endParaRPr sz="1981" dirty="0">
              <a:latin typeface="Arial MT"/>
              <a:cs typeface="Arial MT"/>
            </a:endParaRPr>
          </a:p>
          <a:p>
            <a:pPr marL="286550" indent="-280182">
              <a:spcBef>
                <a:spcPts val="1612"/>
              </a:spcBef>
              <a:buAutoNum type="arabicPeriod"/>
              <a:tabLst>
                <a:tab pos="286550" algn="l"/>
              </a:tabLst>
            </a:pPr>
            <a:r>
              <a:rPr sz="1981" dirty="0">
                <a:latin typeface="Arial MT"/>
                <a:cs typeface="Arial MT"/>
              </a:rPr>
              <a:t>Use</a:t>
            </a:r>
            <a:r>
              <a:rPr sz="1981" spc="13" dirty="0">
                <a:latin typeface="Arial MT"/>
                <a:cs typeface="Arial MT"/>
              </a:rPr>
              <a:t> </a:t>
            </a:r>
            <a:r>
              <a:rPr sz="1981" dirty="0">
                <a:latin typeface="Arial MT"/>
                <a:cs typeface="Arial MT"/>
              </a:rPr>
              <a:t>majority</a:t>
            </a:r>
            <a:r>
              <a:rPr sz="1981" spc="13" dirty="0">
                <a:latin typeface="Arial MT"/>
                <a:cs typeface="Arial MT"/>
              </a:rPr>
              <a:t> </a:t>
            </a:r>
            <a:r>
              <a:rPr sz="1981" dirty="0">
                <a:latin typeface="Arial MT"/>
                <a:cs typeface="Arial MT"/>
              </a:rPr>
              <a:t>vote</a:t>
            </a:r>
            <a:r>
              <a:rPr sz="1981" spc="13" dirty="0">
                <a:latin typeface="Arial MT"/>
                <a:cs typeface="Arial MT"/>
              </a:rPr>
              <a:t> </a:t>
            </a:r>
            <a:r>
              <a:rPr sz="1981" spc="48" dirty="0">
                <a:latin typeface="Arial MT"/>
                <a:cs typeface="Arial MT"/>
              </a:rPr>
              <a:t>to</a:t>
            </a:r>
            <a:r>
              <a:rPr sz="1981" spc="13" dirty="0">
                <a:latin typeface="Arial MT"/>
                <a:cs typeface="Arial MT"/>
              </a:rPr>
              <a:t> </a:t>
            </a:r>
            <a:r>
              <a:rPr sz="1981" dirty="0">
                <a:latin typeface="Arial MT"/>
                <a:cs typeface="Arial MT"/>
              </a:rPr>
              <a:t>assign</a:t>
            </a:r>
            <a:r>
              <a:rPr sz="1981" spc="13" dirty="0">
                <a:latin typeface="Arial MT"/>
                <a:cs typeface="Arial MT"/>
              </a:rPr>
              <a:t> </a:t>
            </a:r>
            <a:r>
              <a:rPr sz="1981" dirty="0">
                <a:latin typeface="Arial MT"/>
                <a:cs typeface="Arial MT"/>
              </a:rPr>
              <a:t>class</a:t>
            </a:r>
            <a:r>
              <a:rPr sz="1981" spc="13" dirty="0">
                <a:latin typeface="Arial MT"/>
                <a:cs typeface="Arial MT"/>
              </a:rPr>
              <a:t> </a:t>
            </a:r>
            <a:r>
              <a:rPr sz="1981" spc="-5" dirty="0" err="1">
                <a:latin typeface="Arial MT"/>
                <a:cs typeface="Arial MT"/>
              </a:rPr>
              <a:t>labe</a:t>
            </a:r>
            <a:r>
              <a:rPr lang="en-GB" sz="1981" spc="-5" dirty="0">
                <a:latin typeface="Arial MT"/>
                <a:cs typeface="Arial MT"/>
              </a:rPr>
              <a:t>l</a:t>
            </a:r>
          </a:p>
        </p:txBody>
      </p:sp>
      <p:pic>
        <p:nvPicPr>
          <p:cNvPr id="5" name="object 4">
            <a:extLst>
              <a:ext uri="{FF2B5EF4-FFF2-40B4-BE49-F238E27FC236}">
                <a16:creationId xmlns:a16="http://schemas.microsoft.com/office/drawing/2014/main" id="{7495FA21-247C-531B-65B7-D208F6763F03}"/>
              </a:ext>
            </a:extLst>
          </p:cNvPr>
          <p:cNvPicPr/>
          <p:nvPr/>
        </p:nvPicPr>
        <p:blipFill>
          <a:blip r:embed="rId6" cstate="print"/>
          <a:stretch>
            <a:fillRect/>
          </a:stretch>
        </p:blipFill>
        <p:spPr>
          <a:xfrm>
            <a:off x="5728712" y="2346019"/>
            <a:ext cx="1765252" cy="1386037"/>
          </a:xfrm>
          <a:prstGeom prst="rect">
            <a:avLst/>
          </a:prstGeom>
        </p:spPr>
      </p:pic>
      <p:pic>
        <p:nvPicPr>
          <p:cNvPr id="6" name="object 5">
            <a:extLst>
              <a:ext uri="{FF2B5EF4-FFF2-40B4-BE49-F238E27FC236}">
                <a16:creationId xmlns:a16="http://schemas.microsoft.com/office/drawing/2014/main" id="{77EED768-8276-BB0D-67AF-5299B56867B5}"/>
              </a:ext>
            </a:extLst>
          </p:cNvPr>
          <p:cNvPicPr/>
          <p:nvPr/>
        </p:nvPicPr>
        <p:blipFill>
          <a:blip r:embed="rId7" cstate="print"/>
          <a:stretch>
            <a:fillRect/>
          </a:stretch>
        </p:blipFill>
        <p:spPr>
          <a:xfrm>
            <a:off x="7890868" y="2296196"/>
            <a:ext cx="1816590" cy="1386037"/>
          </a:xfrm>
          <a:prstGeom prst="rect">
            <a:avLst/>
          </a:prstGeom>
        </p:spPr>
      </p:pic>
    </p:spTree>
    <p:extLst>
      <p:ext uri="{BB962C8B-B14F-4D97-AF65-F5344CB8AC3E}">
        <p14:creationId xmlns:p14="http://schemas.microsoft.com/office/powerpoint/2010/main" val="3279070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5B6F4-A7C2-589E-B8ED-A4FAA9F426C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F2A1868-5677-20B6-AE49-EB41A0ADA6E6}"/>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5A349D2F-314C-8F6D-5108-4A52025E268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33351BD9-3FBE-74F8-F214-71BFAAD88AD9}"/>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C2514632-A2F3-FD8A-76FF-E032867C725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5E155897-99CE-121F-BCB8-D1D368B86EC3}"/>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3D675CB4-452D-47FB-F4E5-522792D767B7}"/>
              </a:ext>
            </a:extLst>
          </p:cNvPr>
          <p:cNvSpPr txBox="1"/>
          <p:nvPr/>
        </p:nvSpPr>
        <p:spPr>
          <a:xfrm>
            <a:off x="0" y="583155"/>
            <a:ext cx="9968459"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K-NN - Example</a:t>
            </a:r>
          </a:p>
        </p:txBody>
      </p:sp>
      <p:graphicFrame>
        <p:nvGraphicFramePr>
          <p:cNvPr id="12" name="Table 11">
            <a:extLst>
              <a:ext uri="{FF2B5EF4-FFF2-40B4-BE49-F238E27FC236}">
                <a16:creationId xmlns:a16="http://schemas.microsoft.com/office/drawing/2014/main" id="{F7E7D05B-551A-0E6C-C0C3-03CF21223D66}"/>
              </a:ext>
            </a:extLst>
          </p:cNvPr>
          <p:cNvGraphicFramePr>
            <a:graphicFrameLocks noGrp="1"/>
          </p:cNvGraphicFramePr>
          <p:nvPr>
            <p:extLst>
              <p:ext uri="{D42A27DB-BD31-4B8C-83A1-F6EECF244321}">
                <p14:modId xmlns:p14="http://schemas.microsoft.com/office/powerpoint/2010/main" val="2298086887"/>
              </p:ext>
            </p:extLst>
          </p:nvPr>
        </p:nvGraphicFramePr>
        <p:xfrm>
          <a:off x="464700" y="1433449"/>
          <a:ext cx="4144289" cy="2926080"/>
        </p:xfrm>
        <a:graphic>
          <a:graphicData uri="http://schemas.openxmlformats.org/drawingml/2006/table">
            <a:tbl>
              <a:tblPr/>
              <a:tblGrid>
                <a:gridCol w="564205">
                  <a:extLst>
                    <a:ext uri="{9D8B030D-6E8A-4147-A177-3AD203B41FA5}">
                      <a16:colId xmlns:a16="http://schemas.microsoft.com/office/drawing/2014/main" val="3165846982"/>
                    </a:ext>
                  </a:extLst>
                </a:gridCol>
                <a:gridCol w="778212">
                  <a:extLst>
                    <a:ext uri="{9D8B030D-6E8A-4147-A177-3AD203B41FA5}">
                      <a16:colId xmlns:a16="http://schemas.microsoft.com/office/drawing/2014/main" val="253956358"/>
                    </a:ext>
                  </a:extLst>
                </a:gridCol>
                <a:gridCol w="954572">
                  <a:extLst>
                    <a:ext uri="{9D8B030D-6E8A-4147-A177-3AD203B41FA5}">
                      <a16:colId xmlns:a16="http://schemas.microsoft.com/office/drawing/2014/main" val="871298941"/>
                    </a:ext>
                  </a:extLst>
                </a:gridCol>
                <a:gridCol w="1018442">
                  <a:extLst>
                    <a:ext uri="{9D8B030D-6E8A-4147-A177-3AD203B41FA5}">
                      <a16:colId xmlns:a16="http://schemas.microsoft.com/office/drawing/2014/main" val="1591833602"/>
                    </a:ext>
                  </a:extLst>
                </a:gridCol>
                <a:gridCol w="828858">
                  <a:extLst>
                    <a:ext uri="{9D8B030D-6E8A-4147-A177-3AD203B41FA5}">
                      <a16:colId xmlns:a16="http://schemas.microsoft.com/office/drawing/2014/main" val="3345433150"/>
                    </a:ext>
                  </a:extLst>
                </a:gridCol>
              </a:tblGrid>
              <a:tr h="0">
                <a:tc>
                  <a:txBody>
                    <a:bodyPr/>
                    <a:lstStyle/>
                    <a:p>
                      <a:pPr>
                        <a:buNone/>
                      </a:pPr>
                      <a:endParaRPr lang="en-GB" sz="1600" dirty="0"/>
                    </a:p>
                  </a:txBody>
                  <a:tcPr anchor="ctr">
                    <a:lnL>
                      <a:noFill/>
                    </a:lnL>
                    <a:lnR>
                      <a:noFill/>
                    </a:lnR>
                    <a:lnT>
                      <a:noFill/>
                    </a:lnT>
                    <a:lnB>
                      <a:noFill/>
                    </a:lnB>
                    <a:noFill/>
                  </a:tcPr>
                </a:tc>
                <a:tc>
                  <a:txBody>
                    <a:bodyPr/>
                    <a:lstStyle/>
                    <a:p>
                      <a:pPr>
                        <a:buNone/>
                      </a:pPr>
                      <a:r>
                        <a:rPr lang="en-GB" sz="1600" dirty="0"/>
                        <a:t>Sex</a:t>
                      </a:r>
                    </a:p>
                  </a:txBody>
                  <a:tcPr anchor="ctr">
                    <a:lnL>
                      <a:noFill/>
                    </a:lnL>
                    <a:lnR>
                      <a:noFill/>
                    </a:lnR>
                    <a:lnT>
                      <a:noFill/>
                    </a:lnT>
                    <a:lnB>
                      <a:noFill/>
                    </a:lnB>
                    <a:noFill/>
                  </a:tcPr>
                </a:tc>
                <a:tc>
                  <a:txBody>
                    <a:bodyPr/>
                    <a:lstStyle/>
                    <a:p>
                      <a:pPr>
                        <a:buNone/>
                      </a:pPr>
                      <a:r>
                        <a:rPr lang="en-GB" sz="1600" dirty="0"/>
                        <a:t>Age</a:t>
                      </a:r>
                    </a:p>
                  </a:txBody>
                  <a:tcPr anchor="ctr">
                    <a:lnL>
                      <a:noFill/>
                    </a:lnL>
                    <a:lnR>
                      <a:noFill/>
                    </a:lnR>
                    <a:lnT>
                      <a:noFill/>
                    </a:lnT>
                    <a:lnB>
                      <a:noFill/>
                    </a:lnB>
                    <a:noFill/>
                  </a:tcPr>
                </a:tc>
                <a:tc>
                  <a:txBody>
                    <a:bodyPr/>
                    <a:lstStyle/>
                    <a:p>
                      <a:pPr>
                        <a:buNone/>
                      </a:pPr>
                      <a:r>
                        <a:rPr lang="en-GB" sz="1600" dirty="0"/>
                        <a:t>Budget (£)</a:t>
                      </a:r>
                    </a:p>
                  </a:txBody>
                  <a:tcPr anchor="ctr">
                    <a:lnL>
                      <a:noFill/>
                    </a:lnL>
                    <a:lnR>
                      <a:noFill/>
                    </a:lnR>
                    <a:lnT>
                      <a:noFill/>
                    </a:lnT>
                    <a:lnB>
                      <a:noFill/>
                    </a:lnB>
                    <a:noFill/>
                  </a:tcPr>
                </a:tc>
                <a:tc>
                  <a:txBody>
                    <a:bodyPr/>
                    <a:lstStyle/>
                    <a:p>
                      <a:pPr>
                        <a:buNone/>
                      </a:pPr>
                      <a:r>
                        <a:rPr lang="en-GB" sz="1600" dirty="0"/>
                        <a:t>Liked?</a:t>
                      </a:r>
                    </a:p>
                  </a:txBody>
                  <a:tcPr anchor="ctr">
                    <a:lnL>
                      <a:noFill/>
                    </a:lnL>
                    <a:lnR>
                      <a:noFill/>
                    </a:lnR>
                    <a:lnT>
                      <a:noFill/>
                    </a:lnT>
                    <a:lnB>
                      <a:noFill/>
                    </a:lnB>
                    <a:noFill/>
                  </a:tcPr>
                </a:tc>
                <a:extLst>
                  <a:ext uri="{0D108BD9-81ED-4DB2-BD59-A6C34878D82A}">
                    <a16:rowId xmlns:a16="http://schemas.microsoft.com/office/drawing/2014/main" val="1338726164"/>
                  </a:ext>
                </a:extLst>
              </a:tr>
              <a:tr h="0">
                <a:tc>
                  <a:txBody>
                    <a:bodyPr/>
                    <a:lstStyle/>
                    <a:p>
                      <a:pPr>
                        <a:buNone/>
                      </a:pPr>
                      <a:r>
                        <a:rPr lang="en-GB" sz="1600"/>
                        <a:t>A</a:t>
                      </a:r>
                    </a:p>
                  </a:txBody>
                  <a:tcPr anchor="ctr">
                    <a:lnL>
                      <a:noFill/>
                    </a:lnL>
                    <a:lnR>
                      <a:noFill/>
                    </a:lnR>
                    <a:lnT>
                      <a:noFill/>
                    </a:lnT>
                    <a:lnB>
                      <a:noFill/>
                    </a:lnB>
                    <a:noFill/>
                  </a:tcPr>
                </a:tc>
                <a:tc>
                  <a:txBody>
                    <a:bodyPr/>
                    <a:lstStyle/>
                    <a:p>
                      <a:pPr>
                        <a:buNone/>
                      </a:pPr>
                      <a:r>
                        <a:rPr lang="en-GB" sz="1600" dirty="0"/>
                        <a:t>F(0)</a:t>
                      </a:r>
                    </a:p>
                  </a:txBody>
                  <a:tcPr anchor="ctr">
                    <a:lnL>
                      <a:noFill/>
                    </a:lnL>
                    <a:lnR>
                      <a:noFill/>
                    </a:lnR>
                    <a:lnT>
                      <a:noFill/>
                    </a:lnT>
                    <a:lnB>
                      <a:noFill/>
                    </a:lnB>
                    <a:noFill/>
                  </a:tcPr>
                </a:tc>
                <a:tc>
                  <a:txBody>
                    <a:bodyPr/>
                    <a:lstStyle/>
                    <a:p>
                      <a:pPr>
                        <a:buNone/>
                      </a:pPr>
                      <a:r>
                        <a:rPr lang="en-GB" sz="1600"/>
                        <a:t>27</a:t>
                      </a:r>
                    </a:p>
                  </a:txBody>
                  <a:tcPr anchor="ctr">
                    <a:lnL>
                      <a:noFill/>
                    </a:lnL>
                    <a:lnR>
                      <a:noFill/>
                    </a:lnR>
                    <a:lnT>
                      <a:noFill/>
                    </a:lnT>
                    <a:lnB>
                      <a:noFill/>
                    </a:lnB>
                    <a:noFill/>
                  </a:tcPr>
                </a:tc>
                <a:tc>
                  <a:txBody>
                    <a:bodyPr/>
                    <a:lstStyle/>
                    <a:p>
                      <a:pPr>
                        <a:buNone/>
                      </a:pPr>
                      <a:r>
                        <a:rPr lang="en-GB" sz="1600"/>
                        <a:t>250</a:t>
                      </a:r>
                    </a:p>
                  </a:txBody>
                  <a:tcPr anchor="ctr">
                    <a:lnL>
                      <a:noFill/>
                    </a:lnL>
                    <a:lnR>
                      <a:noFill/>
                    </a:lnR>
                    <a:lnT>
                      <a:noFill/>
                    </a:lnT>
                    <a:lnB>
                      <a:noFill/>
                    </a:lnB>
                    <a:noFill/>
                  </a:tcPr>
                </a:tc>
                <a:tc>
                  <a:txBody>
                    <a:bodyPr/>
                    <a:lstStyle/>
                    <a:p>
                      <a:pPr>
                        <a:buNone/>
                      </a:pPr>
                      <a:r>
                        <a:rPr lang="en-GB" sz="1600" dirty="0"/>
                        <a:t>Yes</a:t>
                      </a:r>
                    </a:p>
                  </a:txBody>
                  <a:tcPr anchor="ctr">
                    <a:lnL>
                      <a:noFill/>
                    </a:lnL>
                    <a:lnR>
                      <a:noFill/>
                    </a:lnR>
                    <a:lnT>
                      <a:noFill/>
                    </a:lnT>
                    <a:lnB>
                      <a:noFill/>
                    </a:lnB>
                    <a:noFill/>
                  </a:tcPr>
                </a:tc>
                <a:extLst>
                  <a:ext uri="{0D108BD9-81ED-4DB2-BD59-A6C34878D82A}">
                    <a16:rowId xmlns:a16="http://schemas.microsoft.com/office/drawing/2014/main" val="1200200728"/>
                  </a:ext>
                </a:extLst>
              </a:tr>
              <a:tr h="0">
                <a:tc>
                  <a:txBody>
                    <a:bodyPr/>
                    <a:lstStyle/>
                    <a:p>
                      <a:pPr>
                        <a:buNone/>
                      </a:pPr>
                      <a:r>
                        <a:rPr lang="en-GB" sz="1600"/>
                        <a:t>B</a:t>
                      </a:r>
                    </a:p>
                  </a:txBody>
                  <a:tcPr anchor="ctr">
                    <a:lnL>
                      <a:noFill/>
                    </a:lnL>
                    <a:lnR>
                      <a:noFill/>
                    </a:lnR>
                    <a:lnT>
                      <a:noFill/>
                    </a:lnT>
                    <a:lnB>
                      <a:noFill/>
                    </a:lnB>
                    <a:noFill/>
                  </a:tcPr>
                </a:tc>
                <a:tc>
                  <a:txBody>
                    <a:bodyPr/>
                    <a:lstStyle/>
                    <a:p>
                      <a:pPr>
                        <a:buNone/>
                      </a:pPr>
                      <a:r>
                        <a:rPr lang="en-GB" sz="1600" dirty="0"/>
                        <a:t>M(1)</a:t>
                      </a:r>
                    </a:p>
                  </a:txBody>
                  <a:tcPr anchor="ctr">
                    <a:lnL>
                      <a:noFill/>
                    </a:lnL>
                    <a:lnR>
                      <a:noFill/>
                    </a:lnR>
                    <a:lnT>
                      <a:noFill/>
                    </a:lnT>
                    <a:lnB>
                      <a:noFill/>
                    </a:lnB>
                    <a:noFill/>
                  </a:tcPr>
                </a:tc>
                <a:tc>
                  <a:txBody>
                    <a:bodyPr/>
                    <a:lstStyle/>
                    <a:p>
                      <a:pPr>
                        <a:buNone/>
                      </a:pPr>
                      <a:r>
                        <a:rPr lang="en-GB" sz="1600"/>
                        <a:t>30</a:t>
                      </a:r>
                    </a:p>
                  </a:txBody>
                  <a:tcPr anchor="ctr">
                    <a:lnL>
                      <a:noFill/>
                    </a:lnL>
                    <a:lnR>
                      <a:noFill/>
                    </a:lnR>
                    <a:lnT>
                      <a:noFill/>
                    </a:lnT>
                    <a:lnB>
                      <a:noFill/>
                    </a:lnB>
                    <a:noFill/>
                  </a:tcPr>
                </a:tc>
                <a:tc>
                  <a:txBody>
                    <a:bodyPr/>
                    <a:lstStyle/>
                    <a:p>
                      <a:pPr>
                        <a:buNone/>
                      </a:pPr>
                      <a:r>
                        <a:rPr lang="en-GB" sz="1600"/>
                        <a:t>80</a:t>
                      </a:r>
                    </a:p>
                  </a:txBody>
                  <a:tcPr anchor="ctr">
                    <a:lnL>
                      <a:noFill/>
                    </a:lnL>
                    <a:lnR>
                      <a:noFill/>
                    </a:lnR>
                    <a:lnT>
                      <a:noFill/>
                    </a:lnT>
                    <a:lnB>
                      <a:noFill/>
                    </a:lnB>
                    <a:noFill/>
                  </a:tcPr>
                </a:tc>
                <a:tc>
                  <a:txBody>
                    <a:bodyPr/>
                    <a:lstStyle/>
                    <a:p>
                      <a:pPr>
                        <a:buNone/>
                      </a:pPr>
                      <a:r>
                        <a:rPr lang="en-GB" sz="1600" dirty="0"/>
                        <a:t>No</a:t>
                      </a:r>
                    </a:p>
                  </a:txBody>
                  <a:tcPr anchor="ctr">
                    <a:lnL>
                      <a:noFill/>
                    </a:lnL>
                    <a:lnR>
                      <a:noFill/>
                    </a:lnR>
                    <a:lnT>
                      <a:noFill/>
                    </a:lnT>
                    <a:lnB>
                      <a:noFill/>
                    </a:lnB>
                    <a:noFill/>
                  </a:tcPr>
                </a:tc>
                <a:extLst>
                  <a:ext uri="{0D108BD9-81ED-4DB2-BD59-A6C34878D82A}">
                    <a16:rowId xmlns:a16="http://schemas.microsoft.com/office/drawing/2014/main" val="99534381"/>
                  </a:ext>
                </a:extLst>
              </a:tr>
              <a:tr h="0">
                <a:tc>
                  <a:txBody>
                    <a:bodyPr/>
                    <a:lstStyle/>
                    <a:p>
                      <a:pPr>
                        <a:buNone/>
                      </a:pPr>
                      <a:r>
                        <a:rPr lang="en-GB" sz="1600"/>
                        <a:t>C</a:t>
                      </a:r>
                    </a:p>
                  </a:txBody>
                  <a:tcPr anchor="ctr">
                    <a:lnL>
                      <a:noFill/>
                    </a:lnL>
                    <a:lnR>
                      <a:noFill/>
                    </a:lnR>
                    <a:lnT>
                      <a:noFill/>
                    </a:lnT>
                    <a:lnB>
                      <a:noFill/>
                    </a:lnB>
                    <a:noFill/>
                  </a:tcPr>
                </a:tc>
                <a:tc>
                  <a:txBody>
                    <a:bodyPr/>
                    <a:lstStyle/>
                    <a:p>
                      <a:pPr>
                        <a:buNone/>
                      </a:pPr>
                      <a:r>
                        <a:rPr lang="en-GB" sz="1600" dirty="0"/>
                        <a:t>F(0)</a:t>
                      </a:r>
                    </a:p>
                  </a:txBody>
                  <a:tcPr anchor="ctr">
                    <a:lnL>
                      <a:noFill/>
                    </a:lnL>
                    <a:lnR>
                      <a:noFill/>
                    </a:lnR>
                    <a:lnT>
                      <a:noFill/>
                    </a:lnT>
                    <a:lnB>
                      <a:noFill/>
                    </a:lnB>
                    <a:noFill/>
                  </a:tcPr>
                </a:tc>
                <a:tc>
                  <a:txBody>
                    <a:bodyPr/>
                    <a:lstStyle/>
                    <a:p>
                      <a:pPr>
                        <a:buNone/>
                      </a:pPr>
                      <a:r>
                        <a:rPr lang="en-GB" sz="1600"/>
                        <a:t>26</a:t>
                      </a:r>
                    </a:p>
                  </a:txBody>
                  <a:tcPr anchor="ctr">
                    <a:lnL>
                      <a:noFill/>
                    </a:lnL>
                    <a:lnR>
                      <a:noFill/>
                    </a:lnR>
                    <a:lnT>
                      <a:noFill/>
                    </a:lnT>
                    <a:lnB>
                      <a:noFill/>
                    </a:lnB>
                    <a:noFill/>
                  </a:tcPr>
                </a:tc>
                <a:tc>
                  <a:txBody>
                    <a:bodyPr/>
                    <a:lstStyle/>
                    <a:p>
                      <a:pPr>
                        <a:buNone/>
                      </a:pPr>
                      <a:r>
                        <a:rPr lang="en-GB" sz="1600" dirty="0"/>
                        <a:t>220</a:t>
                      </a:r>
                    </a:p>
                  </a:txBody>
                  <a:tcPr anchor="ctr">
                    <a:lnL>
                      <a:noFill/>
                    </a:lnL>
                    <a:lnR>
                      <a:noFill/>
                    </a:lnR>
                    <a:lnT>
                      <a:noFill/>
                    </a:lnT>
                    <a:lnB>
                      <a:noFill/>
                    </a:lnB>
                    <a:noFill/>
                  </a:tcPr>
                </a:tc>
                <a:tc>
                  <a:txBody>
                    <a:bodyPr/>
                    <a:lstStyle/>
                    <a:p>
                      <a:pPr>
                        <a:buNone/>
                      </a:pPr>
                      <a:r>
                        <a:rPr lang="en-GB" sz="1600"/>
                        <a:t>Yes</a:t>
                      </a:r>
                    </a:p>
                  </a:txBody>
                  <a:tcPr anchor="ctr">
                    <a:lnL>
                      <a:noFill/>
                    </a:lnL>
                    <a:lnR>
                      <a:noFill/>
                    </a:lnR>
                    <a:lnT>
                      <a:noFill/>
                    </a:lnT>
                    <a:lnB>
                      <a:noFill/>
                    </a:lnB>
                    <a:noFill/>
                  </a:tcPr>
                </a:tc>
                <a:extLst>
                  <a:ext uri="{0D108BD9-81ED-4DB2-BD59-A6C34878D82A}">
                    <a16:rowId xmlns:a16="http://schemas.microsoft.com/office/drawing/2014/main" val="1819996012"/>
                  </a:ext>
                </a:extLst>
              </a:tr>
              <a:tr h="0">
                <a:tc>
                  <a:txBody>
                    <a:bodyPr/>
                    <a:lstStyle/>
                    <a:p>
                      <a:pPr>
                        <a:buNone/>
                      </a:pPr>
                      <a:r>
                        <a:rPr lang="en-GB" sz="1600"/>
                        <a:t>D</a:t>
                      </a:r>
                    </a:p>
                  </a:txBody>
                  <a:tcPr anchor="ctr">
                    <a:lnL>
                      <a:noFill/>
                    </a:lnL>
                    <a:lnR>
                      <a:noFill/>
                    </a:lnR>
                    <a:lnT>
                      <a:noFill/>
                    </a:lnT>
                    <a:lnB>
                      <a:noFill/>
                    </a:lnB>
                    <a:noFill/>
                  </a:tcPr>
                </a:tc>
                <a:tc>
                  <a:txBody>
                    <a:bodyPr/>
                    <a:lstStyle/>
                    <a:p>
                      <a:pPr>
                        <a:buNone/>
                      </a:pPr>
                      <a:r>
                        <a:rPr lang="en-GB" sz="1600" dirty="0"/>
                        <a:t>M(1)</a:t>
                      </a:r>
                    </a:p>
                  </a:txBody>
                  <a:tcPr anchor="ctr">
                    <a:lnL>
                      <a:noFill/>
                    </a:lnL>
                    <a:lnR>
                      <a:noFill/>
                    </a:lnR>
                    <a:lnT>
                      <a:noFill/>
                    </a:lnT>
                    <a:lnB>
                      <a:noFill/>
                    </a:lnB>
                    <a:noFill/>
                  </a:tcPr>
                </a:tc>
                <a:tc>
                  <a:txBody>
                    <a:bodyPr/>
                    <a:lstStyle/>
                    <a:p>
                      <a:pPr>
                        <a:buNone/>
                      </a:pPr>
                      <a:r>
                        <a:rPr lang="en-GB" sz="1600"/>
                        <a:t>29</a:t>
                      </a:r>
                    </a:p>
                  </a:txBody>
                  <a:tcPr anchor="ctr">
                    <a:lnL>
                      <a:noFill/>
                    </a:lnL>
                    <a:lnR>
                      <a:noFill/>
                    </a:lnR>
                    <a:lnT>
                      <a:noFill/>
                    </a:lnT>
                    <a:lnB>
                      <a:noFill/>
                    </a:lnB>
                    <a:noFill/>
                  </a:tcPr>
                </a:tc>
                <a:tc>
                  <a:txBody>
                    <a:bodyPr/>
                    <a:lstStyle/>
                    <a:p>
                      <a:pPr>
                        <a:buNone/>
                      </a:pPr>
                      <a:r>
                        <a:rPr lang="en-GB" sz="1600"/>
                        <a:t>200</a:t>
                      </a:r>
                    </a:p>
                  </a:txBody>
                  <a:tcPr anchor="ctr">
                    <a:lnL>
                      <a:noFill/>
                    </a:lnL>
                    <a:lnR>
                      <a:noFill/>
                    </a:lnR>
                    <a:lnT>
                      <a:noFill/>
                    </a:lnT>
                    <a:lnB>
                      <a:noFill/>
                    </a:lnB>
                    <a:noFill/>
                  </a:tcPr>
                </a:tc>
                <a:tc>
                  <a:txBody>
                    <a:bodyPr/>
                    <a:lstStyle/>
                    <a:p>
                      <a:pPr>
                        <a:buNone/>
                      </a:pPr>
                      <a:r>
                        <a:rPr lang="en-GB" sz="1600"/>
                        <a:t>Yes</a:t>
                      </a:r>
                    </a:p>
                  </a:txBody>
                  <a:tcPr anchor="ctr">
                    <a:lnL>
                      <a:noFill/>
                    </a:lnL>
                    <a:lnR>
                      <a:noFill/>
                    </a:lnR>
                    <a:lnT>
                      <a:noFill/>
                    </a:lnT>
                    <a:lnB>
                      <a:noFill/>
                    </a:lnB>
                    <a:noFill/>
                  </a:tcPr>
                </a:tc>
                <a:extLst>
                  <a:ext uri="{0D108BD9-81ED-4DB2-BD59-A6C34878D82A}">
                    <a16:rowId xmlns:a16="http://schemas.microsoft.com/office/drawing/2014/main" val="1077609614"/>
                  </a:ext>
                </a:extLst>
              </a:tr>
              <a:tr h="0">
                <a:tc>
                  <a:txBody>
                    <a:bodyPr/>
                    <a:lstStyle/>
                    <a:p>
                      <a:pPr>
                        <a:buNone/>
                      </a:pPr>
                      <a:r>
                        <a:rPr lang="en-GB" sz="1600"/>
                        <a:t>E</a:t>
                      </a:r>
                    </a:p>
                  </a:txBody>
                  <a:tcPr anchor="ctr">
                    <a:lnL>
                      <a:noFill/>
                    </a:lnL>
                    <a:lnR>
                      <a:noFill/>
                    </a:lnR>
                    <a:lnT>
                      <a:noFill/>
                    </a:lnT>
                    <a:lnB>
                      <a:noFill/>
                    </a:lnB>
                    <a:noFill/>
                  </a:tcPr>
                </a:tc>
                <a:tc>
                  <a:txBody>
                    <a:bodyPr/>
                    <a:lstStyle/>
                    <a:p>
                      <a:pPr>
                        <a:buNone/>
                      </a:pPr>
                      <a:r>
                        <a:rPr lang="en-GB" sz="1600" dirty="0"/>
                        <a:t>M(1)</a:t>
                      </a:r>
                    </a:p>
                  </a:txBody>
                  <a:tcPr anchor="ctr">
                    <a:lnL>
                      <a:noFill/>
                    </a:lnL>
                    <a:lnR>
                      <a:noFill/>
                    </a:lnR>
                    <a:lnT>
                      <a:noFill/>
                    </a:lnT>
                    <a:lnB>
                      <a:noFill/>
                    </a:lnB>
                    <a:noFill/>
                  </a:tcPr>
                </a:tc>
                <a:tc>
                  <a:txBody>
                    <a:bodyPr/>
                    <a:lstStyle/>
                    <a:p>
                      <a:pPr>
                        <a:buNone/>
                      </a:pPr>
                      <a:r>
                        <a:rPr lang="en-GB" sz="1600"/>
                        <a:t>31</a:t>
                      </a:r>
                    </a:p>
                  </a:txBody>
                  <a:tcPr anchor="ctr">
                    <a:lnL>
                      <a:noFill/>
                    </a:lnL>
                    <a:lnR>
                      <a:noFill/>
                    </a:lnR>
                    <a:lnT>
                      <a:noFill/>
                    </a:lnT>
                    <a:lnB>
                      <a:noFill/>
                    </a:lnB>
                    <a:noFill/>
                  </a:tcPr>
                </a:tc>
                <a:tc>
                  <a:txBody>
                    <a:bodyPr/>
                    <a:lstStyle/>
                    <a:p>
                      <a:pPr>
                        <a:buNone/>
                      </a:pPr>
                      <a:r>
                        <a:rPr lang="en-GB" sz="1600"/>
                        <a:t>90</a:t>
                      </a:r>
                    </a:p>
                  </a:txBody>
                  <a:tcPr anchor="ctr">
                    <a:lnL>
                      <a:noFill/>
                    </a:lnL>
                    <a:lnR>
                      <a:noFill/>
                    </a:lnR>
                    <a:lnT>
                      <a:noFill/>
                    </a:lnT>
                    <a:lnB>
                      <a:noFill/>
                    </a:lnB>
                    <a:noFill/>
                  </a:tcPr>
                </a:tc>
                <a:tc>
                  <a:txBody>
                    <a:bodyPr/>
                    <a:lstStyle/>
                    <a:p>
                      <a:pPr>
                        <a:buNone/>
                      </a:pPr>
                      <a:r>
                        <a:rPr lang="en-GB" sz="1600"/>
                        <a:t>No</a:t>
                      </a:r>
                    </a:p>
                  </a:txBody>
                  <a:tcPr anchor="ctr">
                    <a:lnL>
                      <a:noFill/>
                    </a:lnL>
                    <a:lnR>
                      <a:noFill/>
                    </a:lnR>
                    <a:lnT>
                      <a:noFill/>
                    </a:lnT>
                    <a:lnB>
                      <a:noFill/>
                    </a:lnB>
                    <a:noFill/>
                  </a:tcPr>
                </a:tc>
                <a:extLst>
                  <a:ext uri="{0D108BD9-81ED-4DB2-BD59-A6C34878D82A}">
                    <a16:rowId xmlns:a16="http://schemas.microsoft.com/office/drawing/2014/main" val="1916282748"/>
                  </a:ext>
                </a:extLst>
              </a:tr>
              <a:tr h="0">
                <a:tc>
                  <a:txBody>
                    <a:bodyPr/>
                    <a:lstStyle/>
                    <a:p>
                      <a:pPr>
                        <a:buNone/>
                      </a:pPr>
                      <a:r>
                        <a:rPr lang="en-GB" sz="1600"/>
                        <a:t>F</a:t>
                      </a:r>
                    </a:p>
                  </a:txBody>
                  <a:tcPr anchor="ctr">
                    <a:lnL>
                      <a:noFill/>
                    </a:lnL>
                    <a:lnR>
                      <a:noFill/>
                    </a:lnR>
                    <a:lnT>
                      <a:noFill/>
                    </a:lnT>
                    <a:lnB>
                      <a:noFill/>
                    </a:lnB>
                    <a:noFill/>
                  </a:tcPr>
                </a:tc>
                <a:tc>
                  <a:txBody>
                    <a:bodyPr/>
                    <a:lstStyle/>
                    <a:p>
                      <a:pPr>
                        <a:buNone/>
                      </a:pPr>
                      <a:r>
                        <a:rPr lang="en-GB" sz="1600" dirty="0"/>
                        <a:t>M(1)</a:t>
                      </a:r>
                    </a:p>
                  </a:txBody>
                  <a:tcPr anchor="ctr">
                    <a:lnL>
                      <a:noFill/>
                    </a:lnL>
                    <a:lnR>
                      <a:noFill/>
                    </a:lnR>
                    <a:lnT>
                      <a:noFill/>
                    </a:lnT>
                    <a:lnB>
                      <a:noFill/>
                    </a:lnB>
                    <a:noFill/>
                  </a:tcPr>
                </a:tc>
                <a:tc>
                  <a:txBody>
                    <a:bodyPr/>
                    <a:lstStyle/>
                    <a:p>
                      <a:pPr>
                        <a:buNone/>
                      </a:pPr>
                      <a:r>
                        <a:rPr lang="en-GB" sz="1600"/>
                        <a:t>45</a:t>
                      </a:r>
                    </a:p>
                  </a:txBody>
                  <a:tcPr anchor="ctr">
                    <a:lnL>
                      <a:noFill/>
                    </a:lnL>
                    <a:lnR>
                      <a:noFill/>
                    </a:lnR>
                    <a:lnT>
                      <a:noFill/>
                    </a:lnT>
                    <a:lnB>
                      <a:noFill/>
                    </a:lnB>
                    <a:noFill/>
                  </a:tcPr>
                </a:tc>
                <a:tc>
                  <a:txBody>
                    <a:bodyPr/>
                    <a:lstStyle/>
                    <a:p>
                      <a:pPr>
                        <a:buNone/>
                      </a:pPr>
                      <a:r>
                        <a:rPr lang="en-GB" sz="1600" dirty="0"/>
                        <a:t>60</a:t>
                      </a:r>
                    </a:p>
                  </a:txBody>
                  <a:tcPr anchor="ctr">
                    <a:lnL>
                      <a:noFill/>
                    </a:lnL>
                    <a:lnR>
                      <a:noFill/>
                    </a:lnR>
                    <a:lnT>
                      <a:noFill/>
                    </a:lnT>
                    <a:lnB>
                      <a:noFill/>
                    </a:lnB>
                    <a:noFill/>
                  </a:tcPr>
                </a:tc>
                <a:tc>
                  <a:txBody>
                    <a:bodyPr/>
                    <a:lstStyle/>
                    <a:p>
                      <a:pPr>
                        <a:buNone/>
                      </a:pPr>
                      <a:r>
                        <a:rPr lang="en-GB" sz="1600" dirty="0"/>
                        <a:t>No</a:t>
                      </a:r>
                    </a:p>
                  </a:txBody>
                  <a:tcPr anchor="ctr">
                    <a:lnL>
                      <a:noFill/>
                    </a:lnL>
                    <a:lnR>
                      <a:noFill/>
                    </a:lnR>
                    <a:lnT>
                      <a:noFill/>
                    </a:lnT>
                    <a:lnB>
                      <a:noFill/>
                    </a:lnB>
                    <a:noFill/>
                  </a:tcPr>
                </a:tc>
                <a:extLst>
                  <a:ext uri="{0D108BD9-81ED-4DB2-BD59-A6C34878D82A}">
                    <a16:rowId xmlns:a16="http://schemas.microsoft.com/office/drawing/2014/main" val="1139826293"/>
                  </a:ext>
                </a:extLst>
              </a:tr>
              <a:tr h="0">
                <a:tc>
                  <a:txBody>
                    <a:bodyPr/>
                    <a:lstStyle/>
                    <a:p>
                      <a:pPr>
                        <a:buNone/>
                      </a:pPr>
                      <a:endParaRPr lang="en-GB" sz="1600" dirty="0"/>
                    </a:p>
                  </a:txBody>
                  <a:tcPr anchor="ctr">
                    <a:lnL>
                      <a:noFill/>
                    </a:lnL>
                    <a:lnR>
                      <a:noFill/>
                    </a:lnR>
                    <a:lnT>
                      <a:noFill/>
                    </a:lnT>
                    <a:lnB>
                      <a:noFill/>
                    </a:lnB>
                    <a:noFill/>
                  </a:tcPr>
                </a:tc>
                <a:tc>
                  <a:txBody>
                    <a:bodyPr/>
                    <a:lstStyle/>
                    <a:p>
                      <a:pPr>
                        <a:buNone/>
                      </a:pPr>
                      <a:r>
                        <a:rPr lang="en-GB" sz="1600" dirty="0">
                          <a:solidFill>
                            <a:srgbClr val="FE0E67"/>
                          </a:solidFill>
                        </a:rPr>
                        <a:t>F(0)</a:t>
                      </a:r>
                    </a:p>
                  </a:txBody>
                  <a:tcPr anchor="ctr">
                    <a:lnL>
                      <a:noFill/>
                    </a:lnL>
                    <a:lnR>
                      <a:noFill/>
                    </a:lnR>
                    <a:lnT>
                      <a:noFill/>
                    </a:lnT>
                    <a:lnB>
                      <a:noFill/>
                    </a:lnB>
                    <a:noFill/>
                  </a:tcPr>
                </a:tc>
                <a:tc>
                  <a:txBody>
                    <a:bodyPr/>
                    <a:lstStyle/>
                    <a:p>
                      <a:pPr>
                        <a:buNone/>
                      </a:pPr>
                      <a:r>
                        <a:rPr lang="en-GB" sz="1600" dirty="0">
                          <a:solidFill>
                            <a:srgbClr val="FE0E67"/>
                          </a:solidFill>
                        </a:rPr>
                        <a:t>29</a:t>
                      </a:r>
                    </a:p>
                  </a:txBody>
                  <a:tcPr anchor="ctr">
                    <a:lnL>
                      <a:noFill/>
                    </a:lnL>
                    <a:lnR>
                      <a:noFill/>
                    </a:lnR>
                    <a:lnT>
                      <a:noFill/>
                    </a:lnT>
                    <a:lnB>
                      <a:noFill/>
                    </a:lnB>
                    <a:noFill/>
                  </a:tcPr>
                </a:tc>
                <a:tc>
                  <a:txBody>
                    <a:bodyPr/>
                    <a:lstStyle/>
                    <a:p>
                      <a:pPr>
                        <a:buNone/>
                      </a:pPr>
                      <a:r>
                        <a:rPr lang="en-GB" sz="1600" dirty="0">
                          <a:solidFill>
                            <a:srgbClr val="FE0E67"/>
                          </a:solidFill>
                        </a:rPr>
                        <a:t>150</a:t>
                      </a:r>
                    </a:p>
                  </a:txBody>
                  <a:tcPr anchor="ctr">
                    <a:lnL>
                      <a:noFill/>
                    </a:lnL>
                    <a:lnR>
                      <a:noFill/>
                    </a:lnR>
                    <a:lnT>
                      <a:noFill/>
                    </a:lnT>
                    <a:lnB>
                      <a:noFill/>
                    </a:lnB>
                    <a:noFill/>
                  </a:tcPr>
                </a:tc>
                <a:tc>
                  <a:txBody>
                    <a:bodyPr/>
                    <a:lstStyle/>
                    <a:p>
                      <a:pPr>
                        <a:buNone/>
                      </a:pPr>
                      <a:r>
                        <a:rPr lang="en-GB" sz="1600" dirty="0">
                          <a:solidFill>
                            <a:srgbClr val="FE0E67"/>
                          </a:solidFill>
                        </a:rPr>
                        <a:t>??</a:t>
                      </a:r>
                    </a:p>
                  </a:txBody>
                  <a:tcPr anchor="ctr">
                    <a:lnL>
                      <a:noFill/>
                    </a:lnL>
                    <a:lnR>
                      <a:noFill/>
                    </a:lnR>
                    <a:lnT>
                      <a:noFill/>
                    </a:lnT>
                    <a:lnB>
                      <a:noFill/>
                    </a:lnB>
                    <a:noFill/>
                  </a:tcPr>
                </a:tc>
                <a:extLst>
                  <a:ext uri="{0D108BD9-81ED-4DB2-BD59-A6C34878D82A}">
                    <a16:rowId xmlns:a16="http://schemas.microsoft.com/office/drawing/2014/main" val="3129643606"/>
                  </a:ext>
                </a:extLst>
              </a:tr>
            </a:tbl>
          </a:graphicData>
        </a:graphic>
      </p:graphicFrame>
      <p:sp>
        <p:nvSpPr>
          <p:cNvPr id="17" name="TextBox 16">
            <a:extLst>
              <a:ext uri="{FF2B5EF4-FFF2-40B4-BE49-F238E27FC236}">
                <a16:creationId xmlns:a16="http://schemas.microsoft.com/office/drawing/2014/main" id="{8721FB0C-D67D-4683-358D-C8D739A55070}"/>
              </a:ext>
            </a:extLst>
          </p:cNvPr>
          <p:cNvSpPr txBox="1"/>
          <p:nvPr/>
        </p:nvSpPr>
        <p:spPr>
          <a:xfrm>
            <a:off x="4887009" y="1433449"/>
            <a:ext cx="4888506" cy="2554545"/>
          </a:xfrm>
          <a:prstGeom prst="rect">
            <a:avLst/>
          </a:prstGeom>
          <a:noFill/>
        </p:spPr>
        <p:txBody>
          <a:bodyPr wrap="square">
            <a:spAutoFit/>
          </a:bodyPr>
          <a:lstStyle/>
          <a:p>
            <a:pPr>
              <a:buNone/>
            </a:pPr>
            <a:r>
              <a:rPr lang="en-GB" sz="1600" b="1" dirty="0"/>
              <a:t>Step 1: Calculate Distance</a:t>
            </a:r>
            <a:endParaRPr lang="en-GB" sz="1600" dirty="0"/>
          </a:p>
          <a:p>
            <a:pPr>
              <a:buNone/>
            </a:pPr>
            <a:r>
              <a:rPr lang="en-GB" sz="1600" dirty="0"/>
              <a:t>Distance = Difference in Sex, Age, Budget</a:t>
            </a:r>
          </a:p>
          <a:p>
            <a:pPr>
              <a:buNone/>
            </a:pPr>
            <a:r>
              <a:rPr lang="en-GB" sz="1600" dirty="0"/>
              <a:t>The 5 closest friends: A, C, D, B, E</a:t>
            </a:r>
            <a:br>
              <a:rPr lang="en-GB" sz="1600" dirty="0"/>
            </a:br>
            <a:endParaRPr lang="en-GB" sz="1600" dirty="0"/>
          </a:p>
          <a:p>
            <a:pPr>
              <a:buNone/>
            </a:pPr>
            <a:r>
              <a:rPr lang="en-GB" sz="1600" b="1" dirty="0"/>
              <a:t>Step 2: Majority Vote (k = 5)</a:t>
            </a:r>
          </a:p>
          <a:p>
            <a:pPr>
              <a:buNone/>
            </a:pPr>
            <a:r>
              <a:rPr lang="en-GB" sz="1600" dirty="0"/>
              <a:t>Among these 5 friends:</a:t>
            </a:r>
          </a:p>
          <a:p>
            <a:pPr>
              <a:buFont typeface="Arial" panose="020B0604020202020204" pitchFamily="34" charset="0"/>
              <a:buChar char="•"/>
            </a:pPr>
            <a:r>
              <a:rPr lang="en-GB" sz="1600" dirty="0"/>
              <a:t>Yes → A, C, D (3 votes) ✅ ✅ ✅</a:t>
            </a:r>
          </a:p>
          <a:p>
            <a:pPr>
              <a:buFont typeface="Arial" panose="020B0604020202020204" pitchFamily="34" charset="0"/>
              <a:buChar char="•"/>
            </a:pPr>
            <a:r>
              <a:rPr lang="en-GB" sz="1600" dirty="0"/>
              <a:t>No → B, E (2 votes) ❌ ❌</a:t>
            </a:r>
          </a:p>
          <a:p>
            <a:pPr>
              <a:buNone/>
            </a:pPr>
            <a:endParaRPr lang="en-GB" sz="1600" b="1" dirty="0"/>
          </a:p>
          <a:p>
            <a:pPr>
              <a:buNone/>
            </a:pPr>
            <a:r>
              <a:rPr lang="en-GB" sz="1600" b="1" dirty="0">
                <a:solidFill>
                  <a:srgbClr val="FF0000"/>
                </a:solidFill>
              </a:rPr>
              <a:t>Prediction: ?</a:t>
            </a:r>
          </a:p>
        </p:txBody>
      </p:sp>
    </p:spTree>
    <p:extLst>
      <p:ext uri="{BB962C8B-B14F-4D97-AF65-F5344CB8AC3E}">
        <p14:creationId xmlns:p14="http://schemas.microsoft.com/office/powerpoint/2010/main" val="2223151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81459-412A-1F24-BE78-104F4B75370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244E85E-2DDC-58FE-4255-F7F62D079C7D}"/>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1C91CAAA-3098-06A1-44D3-01335C9F092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6490489E-25B4-5A15-8A06-BEF8C6C5578F}"/>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82FDAF5C-7965-B46E-4C90-770FECAE78F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0F6B3F66-873C-4FC0-F1C2-761E742D0A1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6" name="TextBox 5">
            <a:extLst>
              <a:ext uri="{FF2B5EF4-FFF2-40B4-BE49-F238E27FC236}">
                <a16:creationId xmlns:a16="http://schemas.microsoft.com/office/drawing/2014/main" id="{18B57823-ACB3-72E4-E484-7AC70230A32F}"/>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K-NN – feature scaling</a:t>
            </a:r>
          </a:p>
        </p:txBody>
      </p:sp>
      <p:sp>
        <p:nvSpPr>
          <p:cNvPr id="10" name="object 3">
            <a:extLst>
              <a:ext uri="{FF2B5EF4-FFF2-40B4-BE49-F238E27FC236}">
                <a16:creationId xmlns:a16="http://schemas.microsoft.com/office/drawing/2014/main" id="{CD25508C-C6C8-7AB0-E58A-492F4588EE1F}"/>
              </a:ext>
            </a:extLst>
          </p:cNvPr>
          <p:cNvSpPr txBox="1"/>
          <p:nvPr/>
        </p:nvSpPr>
        <p:spPr>
          <a:xfrm>
            <a:off x="310021" y="1111081"/>
            <a:ext cx="3027767" cy="581369"/>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dirty="0">
                <a:latin typeface="Arial MT"/>
                <a:cs typeface="Arial MT"/>
              </a:rPr>
              <a:t>Why does feature scaling matter?</a:t>
            </a:r>
            <a:endParaRPr dirty="0">
              <a:latin typeface="Arial MT"/>
              <a:cs typeface="Arial MT"/>
            </a:endParaRPr>
          </a:p>
        </p:txBody>
      </p:sp>
      <p:pic>
        <p:nvPicPr>
          <p:cNvPr id="11" name="Picture 10">
            <a:extLst>
              <a:ext uri="{FF2B5EF4-FFF2-40B4-BE49-F238E27FC236}">
                <a16:creationId xmlns:a16="http://schemas.microsoft.com/office/drawing/2014/main" id="{D8165F71-1B4B-E502-0C48-771AC99BCFDB}"/>
              </a:ext>
            </a:extLst>
          </p:cNvPr>
          <p:cNvPicPr>
            <a:picLocks noChangeAspect="1"/>
          </p:cNvPicPr>
          <p:nvPr/>
        </p:nvPicPr>
        <p:blipFill>
          <a:blip r:embed="rId6"/>
          <a:stretch>
            <a:fillRect/>
          </a:stretch>
        </p:blipFill>
        <p:spPr>
          <a:xfrm>
            <a:off x="3518622" y="931037"/>
            <a:ext cx="5766160" cy="3926649"/>
          </a:xfrm>
          <a:prstGeom prst="rect">
            <a:avLst/>
          </a:prstGeom>
        </p:spPr>
      </p:pic>
      <p:sp>
        <p:nvSpPr>
          <p:cNvPr id="12" name="Frame 11">
            <a:extLst>
              <a:ext uri="{FF2B5EF4-FFF2-40B4-BE49-F238E27FC236}">
                <a16:creationId xmlns:a16="http://schemas.microsoft.com/office/drawing/2014/main" id="{4DABE09D-D49B-1515-A4B1-531666E95128}"/>
              </a:ext>
            </a:extLst>
          </p:cNvPr>
          <p:cNvSpPr/>
          <p:nvPr/>
        </p:nvSpPr>
        <p:spPr>
          <a:xfrm>
            <a:off x="5040312" y="4062393"/>
            <a:ext cx="695864" cy="603849"/>
          </a:xfrm>
          <a:prstGeom prst="frame">
            <a:avLst/>
          </a:prstGeom>
          <a:solidFill>
            <a:srgbClr val="FE0E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a:extLst>
              <a:ext uri="{FF2B5EF4-FFF2-40B4-BE49-F238E27FC236}">
                <a16:creationId xmlns:a16="http://schemas.microsoft.com/office/drawing/2014/main" id="{F118F185-614B-93BA-E4DB-4D8FFBA0AB02}"/>
              </a:ext>
            </a:extLst>
          </p:cNvPr>
          <p:cNvSpPr/>
          <p:nvPr/>
        </p:nvSpPr>
        <p:spPr>
          <a:xfrm>
            <a:off x="7794876" y="4062393"/>
            <a:ext cx="695864" cy="603849"/>
          </a:xfrm>
          <a:prstGeom prst="frame">
            <a:avLst/>
          </a:prstGeom>
          <a:solidFill>
            <a:srgbClr val="FE0E6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81302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F9808-535D-E3C2-168B-ADE83FEE577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5292A5A-51F3-13D2-D0B4-79D40FF1202C}"/>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395B4F4F-E486-516F-5443-4ACC5EBF295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37FF8A5-3E04-0290-7FAE-9DE69D6D1261}"/>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2BED21F8-E48D-8DD2-E869-55FB2F78DD6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CC1D4A50-2F5E-9D53-D418-F570B63D4F0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8462886E-0ED4-0341-CB4A-DAF0191EAC03}"/>
              </a:ext>
            </a:extLst>
          </p:cNvPr>
          <p:cNvSpPr txBox="1"/>
          <p:nvPr/>
        </p:nvSpPr>
        <p:spPr>
          <a:xfrm>
            <a:off x="0" y="583155"/>
            <a:ext cx="996845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K-NN</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 Pros &amp; Cons</a:t>
            </a:r>
          </a:p>
        </p:txBody>
      </p:sp>
      <p:sp>
        <p:nvSpPr>
          <p:cNvPr id="2" name="object 3">
            <a:extLst>
              <a:ext uri="{FF2B5EF4-FFF2-40B4-BE49-F238E27FC236}">
                <a16:creationId xmlns:a16="http://schemas.microsoft.com/office/drawing/2014/main" id="{394A5321-63C1-DA3B-E8EB-CB7AB320C457}"/>
              </a:ext>
            </a:extLst>
          </p:cNvPr>
          <p:cNvSpPr/>
          <p:nvPr/>
        </p:nvSpPr>
        <p:spPr>
          <a:xfrm>
            <a:off x="5040312" y="1819298"/>
            <a:ext cx="0" cy="2597755"/>
          </a:xfrm>
          <a:custGeom>
            <a:avLst/>
            <a:gdLst/>
            <a:ahLst/>
            <a:cxnLst/>
            <a:rect l="l" t="t" r="r" b="b"/>
            <a:pathLst>
              <a:path h="5180965">
                <a:moveTo>
                  <a:pt x="0" y="5180663"/>
                </a:moveTo>
                <a:lnTo>
                  <a:pt x="0" y="0"/>
                </a:lnTo>
              </a:path>
            </a:pathLst>
          </a:custGeom>
          <a:ln w="104708">
            <a:solidFill>
              <a:srgbClr val="041D40"/>
            </a:solidFill>
          </a:ln>
        </p:spPr>
        <p:txBody>
          <a:bodyPr wrap="square" lIns="0" tIns="0" rIns="0" bIns="0" rtlCol="0"/>
          <a:lstStyle/>
          <a:p>
            <a:endParaRPr sz="903"/>
          </a:p>
        </p:txBody>
      </p:sp>
      <p:sp>
        <p:nvSpPr>
          <p:cNvPr id="3" name="object 4">
            <a:extLst>
              <a:ext uri="{FF2B5EF4-FFF2-40B4-BE49-F238E27FC236}">
                <a16:creationId xmlns:a16="http://schemas.microsoft.com/office/drawing/2014/main" id="{FC605304-EBFF-FB99-F08D-B47024D54DB9}"/>
              </a:ext>
            </a:extLst>
          </p:cNvPr>
          <p:cNvSpPr txBox="1"/>
          <p:nvPr/>
        </p:nvSpPr>
        <p:spPr>
          <a:xfrm>
            <a:off x="5636860" y="1925408"/>
            <a:ext cx="3082345" cy="312064"/>
          </a:xfrm>
          <a:prstGeom prst="rect">
            <a:avLst/>
          </a:prstGeom>
        </p:spPr>
        <p:txBody>
          <a:bodyPr vert="horz" wrap="square" lIns="0" tIns="42346" rIns="0" bIns="0" rtlCol="0">
            <a:spAutoFit/>
          </a:bodyPr>
          <a:lstStyle/>
          <a:p>
            <a:pPr marL="6368" marR="2547">
              <a:lnSpc>
                <a:spcPts val="2126"/>
              </a:lnSpc>
              <a:spcBef>
                <a:spcPts val="333"/>
              </a:spcBef>
            </a:pPr>
            <a:r>
              <a:rPr sz="1981" dirty="0">
                <a:latin typeface="Arial MT"/>
                <a:cs typeface="Arial MT"/>
              </a:rPr>
              <a:t>Slower </a:t>
            </a:r>
            <a:r>
              <a:rPr sz="1981" spc="25" dirty="0">
                <a:latin typeface="Arial MT"/>
                <a:cs typeface="Arial MT"/>
              </a:rPr>
              <a:t>with </a:t>
            </a:r>
            <a:r>
              <a:rPr sz="1981" spc="-5" dirty="0">
                <a:latin typeface="Arial MT"/>
                <a:cs typeface="Arial MT"/>
              </a:rPr>
              <a:t>large datasets</a:t>
            </a:r>
            <a:endParaRPr sz="1981" dirty="0">
              <a:latin typeface="Arial MT"/>
              <a:cs typeface="Arial MT"/>
            </a:endParaRPr>
          </a:p>
        </p:txBody>
      </p:sp>
      <p:sp>
        <p:nvSpPr>
          <p:cNvPr id="11" name="object 5">
            <a:extLst>
              <a:ext uri="{FF2B5EF4-FFF2-40B4-BE49-F238E27FC236}">
                <a16:creationId xmlns:a16="http://schemas.microsoft.com/office/drawing/2014/main" id="{14A09EAD-2CB8-B001-FFA0-F4798FA34058}"/>
              </a:ext>
            </a:extLst>
          </p:cNvPr>
          <p:cNvSpPr txBox="1"/>
          <p:nvPr/>
        </p:nvSpPr>
        <p:spPr>
          <a:xfrm>
            <a:off x="5662815" y="2739331"/>
            <a:ext cx="3082345" cy="312064"/>
          </a:xfrm>
          <a:prstGeom prst="rect">
            <a:avLst/>
          </a:prstGeom>
        </p:spPr>
        <p:txBody>
          <a:bodyPr vert="horz" wrap="square" lIns="0" tIns="42346" rIns="0" bIns="0" rtlCol="0">
            <a:spAutoFit/>
          </a:bodyPr>
          <a:lstStyle/>
          <a:p>
            <a:pPr marL="6368" marR="2547">
              <a:lnSpc>
                <a:spcPts val="2126"/>
              </a:lnSpc>
              <a:spcBef>
                <a:spcPts val="333"/>
              </a:spcBef>
            </a:pPr>
            <a:r>
              <a:rPr sz="1981" dirty="0">
                <a:latin typeface="Arial MT"/>
                <a:cs typeface="Arial MT"/>
              </a:rPr>
              <a:t>Sensitive</a:t>
            </a:r>
            <a:r>
              <a:rPr sz="1981" spc="-40" dirty="0">
                <a:latin typeface="Arial MT"/>
                <a:cs typeface="Arial MT"/>
              </a:rPr>
              <a:t> </a:t>
            </a:r>
            <a:r>
              <a:rPr sz="1981" spc="48" dirty="0">
                <a:latin typeface="Arial MT"/>
                <a:cs typeface="Arial MT"/>
              </a:rPr>
              <a:t>to</a:t>
            </a:r>
            <a:r>
              <a:rPr sz="1981" spc="-38" dirty="0">
                <a:latin typeface="Arial MT"/>
                <a:cs typeface="Arial MT"/>
              </a:rPr>
              <a:t> </a:t>
            </a:r>
            <a:r>
              <a:rPr sz="1981" spc="-5" dirty="0">
                <a:latin typeface="Arial MT"/>
                <a:cs typeface="Arial MT"/>
              </a:rPr>
              <a:t>feature scaling</a:t>
            </a:r>
            <a:endParaRPr sz="1981" dirty="0">
              <a:latin typeface="Arial MT"/>
              <a:cs typeface="Arial MT"/>
            </a:endParaRPr>
          </a:p>
        </p:txBody>
      </p:sp>
      <p:sp>
        <p:nvSpPr>
          <p:cNvPr id="12" name="object 6">
            <a:extLst>
              <a:ext uri="{FF2B5EF4-FFF2-40B4-BE49-F238E27FC236}">
                <a16:creationId xmlns:a16="http://schemas.microsoft.com/office/drawing/2014/main" id="{9E3CDC2C-B2AB-3D9C-342E-00A875A17F90}"/>
              </a:ext>
            </a:extLst>
          </p:cNvPr>
          <p:cNvSpPr txBox="1"/>
          <p:nvPr/>
        </p:nvSpPr>
        <p:spPr>
          <a:xfrm>
            <a:off x="750404" y="2752767"/>
            <a:ext cx="2001090" cy="311578"/>
          </a:xfrm>
          <a:prstGeom prst="rect">
            <a:avLst/>
          </a:prstGeom>
        </p:spPr>
        <p:txBody>
          <a:bodyPr vert="horz" wrap="square" lIns="0" tIns="6686" rIns="0" bIns="0" rtlCol="0">
            <a:spAutoFit/>
          </a:bodyPr>
          <a:lstStyle/>
          <a:p>
            <a:pPr marL="6368">
              <a:spcBef>
                <a:spcPts val="53"/>
              </a:spcBef>
            </a:pPr>
            <a:r>
              <a:rPr sz="1981" dirty="0">
                <a:latin typeface="Arial MT"/>
                <a:cs typeface="Arial MT"/>
              </a:rPr>
              <a:t>No</a:t>
            </a:r>
            <a:r>
              <a:rPr sz="1981" spc="45" dirty="0">
                <a:latin typeface="Arial MT"/>
                <a:cs typeface="Arial MT"/>
              </a:rPr>
              <a:t> </a:t>
            </a:r>
            <a:r>
              <a:rPr sz="1981" dirty="0">
                <a:latin typeface="Arial MT"/>
                <a:cs typeface="Arial MT"/>
              </a:rPr>
              <a:t>training</a:t>
            </a:r>
            <a:r>
              <a:rPr sz="1981" spc="45" dirty="0">
                <a:latin typeface="Arial MT"/>
                <a:cs typeface="Arial MT"/>
              </a:rPr>
              <a:t> </a:t>
            </a:r>
            <a:r>
              <a:rPr sz="1981" spc="-5" dirty="0">
                <a:latin typeface="Arial MT"/>
                <a:cs typeface="Arial MT"/>
              </a:rPr>
              <a:t>phase</a:t>
            </a:r>
            <a:endParaRPr sz="1981" dirty="0">
              <a:latin typeface="Arial MT"/>
              <a:cs typeface="Arial MT"/>
            </a:endParaRPr>
          </a:p>
        </p:txBody>
      </p:sp>
      <p:sp>
        <p:nvSpPr>
          <p:cNvPr id="13" name="object 7">
            <a:extLst>
              <a:ext uri="{FF2B5EF4-FFF2-40B4-BE49-F238E27FC236}">
                <a16:creationId xmlns:a16="http://schemas.microsoft.com/office/drawing/2014/main" id="{97EE9926-3D94-DE92-1FDB-F8026410016E}"/>
              </a:ext>
            </a:extLst>
          </p:cNvPr>
          <p:cNvSpPr txBox="1"/>
          <p:nvPr/>
        </p:nvSpPr>
        <p:spPr>
          <a:xfrm>
            <a:off x="750404" y="3578849"/>
            <a:ext cx="3858585" cy="311578"/>
          </a:xfrm>
          <a:prstGeom prst="rect">
            <a:avLst/>
          </a:prstGeom>
        </p:spPr>
        <p:txBody>
          <a:bodyPr vert="horz" wrap="square" lIns="0" tIns="6686" rIns="0" bIns="0" rtlCol="0">
            <a:spAutoFit/>
          </a:bodyPr>
          <a:lstStyle/>
          <a:p>
            <a:pPr marL="6368">
              <a:spcBef>
                <a:spcPts val="53"/>
              </a:spcBef>
            </a:pPr>
            <a:r>
              <a:rPr sz="1981" dirty="0">
                <a:latin typeface="Arial MT"/>
                <a:cs typeface="Arial MT"/>
              </a:rPr>
              <a:t>Works</a:t>
            </a:r>
            <a:r>
              <a:rPr sz="1981" spc="-20" dirty="0">
                <a:latin typeface="Arial MT"/>
                <a:cs typeface="Arial MT"/>
              </a:rPr>
              <a:t> </a:t>
            </a:r>
            <a:r>
              <a:rPr sz="1981" spc="35" dirty="0">
                <a:latin typeface="Arial MT"/>
                <a:cs typeface="Arial MT"/>
              </a:rPr>
              <a:t>with</a:t>
            </a:r>
            <a:r>
              <a:rPr sz="1981" spc="-18" dirty="0">
                <a:latin typeface="Arial MT"/>
                <a:cs typeface="Arial MT"/>
              </a:rPr>
              <a:t> </a:t>
            </a:r>
            <a:r>
              <a:rPr sz="1981" dirty="0">
                <a:latin typeface="Arial MT"/>
                <a:cs typeface="Arial MT"/>
              </a:rPr>
              <a:t>any</a:t>
            </a:r>
            <a:r>
              <a:rPr sz="1981" spc="-18" dirty="0">
                <a:latin typeface="Arial MT"/>
                <a:cs typeface="Arial MT"/>
              </a:rPr>
              <a:t> </a:t>
            </a:r>
            <a:r>
              <a:rPr sz="1981" dirty="0">
                <a:latin typeface="Arial MT"/>
                <a:cs typeface="Arial MT"/>
              </a:rPr>
              <a:t>number</a:t>
            </a:r>
            <a:r>
              <a:rPr sz="1981" spc="-18" dirty="0">
                <a:latin typeface="Arial MT"/>
                <a:cs typeface="Arial MT"/>
              </a:rPr>
              <a:t> </a:t>
            </a:r>
            <a:r>
              <a:rPr sz="1981" spc="33" dirty="0">
                <a:latin typeface="Arial MT"/>
                <a:cs typeface="Arial MT"/>
              </a:rPr>
              <a:t>of</a:t>
            </a:r>
            <a:r>
              <a:rPr sz="1981" spc="-18" dirty="0">
                <a:latin typeface="Arial MT"/>
                <a:cs typeface="Arial MT"/>
              </a:rPr>
              <a:t> </a:t>
            </a:r>
            <a:r>
              <a:rPr sz="1981" spc="-5" dirty="0">
                <a:latin typeface="Arial MT"/>
                <a:cs typeface="Arial MT"/>
              </a:rPr>
              <a:t>classes</a:t>
            </a:r>
            <a:endParaRPr sz="1981" dirty="0">
              <a:latin typeface="Arial MT"/>
              <a:cs typeface="Arial MT"/>
            </a:endParaRPr>
          </a:p>
        </p:txBody>
      </p:sp>
      <p:sp>
        <p:nvSpPr>
          <p:cNvPr id="14" name="object 8">
            <a:extLst>
              <a:ext uri="{FF2B5EF4-FFF2-40B4-BE49-F238E27FC236}">
                <a16:creationId xmlns:a16="http://schemas.microsoft.com/office/drawing/2014/main" id="{4AA85D2B-5F6A-37A5-DD0E-B254E3556284}"/>
              </a:ext>
            </a:extLst>
          </p:cNvPr>
          <p:cNvSpPr txBox="1"/>
          <p:nvPr/>
        </p:nvSpPr>
        <p:spPr>
          <a:xfrm>
            <a:off x="750403" y="1946269"/>
            <a:ext cx="2718597" cy="311578"/>
          </a:xfrm>
          <a:prstGeom prst="rect">
            <a:avLst/>
          </a:prstGeom>
        </p:spPr>
        <p:txBody>
          <a:bodyPr vert="horz" wrap="square" lIns="0" tIns="6686" rIns="0" bIns="0" rtlCol="0">
            <a:spAutoFit/>
          </a:bodyPr>
          <a:lstStyle/>
          <a:p>
            <a:pPr marL="6368">
              <a:spcBef>
                <a:spcPts val="53"/>
              </a:spcBef>
            </a:pPr>
            <a:r>
              <a:rPr lang="en-GB" sz="1981" spc="-50" dirty="0">
                <a:latin typeface="Arial MT"/>
                <a:cs typeface="Arial MT"/>
              </a:rPr>
              <a:t>Easy to understand</a:t>
            </a:r>
            <a:endParaRPr sz="1981" dirty="0">
              <a:latin typeface="Arial MT"/>
              <a:cs typeface="Arial MT"/>
            </a:endParaRPr>
          </a:p>
        </p:txBody>
      </p:sp>
      <p:sp>
        <p:nvSpPr>
          <p:cNvPr id="17" name="object 9">
            <a:extLst>
              <a:ext uri="{FF2B5EF4-FFF2-40B4-BE49-F238E27FC236}">
                <a16:creationId xmlns:a16="http://schemas.microsoft.com/office/drawing/2014/main" id="{84214EC0-D47E-4B2A-4F1C-6E377D9225A0}"/>
              </a:ext>
            </a:extLst>
          </p:cNvPr>
          <p:cNvSpPr txBox="1"/>
          <p:nvPr/>
        </p:nvSpPr>
        <p:spPr>
          <a:xfrm>
            <a:off x="5636864" y="3516368"/>
            <a:ext cx="3082341" cy="312064"/>
          </a:xfrm>
          <a:prstGeom prst="rect">
            <a:avLst/>
          </a:prstGeom>
        </p:spPr>
        <p:txBody>
          <a:bodyPr vert="horz" wrap="square" lIns="0" tIns="42346" rIns="0" bIns="0" rtlCol="0">
            <a:spAutoFit/>
          </a:bodyPr>
          <a:lstStyle/>
          <a:p>
            <a:pPr marL="6368" marR="2547">
              <a:lnSpc>
                <a:spcPts val="2126"/>
              </a:lnSpc>
              <a:spcBef>
                <a:spcPts val="333"/>
              </a:spcBef>
            </a:pPr>
            <a:r>
              <a:rPr sz="1981" dirty="0">
                <a:latin typeface="Arial MT"/>
                <a:cs typeface="Arial MT"/>
              </a:rPr>
              <a:t>Needs </a:t>
            </a:r>
            <a:r>
              <a:rPr sz="1981" spc="-5" dirty="0">
                <a:latin typeface="Arial MT"/>
                <a:cs typeface="Arial MT"/>
              </a:rPr>
              <a:t>careful </a:t>
            </a:r>
            <a:r>
              <a:rPr sz="1981" dirty="0">
                <a:latin typeface="Arial MT"/>
                <a:cs typeface="Arial MT"/>
              </a:rPr>
              <a:t>choice</a:t>
            </a:r>
            <a:r>
              <a:rPr sz="1981" spc="57" dirty="0">
                <a:latin typeface="Arial MT"/>
                <a:cs typeface="Arial MT"/>
              </a:rPr>
              <a:t> </a:t>
            </a:r>
            <a:r>
              <a:rPr sz="1981" spc="33" dirty="0">
                <a:latin typeface="Arial MT"/>
                <a:cs typeface="Arial MT"/>
              </a:rPr>
              <a:t>of</a:t>
            </a:r>
            <a:r>
              <a:rPr sz="1981" spc="57" dirty="0">
                <a:latin typeface="Arial MT"/>
                <a:cs typeface="Arial MT"/>
              </a:rPr>
              <a:t> </a:t>
            </a:r>
            <a:r>
              <a:rPr sz="1981" spc="73" dirty="0">
                <a:latin typeface="Arial MT"/>
                <a:cs typeface="Arial MT"/>
              </a:rPr>
              <a:t>‘k’</a:t>
            </a:r>
            <a:endParaRPr sz="1981" dirty="0">
              <a:latin typeface="Arial MT"/>
              <a:cs typeface="Arial MT"/>
            </a:endParaRPr>
          </a:p>
        </p:txBody>
      </p:sp>
    </p:spTree>
    <p:extLst>
      <p:ext uri="{BB962C8B-B14F-4D97-AF65-F5344CB8AC3E}">
        <p14:creationId xmlns:p14="http://schemas.microsoft.com/office/powerpoint/2010/main" val="32219062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F61A6-19F8-EE45-01DD-550CCEAD6D2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C7E22CF-DB51-786F-153B-F83D9321B809}"/>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530B5E9B-87C4-26D4-C263-8E7C5683620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5CB6D7E1-BC96-81C6-FB63-6A410B296149}"/>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1EAE0B19-A85B-A0A9-3B33-F9A47DAFB52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C73F82CF-392A-5202-EFC5-B1E4F5E3406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80C43548-E78E-920C-C8F9-11258F22F51F}"/>
              </a:ext>
            </a:extLst>
          </p:cNvPr>
          <p:cNvSpPr txBox="1"/>
          <p:nvPr/>
        </p:nvSpPr>
        <p:spPr>
          <a:xfrm>
            <a:off x="1063190" y="538366"/>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A short note on neural networks</a:t>
            </a:r>
          </a:p>
        </p:txBody>
      </p:sp>
      <p:sp>
        <p:nvSpPr>
          <p:cNvPr id="4" name="object 3">
            <a:extLst>
              <a:ext uri="{FF2B5EF4-FFF2-40B4-BE49-F238E27FC236}">
                <a16:creationId xmlns:a16="http://schemas.microsoft.com/office/drawing/2014/main" id="{EBBA0313-7251-E748-7DB1-3811483CBC6E}"/>
              </a:ext>
            </a:extLst>
          </p:cNvPr>
          <p:cNvSpPr txBox="1"/>
          <p:nvPr/>
        </p:nvSpPr>
        <p:spPr>
          <a:xfrm>
            <a:off x="726131" y="1622756"/>
            <a:ext cx="4059878" cy="2415204"/>
          </a:xfrm>
          <a:prstGeom prst="rect">
            <a:avLst/>
          </a:prstGeom>
        </p:spPr>
        <p:txBody>
          <a:bodyPr vert="horz" wrap="square" lIns="0" tIns="42346" rIns="0" bIns="0" rtlCol="0">
            <a:spAutoFit/>
          </a:bodyPr>
          <a:lstStyle/>
          <a:p>
            <a:pPr marL="100611" marR="96472" indent="-95198">
              <a:lnSpc>
                <a:spcPts val="2126"/>
              </a:lnSpc>
              <a:spcBef>
                <a:spcPts val="333"/>
              </a:spcBef>
              <a:buChar char="•"/>
              <a:tabLst>
                <a:tab pos="100611" algn="l"/>
              </a:tabLst>
            </a:pPr>
            <a:r>
              <a:rPr dirty="0">
                <a:latin typeface="Arial MT"/>
                <a:cs typeface="Arial MT"/>
              </a:rPr>
              <a:t>Inspired</a:t>
            </a:r>
            <a:r>
              <a:rPr spc="-3" dirty="0">
                <a:latin typeface="Arial MT"/>
                <a:cs typeface="Arial MT"/>
              </a:rPr>
              <a:t> </a:t>
            </a:r>
            <a:r>
              <a:rPr spc="30" dirty="0">
                <a:latin typeface="Arial MT"/>
                <a:cs typeface="Arial MT"/>
              </a:rPr>
              <a:t>by</a:t>
            </a:r>
            <a:r>
              <a:rPr spc="3" dirty="0">
                <a:latin typeface="Arial MT"/>
                <a:cs typeface="Arial MT"/>
              </a:rPr>
              <a:t> </a:t>
            </a:r>
            <a:r>
              <a:rPr dirty="0">
                <a:latin typeface="Arial MT"/>
                <a:cs typeface="Arial MT"/>
              </a:rPr>
              <a:t>the</a:t>
            </a:r>
            <a:r>
              <a:rPr spc="5" dirty="0">
                <a:latin typeface="Arial MT"/>
                <a:cs typeface="Arial MT"/>
              </a:rPr>
              <a:t> </a:t>
            </a:r>
            <a:r>
              <a:rPr dirty="0">
                <a:latin typeface="Arial MT"/>
                <a:cs typeface="Arial MT"/>
              </a:rPr>
              <a:t>brain,</a:t>
            </a:r>
            <a:r>
              <a:rPr spc="5" dirty="0">
                <a:latin typeface="Arial MT"/>
                <a:cs typeface="Arial MT"/>
              </a:rPr>
              <a:t> </a:t>
            </a:r>
            <a:r>
              <a:rPr spc="-5" dirty="0">
                <a:latin typeface="Arial MT"/>
                <a:cs typeface="Arial MT"/>
              </a:rPr>
              <a:t>Layers </a:t>
            </a:r>
            <a:r>
              <a:rPr spc="33" dirty="0">
                <a:latin typeface="Arial MT"/>
                <a:cs typeface="Arial MT"/>
              </a:rPr>
              <a:t>of</a:t>
            </a:r>
            <a:r>
              <a:rPr spc="93" dirty="0">
                <a:latin typeface="Arial MT"/>
                <a:cs typeface="Arial MT"/>
              </a:rPr>
              <a:t> </a:t>
            </a:r>
            <a:r>
              <a:rPr dirty="0">
                <a:latin typeface="Arial MT"/>
                <a:cs typeface="Arial MT"/>
              </a:rPr>
              <a:t>connected</a:t>
            </a:r>
            <a:r>
              <a:rPr spc="90" dirty="0">
                <a:latin typeface="Arial MT"/>
                <a:cs typeface="Arial MT"/>
              </a:rPr>
              <a:t> </a:t>
            </a:r>
            <a:r>
              <a:rPr spc="25" dirty="0">
                <a:latin typeface="Arial MT"/>
                <a:cs typeface="Arial MT"/>
              </a:rPr>
              <a:t>“neurons”.</a:t>
            </a:r>
            <a:endParaRPr dirty="0">
              <a:latin typeface="Arial MT"/>
              <a:cs typeface="Arial MT"/>
            </a:endParaRPr>
          </a:p>
          <a:p>
            <a:pPr marL="100611" marR="2547" indent="-95198">
              <a:lnSpc>
                <a:spcPts val="2126"/>
              </a:lnSpc>
              <a:spcBef>
                <a:spcPts val="1860"/>
              </a:spcBef>
              <a:buChar char="•"/>
              <a:tabLst>
                <a:tab pos="100611" algn="l"/>
              </a:tabLst>
            </a:pPr>
            <a:r>
              <a:rPr dirty="0">
                <a:latin typeface="Arial MT"/>
                <a:cs typeface="Arial MT"/>
              </a:rPr>
              <a:t>Great</a:t>
            </a:r>
            <a:r>
              <a:rPr spc="40" dirty="0">
                <a:latin typeface="Arial MT"/>
                <a:cs typeface="Arial MT"/>
              </a:rPr>
              <a:t> </a:t>
            </a:r>
            <a:r>
              <a:rPr dirty="0">
                <a:latin typeface="Arial MT"/>
                <a:cs typeface="Arial MT"/>
              </a:rPr>
              <a:t>for</a:t>
            </a:r>
            <a:r>
              <a:rPr spc="40" dirty="0">
                <a:latin typeface="Arial MT"/>
                <a:cs typeface="Arial MT"/>
              </a:rPr>
              <a:t> </a:t>
            </a:r>
            <a:r>
              <a:rPr dirty="0">
                <a:latin typeface="Arial MT"/>
                <a:cs typeface="Arial MT"/>
              </a:rPr>
              <a:t>complex,</a:t>
            </a:r>
            <a:r>
              <a:rPr spc="38" dirty="0">
                <a:latin typeface="Arial MT"/>
                <a:cs typeface="Arial MT"/>
              </a:rPr>
              <a:t> </a:t>
            </a:r>
            <a:r>
              <a:rPr spc="20" dirty="0">
                <a:latin typeface="Arial MT"/>
                <a:cs typeface="Arial MT"/>
              </a:rPr>
              <a:t>high-</a:t>
            </a:r>
            <a:r>
              <a:rPr dirty="0">
                <a:latin typeface="Arial MT"/>
                <a:cs typeface="Arial MT"/>
              </a:rPr>
              <a:t>dimensional</a:t>
            </a:r>
            <a:r>
              <a:rPr spc="43" dirty="0">
                <a:latin typeface="Arial MT"/>
                <a:cs typeface="Arial MT"/>
              </a:rPr>
              <a:t> </a:t>
            </a:r>
            <a:r>
              <a:rPr dirty="0">
                <a:latin typeface="Arial MT"/>
                <a:cs typeface="Arial MT"/>
              </a:rPr>
              <a:t>problems</a:t>
            </a:r>
            <a:r>
              <a:rPr spc="50" dirty="0">
                <a:latin typeface="Arial MT"/>
                <a:cs typeface="Arial MT"/>
              </a:rPr>
              <a:t> </a:t>
            </a:r>
            <a:r>
              <a:rPr spc="33" dirty="0">
                <a:latin typeface="Arial MT"/>
                <a:cs typeface="Arial MT"/>
              </a:rPr>
              <a:t>but </a:t>
            </a:r>
            <a:r>
              <a:rPr dirty="0">
                <a:latin typeface="Arial MT"/>
                <a:cs typeface="Arial MT"/>
              </a:rPr>
              <a:t>require</a:t>
            </a:r>
            <a:r>
              <a:rPr spc="-45" dirty="0">
                <a:latin typeface="Arial MT"/>
                <a:cs typeface="Arial MT"/>
              </a:rPr>
              <a:t> </a:t>
            </a:r>
            <a:r>
              <a:rPr dirty="0">
                <a:latin typeface="Arial MT"/>
                <a:cs typeface="Arial MT"/>
              </a:rPr>
              <a:t>more</a:t>
            </a:r>
            <a:r>
              <a:rPr spc="-43" dirty="0">
                <a:latin typeface="Arial MT"/>
                <a:cs typeface="Arial MT"/>
              </a:rPr>
              <a:t> </a:t>
            </a:r>
            <a:r>
              <a:rPr dirty="0">
                <a:latin typeface="Arial MT"/>
                <a:cs typeface="Arial MT"/>
              </a:rPr>
              <a:t>data</a:t>
            </a:r>
            <a:r>
              <a:rPr spc="-43" dirty="0">
                <a:latin typeface="Arial MT"/>
                <a:cs typeface="Arial MT"/>
              </a:rPr>
              <a:t> </a:t>
            </a:r>
            <a:r>
              <a:rPr dirty="0">
                <a:latin typeface="Arial MT"/>
                <a:cs typeface="Arial MT"/>
              </a:rPr>
              <a:t>&amp;</a:t>
            </a:r>
            <a:r>
              <a:rPr spc="-45" dirty="0">
                <a:latin typeface="Arial MT"/>
                <a:cs typeface="Arial MT"/>
              </a:rPr>
              <a:t> </a:t>
            </a:r>
            <a:r>
              <a:rPr spc="28" dirty="0" err="1">
                <a:latin typeface="Arial MT"/>
                <a:cs typeface="Arial MT"/>
              </a:rPr>
              <a:t>compu</a:t>
            </a:r>
            <a:r>
              <a:rPr lang="en-GB" spc="28" dirty="0" err="1">
                <a:latin typeface="Arial MT"/>
                <a:cs typeface="Arial MT"/>
              </a:rPr>
              <a:t>tation</a:t>
            </a:r>
            <a:endParaRPr dirty="0">
              <a:latin typeface="Arial MT"/>
              <a:cs typeface="Arial MT"/>
            </a:endParaRPr>
          </a:p>
          <a:p>
            <a:pPr marL="100611" marR="143593" indent="-95198">
              <a:lnSpc>
                <a:spcPts val="2126"/>
              </a:lnSpc>
              <a:spcBef>
                <a:spcPts val="1863"/>
              </a:spcBef>
              <a:buChar char="•"/>
              <a:tabLst>
                <a:tab pos="100611" algn="l"/>
              </a:tabLst>
            </a:pPr>
            <a:r>
              <a:rPr spc="-10" dirty="0">
                <a:latin typeface="Arial MT"/>
                <a:cs typeface="Arial MT"/>
              </a:rPr>
              <a:t>Typically</a:t>
            </a:r>
            <a:r>
              <a:rPr spc="-33" dirty="0">
                <a:latin typeface="Arial MT"/>
                <a:cs typeface="Arial MT"/>
              </a:rPr>
              <a:t> </a:t>
            </a:r>
            <a:r>
              <a:rPr dirty="0">
                <a:latin typeface="Arial MT"/>
                <a:cs typeface="Arial MT"/>
              </a:rPr>
              <a:t>used</a:t>
            </a:r>
            <a:r>
              <a:rPr spc="-30" dirty="0">
                <a:latin typeface="Arial MT"/>
                <a:cs typeface="Arial MT"/>
              </a:rPr>
              <a:t> </a:t>
            </a:r>
            <a:r>
              <a:rPr dirty="0">
                <a:latin typeface="Arial MT"/>
                <a:cs typeface="Arial MT"/>
              </a:rPr>
              <a:t>when</a:t>
            </a:r>
            <a:r>
              <a:rPr spc="-33" dirty="0">
                <a:latin typeface="Arial MT"/>
                <a:cs typeface="Arial MT"/>
              </a:rPr>
              <a:t> </a:t>
            </a:r>
            <a:r>
              <a:rPr spc="-5" dirty="0">
                <a:latin typeface="Arial MT"/>
                <a:cs typeface="Arial MT"/>
              </a:rPr>
              <a:t>simpler </a:t>
            </a:r>
            <a:r>
              <a:rPr dirty="0">
                <a:latin typeface="Arial MT"/>
                <a:cs typeface="Arial MT"/>
              </a:rPr>
              <a:t>models</a:t>
            </a:r>
            <a:r>
              <a:rPr spc="70" dirty="0">
                <a:latin typeface="Arial MT"/>
                <a:cs typeface="Arial MT"/>
              </a:rPr>
              <a:t> </a:t>
            </a:r>
            <a:r>
              <a:rPr spc="43" dirty="0">
                <a:latin typeface="Arial MT"/>
                <a:cs typeface="Arial MT"/>
              </a:rPr>
              <a:t>don’t</a:t>
            </a:r>
            <a:r>
              <a:rPr spc="70" dirty="0">
                <a:latin typeface="Arial MT"/>
                <a:cs typeface="Arial MT"/>
              </a:rPr>
              <a:t> </a:t>
            </a:r>
            <a:r>
              <a:rPr dirty="0">
                <a:latin typeface="Arial MT"/>
                <a:cs typeface="Arial MT"/>
              </a:rPr>
              <a:t>perform</a:t>
            </a:r>
            <a:r>
              <a:rPr spc="68" dirty="0">
                <a:latin typeface="Arial MT"/>
                <a:cs typeface="Arial MT"/>
              </a:rPr>
              <a:t> </a:t>
            </a:r>
            <a:r>
              <a:rPr spc="-10" dirty="0">
                <a:latin typeface="Arial MT"/>
                <a:cs typeface="Arial MT"/>
              </a:rPr>
              <a:t>well</a:t>
            </a:r>
            <a:endParaRPr dirty="0">
              <a:latin typeface="Arial MT"/>
              <a:cs typeface="Arial MT"/>
            </a:endParaRPr>
          </a:p>
        </p:txBody>
      </p:sp>
      <p:pic>
        <p:nvPicPr>
          <p:cNvPr id="5" name="object 4">
            <a:extLst>
              <a:ext uri="{FF2B5EF4-FFF2-40B4-BE49-F238E27FC236}">
                <a16:creationId xmlns:a16="http://schemas.microsoft.com/office/drawing/2014/main" id="{79B8570B-9076-D048-A94A-45693D625122}"/>
              </a:ext>
            </a:extLst>
          </p:cNvPr>
          <p:cNvPicPr/>
          <p:nvPr/>
        </p:nvPicPr>
        <p:blipFill>
          <a:blip r:embed="rId6" cstate="print"/>
          <a:stretch>
            <a:fillRect/>
          </a:stretch>
        </p:blipFill>
        <p:spPr>
          <a:xfrm>
            <a:off x="5040312" y="1627673"/>
            <a:ext cx="4363052" cy="2415204"/>
          </a:xfrm>
          <a:prstGeom prst="rect">
            <a:avLst/>
          </a:prstGeom>
        </p:spPr>
      </p:pic>
    </p:spTree>
    <p:extLst>
      <p:ext uri="{BB962C8B-B14F-4D97-AF65-F5344CB8AC3E}">
        <p14:creationId xmlns:p14="http://schemas.microsoft.com/office/powerpoint/2010/main" val="3271190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A2F28-D535-A4BE-A566-1E052DDFA12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73D4F6E-4296-BF22-0BCC-CA243281E43E}"/>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ACA43117-8F88-004F-C8AF-7B9F3592534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FE9C3C19-9D5E-5713-DEB7-2ABAF5B66E5F}"/>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1A842D25-B4FD-7C51-7513-566B7C01C74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10953665-EFDC-CA30-E75F-BAC8A82FEBC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graphicFrame>
        <p:nvGraphicFramePr>
          <p:cNvPr id="4" name="object 2">
            <a:extLst>
              <a:ext uri="{FF2B5EF4-FFF2-40B4-BE49-F238E27FC236}">
                <a16:creationId xmlns:a16="http://schemas.microsoft.com/office/drawing/2014/main" id="{5E575793-154C-61ED-6F0D-216BE0D62027}"/>
              </a:ext>
            </a:extLst>
          </p:cNvPr>
          <p:cNvGraphicFramePr>
            <a:graphicFrameLocks noGrp="1"/>
          </p:cNvGraphicFramePr>
          <p:nvPr>
            <p:extLst>
              <p:ext uri="{D42A27DB-BD31-4B8C-83A1-F6EECF244321}">
                <p14:modId xmlns:p14="http://schemas.microsoft.com/office/powerpoint/2010/main" val="1689977319"/>
              </p:ext>
            </p:extLst>
          </p:nvPr>
        </p:nvGraphicFramePr>
        <p:xfrm>
          <a:off x="501643" y="571494"/>
          <a:ext cx="9261192" cy="3888690"/>
        </p:xfrm>
        <a:graphic>
          <a:graphicData uri="http://schemas.openxmlformats.org/drawingml/2006/table">
            <a:tbl>
              <a:tblPr firstRow="1" bandRow="1">
                <a:tableStyleId>{2D5ABB26-0587-4C30-8999-92F81FD0307C}</a:tableStyleId>
              </a:tblPr>
              <a:tblGrid>
                <a:gridCol w="2417048">
                  <a:extLst>
                    <a:ext uri="{9D8B030D-6E8A-4147-A177-3AD203B41FA5}">
                      <a16:colId xmlns:a16="http://schemas.microsoft.com/office/drawing/2014/main" val="20000"/>
                    </a:ext>
                  </a:extLst>
                </a:gridCol>
                <a:gridCol w="3676073">
                  <a:extLst>
                    <a:ext uri="{9D8B030D-6E8A-4147-A177-3AD203B41FA5}">
                      <a16:colId xmlns:a16="http://schemas.microsoft.com/office/drawing/2014/main" val="20001"/>
                    </a:ext>
                  </a:extLst>
                </a:gridCol>
                <a:gridCol w="3168071">
                  <a:extLst>
                    <a:ext uri="{9D8B030D-6E8A-4147-A177-3AD203B41FA5}">
                      <a16:colId xmlns:a16="http://schemas.microsoft.com/office/drawing/2014/main" val="20002"/>
                    </a:ext>
                  </a:extLst>
                </a:gridCol>
              </a:tblGrid>
              <a:tr h="767005">
                <a:tc>
                  <a:txBody>
                    <a:bodyPr/>
                    <a:lstStyle/>
                    <a:p>
                      <a:pPr>
                        <a:lnSpc>
                          <a:spcPct val="100000"/>
                        </a:lnSpc>
                        <a:spcBef>
                          <a:spcPts val="1385"/>
                        </a:spcBef>
                      </a:pPr>
                      <a:endParaRPr sz="1600" dirty="0">
                        <a:latin typeface="Times New Roman"/>
                        <a:cs typeface="Times New Roman"/>
                      </a:endParaRPr>
                    </a:p>
                    <a:p>
                      <a:pPr algn="ctr">
                        <a:lnSpc>
                          <a:spcPct val="100000"/>
                        </a:lnSpc>
                      </a:pPr>
                      <a:r>
                        <a:rPr sz="1600" b="1" spc="50" dirty="0">
                          <a:latin typeface="Arial"/>
                          <a:cs typeface="Arial"/>
                        </a:rPr>
                        <a:t>Method</a:t>
                      </a:r>
                      <a:endParaRPr sz="1600" dirty="0">
                        <a:latin typeface="Arial"/>
                        <a:cs typeface="Arial"/>
                      </a:endParaRPr>
                    </a:p>
                  </a:txBody>
                  <a:tcPr marL="0" marR="0" marT="88194"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a:lnSpc>
                          <a:spcPct val="100000"/>
                        </a:lnSpc>
                        <a:spcBef>
                          <a:spcPts val="1385"/>
                        </a:spcBef>
                      </a:pPr>
                      <a:endParaRPr sz="1600" dirty="0">
                        <a:latin typeface="Times New Roman"/>
                        <a:cs typeface="Times New Roman"/>
                      </a:endParaRPr>
                    </a:p>
                    <a:p>
                      <a:pPr algn="ctr">
                        <a:lnSpc>
                          <a:spcPct val="100000"/>
                        </a:lnSpc>
                      </a:pPr>
                      <a:r>
                        <a:rPr sz="1600" b="1" spc="-10" dirty="0">
                          <a:latin typeface="Arial"/>
                          <a:cs typeface="Arial"/>
                        </a:rPr>
                        <a:t>When?</a:t>
                      </a:r>
                      <a:endParaRPr sz="1600" dirty="0">
                        <a:latin typeface="Arial"/>
                        <a:cs typeface="Arial"/>
                      </a:endParaRPr>
                    </a:p>
                  </a:txBody>
                  <a:tcPr marL="0" marR="0" marT="88194"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a:lnSpc>
                          <a:spcPct val="100000"/>
                        </a:lnSpc>
                        <a:spcBef>
                          <a:spcPts val="1385"/>
                        </a:spcBef>
                      </a:pPr>
                      <a:endParaRPr sz="1600">
                        <a:latin typeface="Times New Roman"/>
                        <a:cs typeface="Times New Roman"/>
                      </a:endParaRPr>
                    </a:p>
                    <a:p>
                      <a:pPr algn="ctr">
                        <a:lnSpc>
                          <a:spcPct val="100000"/>
                        </a:lnSpc>
                      </a:pPr>
                      <a:r>
                        <a:rPr sz="1600" b="1" dirty="0">
                          <a:latin typeface="Arial"/>
                          <a:cs typeface="Arial"/>
                        </a:rPr>
                        <a:t>What</a:t>
                      </a:r>
                      <a:r>
                        <a:rPr sz="1600" b="1" spc="100" dirty="0">
                          <a:latin typeface="Arial"/>
                          <a:cs typeface="Arial"/>
                        </a:rPr>
                        <a:t> </a:t>
                      </a:r>
                      <a:r>
                        <a:rPr sz="1600" b="1" dirty="0">
                          <a:latin typeface="Arial"/>
                          <a:cs typeface="Arial"/>
                        </a:rPr>
                        <a:t>to</a:t>
                      </a:r>
                      <a:r>
                        <a:rPr sz="1600" b="1" spc="100" dirty="0">
                          <a:latin typeface="Arial"/>
                          <a:cs typeface="Arial"/>
                        </a:rPr>
                        <a:t> </a:t>
                      </a:r>
                      <a:r>
                        <a:rPr sz="1600" b="1" dirty="0">
                          <a:latin typeface="Arial"/>
                          <a:cs typeface="Arial"/>
                        </a:rPr>
                        <a:t>worry</a:t>
                      </a:r>
                      <a:r>
                        <a:rPr sz="1600" b="1" spc="100" dirty="0">
                          <a:latin typeface="Arial"/>
                          <a:cs typeface="Arial"/>
                        </a:rPr>
                        <a:t> </a:t>
                      </a:r>
                      <a:r>
                        <a:rPr sz="1600" b="1" spc="-10" dirty="0">
                          <a:latin typeface="Arial"/>
                          <a:cs typeface="Arial"/>
                        </a:rPr>
                        <a:t>about.</a:t>
                      </a:r>
                      <a:endParaRPr sz="1600">
                        <a:latin typeface="Arial"/>
                        <a:cs typeface="Arial"/>
                      </a:endParaRPr>
                    </a:p>
                  </a:txBody>
                  <a:tcPr marL="0" marR="0" marT="88194"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767005">
                <a:tc>
                  <a:txBody>
                    <a:bodyPr/>
                    <a:lstStyle/>
                    <a:p>
                      <a:pPr>
                        <a:lnSpc>
                          <a:spcPct val="100000"/>
                        </a:lnSpc>
                        <a:spcBef>
                          <a:spcPts val="1470"/>
                        </a:spcBef>
                      </a:pPr>
                      <a:endParaRPr sz="1600" dirty="0">
                        <a:latin typeface="Times New Roman"/>
                        <a:cs typeface="Times New Roman"/>
                      </a:endParaRPr>
                    </a:p>
                    <a:p>
                      <a:pPr marR="2540" algn="ctr">
                        <a:lnSpc>
                          <a:spcPct val="100000"/>
                        </a:lnSpc>
                      </a:pPr>
                      <a:r>
                        <a:rPr sz="1600" b="1" dirty="0">
                          <a:latin typeface="Arial"/>
                          <a:cs typeface="Arial"/>
                        </a:rPr>
                        <a:t>Logistic</a:t>
                      </a:r>
                      <a:r>
                        <a:rPr sz="1600" b="1" spc="10" dirty="0">
                          <a:latin typeface="Arial"/>
                          <a:cs typeface="Arial"/>
                        </a:rPr>
                        <a:t> </a:t>
                      </a:r>
                      <a:r>
                        <a:rPr sz="1600" b="1" spc="-10" dirty="0">
                          <a:latin typeface="Arial"/>
                          <a:cs typeface="Arial"/>
                        </a:rPr>
                        <a:t>Regression</a:t>
                      </a:r>
                      <a:endParaRPr sz="1600" dirty="0">
                        <a:latin typeface="Arial"/>
                        <a:cs typeface="Arial"/>
                      </a:endParaRPr>
                    </a:p>
                  </a:txBody>
                  <a:tcPr marL="0" marR="0" marT="93607" marB="0">
                    <a:lnL w="12700">
                      <a:solidFill>
                        <a:srgbClr val="000000"/>
                      </a:solidFill>
                      <a:prstDash val="solid"/>
                    </a:lnL>
                    <a:lnR w="38100">
                      <a:solidFill>
                        <a:srgbClr val="000000"/>
                      </a:solidFill>
                      <a:prstDash val="solid"/>
                    </a:lnR>
                    <a:lnT w="381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marL="10160" algn="ctr">
                        <a:lnSpc>
                          <a:spcPct val="100000"/>
                        </a:lnSpc>
                      </a:pPr>
                      <a:r>
                        <a:rPr sz="1600" dirty="0">
                          <a:latin typeface="Arial MT"/>
                          <a:cs typeface="Arial MT"/>
                        </a:rPr>
                        <a:t>Quick</a:t>
                      </a:r>
                      <a:r>
                        <a:rPr sz="1600" spc="70" dirty="0">
                          <a:latin typeface="Arial MT"/>
                          <a:cs typeface="Arial MT"/>
                        </a:rPr>
                        <a:t> </a:t>
                      </a:r>
                      <a:r>
                        <a:rPr sz="1600" dirty="0">
                          <a:latin typeface="Arial MT"/>
                          <a:cs typeface="Arial MT"/>
                        </a:rPr>
                        <a:t>baseline,</a:t>
                      </a:r>
                      <a:r>
                        <a:rPr sz="1600" spc="70" dirty="0">
                          <a:latin typeface="Arial MT"/>
                          <a:cs typeface="Arial MT"/>
                        </a:rPr>
                        <a:t> </a:t>
                      </a:r>
                      <a:r>
                        <a:rPr sz="1600" dirty="0">
                          <a:latin typeface="Arial MT"/>
                          <a:cs typeface="Arial MT"/>
                        </a:rPr>
                        <a:t>linearly</a:t>
                      </a:r>
                      <a:r>
                        <a:rPr sz="1600" spc="75" dirty="0">
                          <a:latin typeface="Arial MT"/>
                          <a:cs typeface="Arial MT"/>
                        </a:rPr>
                        <a:t> </a:t>
                      </a:r>
                      <a:r>
                        <a:rPr sz="1600" dirty="0">
                          <a:latin typeface="Arial MT"/>
                          <a:cs typeface="Arial MT"/>
                        </a:rPr>
                        <a:t>separable</a:t>
                      </a:r>
                      <a:r>
                        <a:rPr sz="1600" spc="70" dirty="0">
                          <a:latin typeface="Arial MT"/>
                          <a:cs typeface="Arial MT"/>
                        </a:rPr>
                        <a:t> </a:t>
                      </a:r>
                      <a:r>
                        <a:rPr sz="1600" spc="-20" dirty="0">
                          <a:latin typeface="Arial MT"/>
                          <a:cs typeface="Arial MT"/>
                        </a:rPr>
                        <a:t>data</a:t>
                      </a:r>
                      <a:endParaRPr sz="1600" dirty="0">
                        <a:latin typeface="Arial MT"/>
                        <a:cs typeface="Arial MT"/>
                      </a:endParaRPr>
                    </a:p>
                  </a:txBody>
                  <a:tcPr marL="0" marR="0" marT="89150"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algn="ctr">
                        <a:lnSpc>
                          <a:spcPct val="100000"/>
                        </a:lnSpc>
                      </a:pPr>
                      <a:r>
                        <a:rPr sz="1600" dirty="0">
                          <a:latin typeface="Arial MT"/>
                          <a:cs typeface="Arial MT"/>
                        </a:rPr>
                        <a:t>Doesn’t</a:t>
                      </a:r>
                      <a:r>
                        <a:rPr sz="1600" spc="145" dirty="0">
                          <a:latin typeface="Arial MT"/>
                          <a:cs typeface="Arial MT"/>
                        </a:rPr>
                        <a:t> </a:t>
                      </a:r>
                      <a:r>
                        <a:rPr sz="1600" dirty="0">
                          <a:latin typeface="Arial MT"/>
                          <a:cs typeface="Arial MT"/>
                        </a:rPr>
                        <a:t>capture</a:t>
                      </a:r>
                      <a:r>
                        <a:rPr sz="1600" spc="145" dirty="0">
                          <a:latin typeface="Arial MT"/>
                          <a:cs typeface="Arial MT"/>
                        </a:rPr>
                        <a:t> </a:t>
                      </a:r>
                      <a:r>
                        <a:rPr sz="1600" spc="55" dirty="0">
                          <a:latin typeface="Arial MT"/>
                          <a:cs typeface="Arial MT"/>
                        </a:rPr>
                        <a:t>complex</a:t>
                      </a:r>
                      <a:r>
                        <a:rPr sz="1600" spc="150" dirty="0">
                          <a:latin typeface="Arial MT"/>
                          <a:cs typeface="Arial MT"/>
                        </a:rPr>
                        <a:t> </a:t>
                      </a:r>
                      <a:r>
                        <a:rPr sz="1600" spc="-10" dirty="0">
                          <a:latin typeface="Arial MT"/>
                          <a:cs typeface="Arial MT"/>
                        </a:rPr>
                        <a:t>boundaries</a:t>
                      </a:r>
                      <a:endParaRPr sz="1600" dirty="0">
                        <a:latin typeface="Arial MT"/>
                        <a:cs typeface="Arial MT"/>
                      </a:endParaRPr>
                    </a:p>
                  </a:txBody>
                  <a:tcPr marL="0" marR="0" marT="89150" marB="0">
                    <a:lnL w="127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767005">
                <a:tc>
                  <a:txBody>
                    <a:bodyPr/>
                    <a:lstStyle/>
                    <a:p>
                      <a:pPr>
                        <a:lnSpc>
                          <a:spcPct val="100000"/>
                        </a:lnSpc>
                        <a:spcBef>
                          <a:spcPts val="1385"/>
                        </a:spcBef>
                      </a:pPr>
                      <a:endParaRPr sz="1600">
                        <a:latin typeface="Times New Roman"/>
                        <a:cs typeface="Times New Roman"/>
                      </a:endParaRPr>
                    </a:p>
                    <a:p>
                      <a:pPr marR="2540" algn="ctr">
                        <a:lnSpc>
                          <a:spcPct val="100000"/>
                        </a:lnSpc>
                      </a:pPr>
                      <a:r>
                        <a:rPr sz="1600" b="1" dirty="0">
                          <a:latin typeface="Arial"/>
                          <a:cs typeface="Arial"/>
                        </a:rPr>
                        <a:t>Decision</a:t>
                      </a:r>
                      <a:r>
                        <a:rPr sz="1600" b="1" spc="10" dirty="0">
                          <a:latin typeface="Arial"/>
                          <a:cs typeface="Arial"/>
                        </a:rPr>
                        <a:t> </a:t>
                      </a:r>
                      <a:r>
                        <a:rPr sz="1600" b="1" spc="-20" dirty="0">
                          <a:latin typeface="Arial"/>
                          <a:cs typeface="Arial"/>
                        </a:rPr>
                        <a:t>Trees</a:t>
                      </a:r>
                      <a:endParaRPr sz="1600">
                        <a:latin typeface="Arial"/>
                        <a:cs typeface="Arial"/>
                      </a:endParaRPr>
                    </a:p>
                  </a:txBody>
                  <a:tcPr marL="0" marR="0" marT="88194"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marL="10160" algn="ctr">
                        <a:lnSpc>
                          <a:spcPct val="100000"/>
                        </a:lnSpc>
                      </a:pPr>
                      <a:r>
                        <a:rPr sz="1600" dirty="0">
                          <a:latin typeface="Arial MT"/>
                          <a:cs typeface="Arial MT"/>
                        </a:rPr>
                        <a:t>Interpretability,</a:t>
                      </a:r>
                      <a:r>
                        <a:rPr sz="1600" spc="195" dirty="0">
                          <a:latin typeface="Arial MT"/>
                          <a:cs typeface="Arial MT"/>
                        </a:rPr>
                        <a:t> </a:t>
                      </a:r>
                      <a:r>
                        <a:rPr sz="1600" dirty="0">
                          <a:latin typeface="Arial MT"/>
                          <a:cs typeface="Arial MT"/>
                        </a:rPr>
                        <a:t>non-linear</a:t>
                      </a:r>
                      <a:r>
                        <a:rPr sz="1600" spc="200" dirty="0">
                          <a:latin typeface="Arial MT"/>
                          <a:cs typeface="Arial MT"/>
                        </a:rPr>
                        <a:t> </a:t>
                      </a:r>
                      <a:r>
                        <a:rPr sz="1600" spc="-10" dirty="0">
                          <a:latin typeface="Arial MT"/>
                          <a:cs typeface="Arial MT"/>
                        </a:rPr>
                        <a:t>relationships</a:t>
                      </a:r>
                      <a:endParaRPr sz="1600" dirty="0">
                        <a:latin typeface="Arial MT"/>
                        <a:cs typeface="Arial MT"/>
                      </a:endParaRPr>
                    </a:p>
                  </a:txBody>
                  <a:tcPr marL="0" marR="0" marT="8915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algn="ctr">
                        <a:lnSpc>
                          <a:spcPct val="100000"/>
                        </a:lnSpc>
                      </a:pPr>
                      <a:r>
                        <a:rPr sz="1600" dirty="0">
                          <a:latin typeface="Arial MT"/>
                          <a:cs typeface="Arial MT"/>
                        </a:rPr>
                        <a:t>Prone</a:t>
                      </a:r>
                      <a:r>
                        <a:rPr sz="1600" spc="-10" dirty="0">
                          <a:latin typeface="Arial MT"/>
                          <a:cs typeface="Arial MT"/>
                        </a:rPr>
                        <a:t> </a:t>
                      </a:r>
                      <a:r>
                        <a:rPr sz="1600" spc="75" dirty="0">
                          <a:latin typeface="Arial MT"/>
                          <a:cs typeface="Arial MT"/>
                        </a:rPr>
                        <a:t>to</a:t>
                      </a:r>
                      <a:r>
                        <a:rPr sz="1600" spc="-5" dirty="0">
                          <a:latin typeface="Arial MT"/>
                          <a:cs typeface="Arial MT"/>
                        </a:rPr>
                        <a:t> </a:t>
                      </a:r>
                      <a:r>
                        <a:rPr sz="1600" spc="-10" dirty="0">
                          <a:latin typeface="Arial MT"/>
                          <a:cs typeface="Arial MT"/>
                        </a:rPr>
                        <a:t>overfitting</a:t>
                      </a:r>
                      <a:endParaRPr sz="1600" dirty="0">
                        <a:latin typeface="Arial MT"/>
                        <a:cs typeface="Arial MT"/>
                      </a:endParaRPr>
                    </a:p>
                  </a:txBody>
                  <a:tcPr marL="0" marR="0" marT="89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767005">
                <a:tc>
                  <a:txBody>
                    <a:bodyPr/>
                    <a:lstStyle/>
                    <a:p>
                      <a:pPr>
                        <a:lnSpc>
                          <a:spcPct val="100000"/>
                        </a:lnSpc>
                        <a:spcBef>
                          <a:spcPts val="1385"/>
                        </a:spcBef>
                      </a:pPr>
                      <a:endParaRPr sz="1600">
                        <a:latin typeface="Times New Roman"/>
                        <a:cs typeface="Times New Roman"/>
                      </a:endParaRPr>
                    </a:p>
                    <a:p>
                      <a:pPr marR="2540" algn="ctr">
                        <a:lnSpc>
                          <a:spcPct val="100000"/>
                        </a:lnSpc>
                      </a:pPr>
                      <a:r>
                        <a:rPr sz="1600" b="1" spc="80" dirty="0">
                          <a:latin typeface="Arial"/>
                          <a:cs typeface="Arial"/>
                        </a:rPr>
                        <a:t>K-</a:t>
                      </a:r>
                      <a:r>
                        <a:rPr sz="1600" b="1" spc="65" dirty="0">
                          <a:latin typeface="Arial"/>
                          <a:cs typeface="Arial"/>
                        </a:rPr>
                        <a:t>NN</a:t>
                      </a:r>
                      <a:endParaRPr sz="1600">
                        <a:latin typeface="Arial"/>
                        <a:cs typeface="Arial"/>
                      </a:endParaRPr>
                    </a:p>
                  </a:txBody>
                  <a:tcPr marL="0" marR="0" marT="88194"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marL="10160" algn="ctr">
                        <a:lnSpc>
                          <a:spcPct val="100000"/>
                        </a:lnSpc>
                      </a:pPr>
                      <a:r>
                        <a:rPr sz="1600" dirty="0">
                          <a:latin typeface="Arial MT"/>
                          <a:cs typeface="Arial MT"/>
                        </a:rPr>
                        <a:t>Simple,</a:t>
                      </a:r>
                      <a:r>
                        <a:rPr sz="1600" spc="330" dirty="0">
                          <a:latin typeface="Arial MT"/>
                          <a:cs typeface="Arial MT"/>
                        </a:rPr>
                        <a:t> </a:t>
                      </a:r>
                      <a:r>
                        <a:rPr sz="1600" dirty="0">
                          <a:latin typeface="Arial MT"/>
                          <a:cs typeface="Arial MT"/>
                        </a:rPr>
                        <a:t>low-dimensional</a:t>
                      </a:r>
                      <a:r>
                        <a:rPr sz="1600" spc="335" dirty="0">
                          <a:latin typeface="Arial MT"/>
                          <a:cs typeface="Arial MT"/>
                        </a:rPr>
                        <a:t> </a:t>
                      </a:r>
                      <a:r>
                        <a:rPr sz="1600" spc="-10" dirty="0">
                          <a:latin typeface="Arial MT"/>
                          <a:cs typeface="Arial MT"/>
                        </a:rPr>
                        <a:t>problems</a:t>
                      </a:r>
                      <a:endParaRPr sz="1600" dirty="0">
                        <a:latin typeface="Arial MT"/>
                        <a:cs typeface="Arial MT"/>
                      </a:endParaRPr>
                    </a:p>
                  </a:txBody>
                  <a:tcPr marL="0" marR="0" marT="8915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algn="ctr">
                        <a:lnSpc>
                          <a:spcPct val="100000"/>
                        </a:lnSpc>
                      </a:pPr>
                      <a:r>
                        <a:rPr sz="1600" dirty="0">
                          <a:latin typeface="Arial MT"/>
                          <a:cs typeface="Arial MT"/>
                        </a:rPr>
                        <a:t>Slow</a:t>
                      </a:r>
                      <a:r>
                        <a:rPr sz="1600" spc="85" dirty="0">
                          <a:latin typeface="Arial MT"/>
                          <a:cs typeface="Arial MT"/>
                        </a:rPr>
                        <a:t> </a:t>
                      </a:r>
                      <a:r>
                        <a:rPr sz="1600" spc="55" dirty="0">
                          <a:latin typeface="Arial MT"/>
                          <a:cs typeface="Arial MT"/>
                        </a:rPr>
                        <a:t>with</a:t>
                      </a:r>
                      <a:r>
                        <a:rPr sz="1600" spc="85" dirty="0">
                          <a:latin typeface="Arial MT"/>
                          <a:cs typeface="Arial MT"/>
                        </a:rPr>
                        <a:t> </a:t>
                      </a:r>
                      <a:r>
                        <a:rPr sz="1600" spc="55" dirty="0">
                          <a:latin typeface="Arial MT"/>
                          <a:cs typeface="Arial MT"/>
                        </a:rPr>
                        <a:t>big</a:t>
                      </a:r>
                      <a:r>
                        <a:rPr sz="1600" spc="85" dirty="0">
                          <a:latin typeface="Arial MT"/>
                          <a:cs typeface="Arial MT"/>
                        </a:rPr>
                        <a:t> </a:t>
                      </a:r>
                      <a:r>
                        <a:rPr sz="1600" dirty="0">
                          <a:latin typeface="Arial MT"/>
                          <a:cs typeface="Arial MT"/>
                        </a:rPr>
                        <a:t>data,</a:t>
                      </a:r>
                      <a:r>
                        <a:rPr sz="1600" spc="85" dirty="0">
                          <a:latin typeface="Arial MT"/>
                          <a:cs typeface="Arial MT"/>
                        </a:rPr>
                        <a:t> </a:t>
                      </a:r>
                      <a:r>
                        <a:rPr sz="1600" dirty="0">
                          <a:latin typeface="Arial MT"/>
                          <a:cs typeface="Arial MT"/>
                        </a:rPr>
                        <a:t>needs</a:t>
                      </a:r>
                      <a:r>
                        <a:rPr sz="1600" spc="85" dirty="0">
                          <a:latin typeface="Arial MT"/>
                          <a:cs typeface="Arial MT"/>
                        </a:rPr>
                        <a:t> </a:t>
                      </a:r>
                      <a:r>
                        <a:rPr sz="1600" spc="-10" dirty="0">
                          <a:latin typeface="Arial MT"/>
                          <a:cs typeface="Arial MT"/>
                        </a:rPr>
                        <a:t>scaling</a:t>
                      </a:r>
                      <a:endParaRPr sz="1600" dirty="0">
                        <a:latin typeface="Arial MT"/>
                        <a:cs typeface="Arial MT"/>
                      </a:endParaRPr>
                    </a:p>
                  </a:txBody>
                  <a:tcPr marL="0" marR="0" marT="89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767005">
                <a:tc>
                  <a:txBody>
                    <a:bodyPr/>
                    <a:lstStyle/>
                    <a:p>
                      <a:pPr>
                        <a:lnSpc>
                          <a:spcPct val="100000"/>
                        </a:lnSpc>
                        <a:spcBef>
                          <a:spcPts val="1385"/>
                        </a:spcBef>
                      </a:pPr>
                      <a:endParaRPr sz="1600">
                        <a:latin typeface="Times New Roman"/>
                        <a:cs typeface="Times New Roman"/>
                      </a:endParaRPr>
                    </a:p>
                    <a:p>
                      <a:pPr marR="2540" algn="ctr">
                        <a:lnSpc>
                          <a:spcPct val="100000"/>
                        </a:lnSpc>
                      </a:pPr>
                      <a:r>
                        <a:rPr sz="1600" b="1" dirty="0">
                          <a:latin typeface="Arial"/>
                          <a:cs typeface="Arial"/>
                        </a:rPr>
                        <a:t>Neural</a:t>
                      </a:r>
                      <a:r>
                        <a:rPr sz="1600" b="1" spc="90" dirty="0">
                          <a:latin typeface="Arial"/>
                          <a:cs typeface="Arial"/>
                        </a:rPr>
                        <a:t> </a:t>
                      </a:r>
                      <a:r>
                        <a:rPr sz="1600" b="1" spc="-10" dirty="0">
                          <a:latin typeface="Arial"/>
                          <a:cs typeface="Arial"/>
                        </a:rPr>
                        <a:t>Networks</a:t>
                      </a:r>
                      <a:endParaRPr sz="1600">
                        <a:latin typeface="Arial"/>
                        <a:cs typeface="Arial"/>
                      </a:endParaRPr>
                    </a:p>
                  </a:txBody>
                  <a:tcPr marL="0" marR="0" marT="88194"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a:latin typeface="Times New Roman"/>
                        <a:cs typeface="Times New Roman"/>
                      </a:endParaRPr>
                    </a:p>
                    <a:p>
                      <a:pPr marL="10160" algn="ctr">
                        <a:lnSpc>
                          <a:spcPct val="100000"/>
                        </a:lnSpc>
                      </a:pPr>
                      <a:r>
                        <a:rPr sz="1600" dirty="0">
                          <a:latin typeface="Arial MT"/>
                          <a:cs typeface="Arial MT"/>
                        </a:rPr>
                        <a:t>Large</a:t>
                      </a:r>
                      <a:r>
                        <a:rPr sz="1600" spc="40" dirty="0">
                          <a:latin typeface="Arial MT"/>
                          <a:cs typeface="Arial MT"/>
                        </a:rPr>
                        <a:t> </a:t>
                      </a:r>
                      <a:r>
                        <a:rPr sz="1600" dirty="0">
                          <a:latin typeface="Arial MT"/>
                          <a:cs typeface="Arial MT"/>
                        </a:rPr>
                        <a:t>datasets</a:t>
                      </a:r>
                      <a:r>
                        <a:rPr sz="1600" spc="40" dirty="0">
                          <a:latin typeface="Arial MT"/>
                          <a:cs typeface="Arial MT"/>
                        </a:rPr>
                        <a:t> </a:t>
                      </a:r>
                      <a:r>
                        <a:rPr sz="1600" spc="55" dirty="0">
                          <a:latin typeface="Arial MT"/>
                          <a:cs typeface="Arial MT"/>
                        </a:rPr>
                        <a:t>with</a:t>
                      </a:r>
                      <a:r>
                        <a:rPr sz="1600" spc="45" dirty="0">
                          <a:latin typeface="Arial MT"/>
                          <a:cs typeface="Arial MT"/>
                        </a:rPr>
                        <a:t> </a:t>
                      </a:r>
                      <a:r>
                        <a:rPr sz="1600" spc="55" dirty="0">
                          <a:latin typeface="Arial MT"/>
                          <a:cs typeface="Arial MT"/>
                        </a:rPr>
                        <a:t>complex</a:t>
                      </a:r>
                      <a:r>
                        <a:rPr sz="1600" spc="40" dirty="0">
                          <a:latin typeface="Arial MT"/>
                          <a:cs typeface="Arial MT"/>
                        </a:rPr>
                        <a:t> </a:t>
                      </a:r>
                      <a:r>
                        <a:rPr sz="1600" spc="-10" dirty="0">
                          <a:latin typeface="Arial MT"/>
                          <a:cs typeface="Arial MT"/>
                        </a:rPr>
                        <a:t>patterns</a:t>
                      </a:r>
                      <a:endParaRPr sz="1600">
                        <a:latin typeface="Arial MT"/>
                        <a:cs typeface="Arial MT"/>
                      </a:endParaRPr>
                    </a:p>
                  </a:txBody>
                  <a:tcPr marL="0" marR="0" marT="89150"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spcBef>
                          <a:spcPts val="1400"/>
                        </a:spcBef>
                      </a:pPr>
                      <a:endParaRPr sz="1600" dirty="0">
                        <a:latin typeface="Times New Roman"/>
                        <a:cs typeface="Times New Roman"/>
                      </a:endParaRPr>
                    </a:p>
                    <a:p>
                      <a:pPr algn="ctr">
                        <a:lnSpc>
                          <a:spcPct val="100000"/>
                        </a:lnSpc>
                      </a:pPr>
                      <a:r>
                        <a:rPr sz="1600" dirty="0">
                          <a:latin typeface="Arial MT"/>
                          <a:cs typeface="Arial MT"/>
                        </a:rPr>
                        <a:t>Requires</a:t>
                      </a:r>
                      <a:r>
                        <a:rPr sz="1600" spc="60" dirty="0">
                          <a:latin typeface="Arial MT"/>
                          <a:cs typeface="Arial MT"/>
                        </a:rPr>
                        <a:t> </a:t>
                      </a:r>
                      <a:r>
                        <a:rPr sz="1600" dirty="0">
                          <a:latin typeface="Arial MT"/>
                          <a:cs typeface="Arial MT"/>
                        </a:rPr>
                        <a:t>tuning,</a:t>
                      </a:r>
                      <a:r>
                        <a:rPr sz="1600" spc="65" dirty="0">
                          <a:latin typeface="Arial MT"/>
                          <a:cs typeface="Arial MT"/>
                        </a:rPr>
                        <a:t> </a:t>
                      </a:r>
                      <a:r>
                        <a:rPr sz="1600" dirty="0">
                          <a:latin typeface="Arial MT"/>
                          <a:cs typeface="Arial MT"/>
                        </a:rPr>
                        <a:t>hard</a:t>
                      </a:r>
                      <a:r>
                        <a:rPr sz="1600" spc="60" dirty="0">
                          <a:latin typeface="Arial MT"/>
                          <a:cs typeface="Arial MT"/>
                        </a:rPr>
                        <a:t> </a:t>
                      </a:r>
                      <a:r>
                        <a:rPr sz="1600" spc="75" dirty="0">
                          <a:latin typeface="Arial MT"/>
                          <a:cs typeface="Arial MT"/>
                        </a:rPr>
                        <a:t>to</a:t>
                      </a:r>
                      <a:r>
                        <a:rPr sz="1600" spc="65" dirty="0">
                          <a:latin typeface="Arial MT"/>
                          <a:cs typeface="Arial MT"/>
                        </a:rPr>
                        <a:t> </a:t>
                      </a:r>
                      <a:r>
                        <a:rPr sz="1600" spc="-10" dirty="0">
                          <a:latin typeface="Arial MT"/>
                          <a:cs typeface="Arial MT"/>
                        </a:rPr>
                        <a:t>interpret</a:t>
                      </a:r>
                      <a:endParaRPr sz="1600" dirty="0">
                        <a:latin typeface="Arial MT"/>
                        <a:cs typeface="Arial MT"/>
                      </a:endParaRPr>
                    </a:p>
                  </a:txBody>
                  <a:tcPr marL="0" marR="0" marT="89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10447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close-up of a person&#10;&#10;Description automatically generated">
            <a:extLst>
              <a:ext uri="{FF2B5EF4-FFF2-40B4-BE49-F238E27FC236}">
                <a16:creationId xmlns:a16="http://schemas.microsoft.com/office/drawing/2014/main" id="{ACA4CB33-E563-290F-01DB-0F754F38A947}"/>
              </a:ext>
            </a:extLst>
          </p:cNvPr>
          <p:cNvPicPr>
            <a:picLocks noChangeAspect="1"/>
          </p:cNvPicPr>
          <p:nvPr/>
        </p:nvPicPr>
        <p:blipFill>
          <a:blip r:embed="rId3"/>
          <a:stretch>
            <a:fillRect/>
          </a:stretch>
        </p:blipFill>
        <p:spPr>
          <a:xfrm>
            <a:off x="-1" y="198"/>
            <a:ext cx="10080625" cy="5670352"/>
          </a:xfrm>
          <a:prstGeom prst="rect">
            <a:avLst/>
          </a:prstGeom>
        </p:spPr>
      </p:pic>
      <p:sp>
        <p:nvSpPr>
          <p:cNvPr id="16" name="Rectangle 15">
            <a:extLst>
              <a:ext uri="{FF2B5EF4-FFF2-40B4-BE49-F238E27FC236}">
                <a16:creationId xmlns:a16="http://schemas.microsoft.com/office/drawing/2014/main" id="{DF8639DD-EE0B-86A1-D2DC-1CFCD45E9667}"/>
              </a:ext>
            </a:extLst>
          </p:cNvPr>
          <p:cNvSpPr/>
          <p:nvPr/>
        </p:nvSpPr>
        <p:spPr>
          <a:xfrm>
            <a:off x="212940" y="1768837"/>
            <a:ext cx="9654742" cy="2482150"/>
          </a:xfrm>
          <a:prstGeom prst="rect">
            <a:avLst/>
          </a:prstGeom>
          <a:solidFill>
            <a:srgbClr val="04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0" b="1" dirty="0">
                <a:solidFill>
                  <a:schemeClr val="bg1"/>
                </a:solidFill>
                <a:latin typeface="Integral CF Bold" pitchFamily="2" charset="77"/>
                <a:ea typeface="Verdana" panose="020B0604030504040204" pitchFamily="34" charset="0"/>
                <a:cs typeface="Arial Black" panose="020B0604020202020204" pitchFamily="34" charset="0"/>
              </a:rPr>
              <a:t>Let’s Code </a:t>
            </a:r>
          </a:p>
          <a:p>
            <a:pPr algn="ctr"/>
            <a:r>
              <a:rPr lang="en-US" sz="6600" b="1" dirty="0">
                <a:solidFill>
                  <a:schemeClr val="bg1"/>
                </a:solidFill>
                <a:latin typeface="Integral CF Bold" pitchFamily="2" charset="77"/>
                <a:ea typeface="Verdana" panose="020B0604030504040204" pitchFamily="34" charset="0"/>
                <a:cs typeface="Arial Black" panose="020B0604020202020204" pitchFamily="34" charset="0"/>
              </a:rPr>
              <a:t>Session 2a</a:t>
            </a:r>
            <a:endParaRPr lang="en-US" sz="10000" b="1" dirty="0">
              <a:solidFill>
                <a:schemeClr val="bg1"/>
              </a:solidFill>
              <a:latin typeface="Integral CF Bold" pitchFamily="2" charset="77"/>
              <a:ea typeface="Verdana" panose="020B0604030504040204" pitchFamily="34" charset="0"/>
              <a:cs typeface="Arial Black" panose="020B0604020202020204" pitchFamily="34" charset="0"/>
            </a:endParaRPr>
          </a:p>
        </p:txBody>
      </p:sp>
    </p:spTree>
    <p:extLst>
      <p:ext uri="{BB962C8B-B14F-4D97-AF65-F5344CB8AC3E}">
        <p14:creationId xmlns:p14="http://schemas.microsoft.com/office/powerpoint/2010/main" val="2912631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C873B-7EBD-7BBB-0C25-78EA95910E6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ACF6305-98E7-00B9-CC4D-043483C3E278}"/>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74755A4F-6E47-6BD1-4C18-19FA7CF3D3D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0E6629FC-E5CB-E97B-D98E-95F1B8C3A8D6}"/>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4A4C405C-8CF4-F195-0707-D74C50E3DB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79D0231C-AFCC-BCB1-6FF9-BD02E56A91C6}"/>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E1EA9DA6-FF2F-219F-1FCE-C379FECA9863}"/>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pic>
        <p:nvPicPr>
          <p:cNvPr id="12" name="Picture 11" descr="A screenshot of a computer program&#10;&#10;AI-generated content may be incorrect.">
            <a:extLst>
              <a:ext uri="{FF2B5EF4-FFF2-40B4-BE49-F238E27FC236}">
                <a16:creationId xmlns:a16="http://schemas.microsoft.com/office/drawing/2014/main" id="{832D2952-6CAA-5EE3-EF95-721EB5F7B33A}"/>
              </a:ext>
            </a:extLst>
          </p:cNvPr>
          <p:cNvPicPr>
            <a:picLocks noChangeAspect="1"/>
          </p:cNvPicPr>
          <p:nvPr/>
        </p:nvPicPr>
        <p:blipFill>
          <a:blip r:embed="rId6"/>
          <a:stretch>
            <a:fillRect/>
          </a:stretch>
        </p:blipFill>
        <p:spPr>
          <a:xfrm>
            <a:off x="155564" y="1391898"/>
            <a:ext cx="4287635" cy="1934665"/>
          </a:xfrm>
          <a:prstGeom prst="rect">
            <a:avLst/>
          </a:prstGeom>
        </p:spPr>
      </p:pic>
      <p:pic>
        <p:nvPicPr>
          <p:cNvPr id="14" name="Picture 13" descr="A screenshot of a computer program&#10;&#10;AI-generated content may be incorrect.">
            <a:extLst>
              <a:ext uri="{FF2B5EF4-FFF2-40B4-BE49-F238E27FC236}">
                <a16:creationId xmlns:a16="http://schemas.microsoft.com/office/drawing/2014/main" id="{14BDA783-C080-5B13-FB87-A4156EBFC102}"/>
              </a:ext>
            </a:extLst>
          </p:cNvPr>
          <p:cNvPicPr>
            <a:picLocks noChangeAspect="1"/>
          </p:cNvPicPr>
          <p:nvPr/>
        </p:nvPicPr>
        <p:blipFill>
          <a:blip r:embed="rId7"/>
          <a:stretch>
            <a:fillRect/>
          </a:stretch>
        </p:blipFill>
        <p:spPr>
          <a:xfrm>
            <a:off x="4551706" y="1325054"/>
            <a:ext cx="5528919" cy="2018494"/>
          </a:xfrm>
          <a:prstGeom prst="rect">
            <a:avLst/>
          </a:prstGeom>
        </p:spPr>
      </p:pic>
      <p:sp>
        <p:nvSpPr>
          <p:cNvPr id="18" name="object 3">
            <a:extLst>
              <a:ext uri="{FF2B5EF4-FFF2-40B4-BE49-F238E27FC236}">
                <a16:creationId xmlns:a16="http://schemas.microsoft.com/office/drawing/2014/main" id="{1F7D9413-7E68-F9D8-7634-67141F501052}"/>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Decision Tree</a:t>
            </a:r>
            <a:endParaRPr b="1" dirty="0">
              <a:solidFill>
                <a:srgbClr val="FE0E67"/>
              </a:solidFill>
              <a:latin typeface="Arial MT"/>
              <a:cs typeface="Arial MT"/>
            </a:endParaRPr>
          </a:p>
        </p:txBody>
      </p:sp>
      <p:sp>
        <p:nvSpPr>
          <p:cNvPr id="20" name="object 3">
            <a:extLst>
              <a:ext uri="{FF2B5EF4-FFF2-40B4-BE49-F238E27FC236}">
                <a16:creationId xmlns:a16="http://schemas.microsoft.com/office/drawing/2014/main" id="{AAEE9403-6C59-2020-3CF1-644330228A02}"/>
              </a:ext>
            </a:extLst>
          </p:cNvPr>
          <p:cNvSpPr txBox="1"/>
          <p:nvPr/>
        </p:nvSpPr>
        <p:spPr>
          <a:xfrm>
            <a:off x="441990" y="3595233"/>
            <a:ext cx="8219431" cy="619841"/>
          </a:xfrm>
          <a:prstGeom prst="rect">
            <a:avLst/>
          </a:prstGeom>
        </p:spPr>
        <p:txBody>
          <a:bodyPr vert="horz" wrap="square" lIns="0" tIns="42346" rIns="0" bIns="0" rtlCol="0">
            <a:spAutoFit/>
          </a:bodyPr>
          <a:lstStyle/>
          <a:p>
            <a:pPr marL="348313" marR="96472" indent="-342900">
              <a:lnSpc>
                <a:spcPts val="2126"/>
              </a:lnSpc>
              <a:spcBef>
                <a:spcPts val="333"/>
              </a:spcBef>
              <a:buAutoNum type="arabicPeriod"/>
              <a:tabLst>
                <a:tab pos="100611" algn="l"/>
              </a:tabLst>
            </a:pPr>
            <a:r>
              <a:rPr lang="en-GB" dirty="0">
                <a:latin typeface="Arial MT"/>
                <a:cs typeface="Arial MT"/>
              </a:rPr>
              <a:t>Train on </a:t>
            </a:r>
            <a:r>
              <a:rPr lang="en-GB" dirty="0" err="1">
                <a:latin typeface="Arial MT"/>
                <a:cs typeface="Arial MT"/>
              </a:rPr>
              <a:t>X_train</a:t>
            </a:r>
            <a:r>
              <a:rPr lang="en-GB" dirty="0">
                <a:latin typeface="Arial MT"/>
                <a:cs typeface="Arial MT"/>
              </a:rPr>
              <a:t>, </a:t>
            </a:r>
            <a:r>
              <a:rPr lang="en-GB" dirty="0" err="1">
                <a:latin typeface="Arial MT"/>
                <a:cs typeface="Arial MT"/>
              </a:rPr>
              <a:t>y_train</a:t>
            </a:r>
            <a:r>
              <a:rPr lang="en-GB" dirty="0">
                <a:latin typeface="Arial MT"/>
                <a:cs typeface="Arial MT"/>
              </a:rPr>
              <a:t> (builds the decision tree)</a:t>
            </a:r>
          </a:p>
          <a:p>
            <a:pPr marL="348313" marR="96472" indent="-342900">
              <a:lnSpc>
                <a:spcPts val="2126"/>
              </a:lnSpc>
              <a:spcBef>
                <a:spcPts val="333"/>
              </a:spcBef>
              <a:buAutoNum type="arabicPeriod"/>
              <a:tabLst>
                <a:tab pos="100611" algn="l"/>
              </a:tabLst>
            </a:pPr>
            <a:r>
              <a:rPr lang="en-GB" dirty="0">
                <a:latin typeface="Arial MT"/>
                <a:cs typeface="Arial MT"/>
              </a:rPr>
              <a:t>Predict on </a:t>
            </a:r>
            <a:r>
              <a:rPr lang="en-GB" dirty="0" err="1">
                <a:latin typeface="Arial MT"/>
                <a:cs typeface="Arial MT"/>
              </a:rPr>
              <a:t>X_text</a:t>
            </a:r>
            <a:endParaRPr dirty="0">
              <a:latin typeface="Arial MT"/>
              <a:cs typeface="Arial MT"/>
            </a:endParaRPr>
          </a:p>
        </p:txBody>
      </p:sp>
    </p:spTree>
    <p:extLst>
      <p:ext uri="{BB962C8B-B14F-4D97-AF65-F5344CB8AC3E}">
        <p14:creationId xmlns:p14="http://schemas.microsoft.com/office/powerpoint/2010/main" val="1309701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769C0-FE9A-7B62-B251-7125314C916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48E1621-F5D7-19B1-8E8F-7B231CF8FCD4}"/>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B0E37E2B-94E1-B3EB-BBF7-A9FBED24FFB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0FA30B9C-6683-091C-B343-E5352AD6D006}"/>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CA846925-854D-050D-6689-BEDAA028CEC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1CF455D5-58C9-FA7E-3D2A-866A67C36541}"/>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72BC0805-E244-7911-1108-A3DB36D67BEC}"/>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20" name="object 3">
            <a:extLst>
              <a:ext uri="{FF2B5EF4-FFF2-40B4-BE49-F238E27FC236}">
                <a16:creationId xmlns:a16="http://schemas.microsoft.com/office/drawing/2014/main" id="{54668180-A913-F29C-19C4-CF7F84324636}"/>
              </a:ext>
            </a:extLst>
          </p:cNvPr>
          <p:cNvSpPr txBox="1"/>
          <p:nvPr/>
        </p:nvSpPr>
        <p:spPr>
          <a:xfrm>
            <a:off x="499273" y="4172890"/>
            <a:ext cx="8219431"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dirty="0">
                <a:latin typeface="Arial MT"/>
                <a:cs typeface="Arial MT"/>
              </a:rPr>
              <a:t>Q: Why are the results different between Python and R?</a:t>
            </a:r>
            <a:endParaRPr dirty="0">
              <a:latin typeface="Arial MT"/>
              <a:cs typeface="Arial MT"/>
            </a:endParaRPr>
          </a:p>
        </p:txBody>
      </p:sp>
      <p:pic>
        <p:nvPicPr>
          <p:cNvPr id="3" name="Picture 2" descr="A blue squares with white text&#10;&#10;AI-generated content may be incorrect.">
            <a:extLst>
              <a:ext uri="{FF2B5EF4-FFF2-40B4-BE49-F238E27FC236}">
                <a16:creationId xmlns:a16="http://schemas.microsoft.com/office/drawing/2014/main" id="{E89A3442-C34D-FE54-A524-AB41A520D41F}"/>
              </a:ext>
            </a:extLst>
          </p:cNvPr>
          <p:cNvPicPr>
            <a:picLocks noChangeAspect="1"/>
          </p:cNvPicPr>
          <p:nvPr/>
        </p:nvPicPr>
        <p:blipFill>
          <a:blip r:embed="rId6"/>
          <a:stretch>
            <a:fillRect/>
          </a:stretch>
        </p:blipFill>
        <p:spPr>
          <a:xfrm>
            <a:off x="5060155" y="1401682"/>
            <a:ext cx="4114800" cy="2857500"/>
          </a:xfrm>
          <a:prstGeom prst="rect">
            <a:avLst/>
          </a:prstGeom>
        </p:spPr>
      </p:pic>
      <p:pic>
        <p:nvPicPr>
          <p:cNvPr id="5" name="Picture 4" descr="A graph with blue squares and black text&#10;&#10;AI-generated content may be incorrect.">
            <a:extLst>
              <a:ext uri="{FF2B5EF4-FFF2-40B4-BE49-F238E27FC236}">
                <a16:creationId xmlns:a16="http://schemas.microsoft.com/office/drawing/2014/main" id="{09E9214B-A589-1128-2AAB-7364A77A42D7}"/>
              </a:ext>
            </a:extLst>
          </p:cNvPr>
          <p:cNvPicPr>
            <a:picLocks noChangeAspect="1"/>
          </p:cNvPicPr>
          <p:nvPr/>
        </p:nvPicPr>
        <p:blipFill>
          <a:blip r:embed="rId7"/>
          <a:stretch>
            <a:fillRect/>
          </a:stretch>
        </p:blipFill>
        <p:spPr>
          <a:xfrm>
            <a:off x="238769" y="1349807"/>
            <a:ext cx="4394200" cy="2844800"/>
          </a:xfrm>
          <a:prstGeom prst="rect">
            <a:avLst/>
          </a:prstGeom>
        </p:spPr>
      </p:pic>
      <p:sp>
        <p:nvSpPr>
          <p:cNvPr id="6" name="object 3">
            <a:extLst>
              <a:ext uri="{FF2B5EF4-FFF2-40B4-BE49-F238E27FC236}">
                <a16:creationId xmlns:a16="http://schemas.microsoft.com/office/drawing/2014/main" id="{2D651DCA-7497-7DE3-A0BA-A97CCB2409F7}"/>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Decision Tree</a:t>
            </a:r>
            <a:endParaRPr b="1" dirty="0">
              <a:solidFill>
                <a:srgbClr val="FE0E67"/>
              </a:solidFill>
              <a:latin typeface="Arial MT"/>
              <a:cs typeface="Arial MT"/>
            </a:endParaRPr>
          </a:p>
        </p:txBody>
      </p:sp>
    </p:spTree>
    <p:extLst>
      <p:ext uri="{BB962C8B-B14F-4D97-AF65-F5344CB8AC3E}">
        <p14:creationId xmlns:p14="http://schemas.microsoft.com/office/powerpoint/2010/main" val="2467631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216D7-3311-185E-2CF5-BAFD0541440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AA761DC-ED81-520B-930E-AE7B086C10C5}"/>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9A87625E-4867-54A5-7952-56DF6618667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197CC779-9293-19C8-4AC1-45E1DFB7F187}"/>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0BEBB0B6-9705-3C47-3384-69467FAD198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6637B958-1BB6-E87A-A856-61BBE97E368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1FC650E4-70A2-8206-5FD2-F9CE690AD022}"/>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20" name="object 3">
            <a:extLst>
              <a:ext uri="{FF2B5EF4-FFF2-40B4-BE49-F238E27FC236}">
                <a16:creationId xmlns:a16="http://schemas.microsoft.com/office/drawing/2014/main" id="{A599E3F0-A310-F51F-BE3F-21F52B2E78D7}"/>
              </a:ext>
            </a:extLst>
          </p:cNvPr>
          <p:cNvSpPr txBox="1"/>
          <p:nvPr/>
        </p:nvSpPr>
        <p:spPr>
          <a:xfrm>
            <a:off x="551169" y="1545609"/>
            <a:ext cx="9028260" cy="2897387"/>
          </a:xfrm>
          <a:prstGeom prst="rect">
            <a:avLst/>
          </a:prstGeom>
        </p:spPr>
        <p:txBody>
          <a:bodyPr vert="horz" wrap="square" lIns="0" tIns="42346" rIns="0" bIns="0" rtlCol="0">
            <a:spAutoFit/>
          </a:bodyPr>
          <a:lstStyle/>
          <a:p>
            <a:pPr marL="5413" marR="96472">
              <a:spcBef>
                <a:spcPts val="333"/>
              </a:spcBef>
              <a:tabLst>
                <a:tab pos="100611" algn="l"/>
              </a:tabLst>
            </a:pPr>
            <a:r>
              <a:rPr lang="en-GB" sz="2400" dirty="0">
                <a:latin typeface="Arial MT"/>
                <a:cs typeface="Arial MT"/>
              </a:rPr>
              <a:t>Pruning a decision tree to reduce overfitting and faster training</a:t>
            </a:r>
          </a:p>
          <a:p>
            <a:pPr marL="5413" marR="96472">
              <a:spcBef>
                <a:spcPts val="333"/>
              </a:spcBef>
              <a:tabLst>
                <a:tab pos="100611" algn="l"/>
              </a:tabLst>
            </a:pPr>
            <a:endParaRPr lang="en-GB" sz="2400" dirty="0">
              <a:latin typeface="Arial MT"/>
              <a:cs typeface="Arial MT"/>
            </a:endParaRPr>
          </a:p>
          <a:p>
            <a:pPr marL="462613" marR="96472" indent="-457200">
              <a:spcBef>
                <a:spcPts val="333"/>
              </a:spcBef>
              <a:spcAft>
                <a:spcPts val="600"/>
              </a:spcAft>
              <a:buAutoNum type="arabicPeriod"/>
              <a:tabLst>
                <a:tab pos="100611" algn="l"/>
              </a:tabLst>
            </a:pPr>
            <a:r>
              <a:rPr lang="en-GB" sz="2400" dirty="0">
                <a:latin typeface="Arial MT"/>
                <a:cs typeface="Arial MT"/>
              </a:rPr>
              <a:t>Pre-pruning: stops a decision tree from growing if it won’t improve the performance. </a:t>
            </a:r>
          </a:p>
          <a:p>
            <a:pPr marL="462613" marR="96472" indent="-457200">
              <a:spcBef>
                <a:spcPts val="333"/>
              </a:spcBef>
              <a:buAutoNum type="arabicPeriod"/>
              <a:tabLst>
                <a:tab pos="100611" algn="l"/>
              </a:tabLst>
            </a:pPr>
            <a:r>
              <a:rPr lang="en-GB" sz="2400" dirty="0">
                <a:latin typeface="Arial MT"/>
                <a:cs typeface="Arial MT"/>
              </a:rPr>
              <a:t>Post-pruning: remove branches and leaves, if it reduces error.</a:t>
            </a:r>
          </a:p>
          <a:p>
            <a:pPr marL="462613" marR="96472" indent="-457200">
              <a:spcBef>
                <a:spcPts val="333"/>
              </a:spcBef>
              <a:buAutoNum type="arabicPeriod"/>
              <a:tabLst>
                <a:tab pos="100611" algn="l"/>
              </a:tabLst>
            </a:pPr>
            <a:endParaRPr lang="en-GB" sz="2400" dirty="0">
              <a:latin typeface="Arial MT"/>
              <a:cs typeface="Arial MT"/>
            </a:endParaRPr>
          </a:p>
          <a:p>
            <a:pPr marL="5413" marR="96472">
              <a:spcBef>
                <a:spcPts val="333"/>
              </a:spcBef>
              <a:tabLst>
                <a:tab pos="100611" algn="l"/>
              </a:tabLst>
            </a:pPr>
            <a:r>
              <a:rPr lang="en-GB" sz="2400" dirty="0">
                <a:latin typeface="Arial MT"/>
                <a:cs typeface="Arial MT"/>
              </a:rPr>
              <a:t>Criteria: maximum depth, information gain, </a:t>
            </a:r>
            <a:r>
              <a:rPr lang="en-GB" sz="2400" dirty="0" err="1">
                <a:latin typeface="Arial MT"/>
                <a:cs typeface="Arial MT"/>
              </a:rPr>
              <a:t>gini</a:t>
            </a:r>
            <a:r>
              <a:rPr lang="en-GB" sz="2400" dirty="0">
                <a:latin typeface="Arial MT"/>
                <a:cs typeface="Arial MT"/>
              </a:rPr>
              <a:t> impurity, etc.</a:t>
            </a:r>
            <a:endParaRPr sz="2400" dirty="0">
              <a:latin typeface="Arial MT"/>
              <a:cs typeface="Arial MT"/>
            </a:endParaRPr>
          </a:p>
        </p:txBody>
      </p:sp>
      <p:sp>
        <p:nvSpPr>
          <p:cNvPr id="2" name="object 3">
            <a:extLst>
              <a:ext uri="{FF2B5EF4-FFF2-40B4-BE49-F238E27FC236}">
                <a16:creationId xmlns:a16="http://schemas.microsoft.com/office/drawing/2014/main" id="{57E5CD92-C290-DCBB-0123-200DE02CC1D1}"/>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Decision Tree</a:t>
            </a:r>
            <a:endParaRPr b="1" dirty="0">
              <a:solidFill>
                <a:srgbClr val="FE0E67"/>
              </a:solidFill>
              <a:latin typeface="Arial MT"/>
              <a:cs typeface="Arial MT"/>
            </a:endParaRPr>
          </a:p>
        </p:txBody>
      </p:sp>
    </p:spTree>
    <p:extLst>
      <p:ext uri="{BB962C8B-B14F-4D97-AF65-F5344CB8AC3E}">
        <p14:creationId xmlns:p14="http://schemas.microsoft.com/office/powerpoint/2010/main" val="2548738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78C06-BBC3-103B-DAA6-44BDA55B2F3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F9AA248-8E5E-DCBB-7A46-6AB252BADC00}"/>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CB209223-0BD0-6CD6-C722-54540AF4AC2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6438B112-D80F-E66C-F1CD-0941083112A5}"/>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AB7ABAFD-428A-583F-C24E-C8BBB63241D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02A72A20-9493-DFA3-7BF0-BB13250490BF}"/>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58C14280-6DC4-D125-5104-15E449AD6E3E}"/>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20" name="object 3">
            <a:extLst>
              <a:ext uri="{FF2B5EF4-FFF2-40B4-BE49-F238E27FC236}">
                <a16:creationId xmlns:a16="http://schemas.microsoft.com/office/drawing/2014/main" id="{1CDE00EA-E76E-171C-0F7C-93C0746FA0B8}"/>
              </a:ext>
            </a:extLst>
          </p:cNvPr>
          <p:cNvSpPr txBox="1"/>
          <p:nvPr/>
        </p:nvSpPr>
        <p:spPr>
          <a:xfrm>
            <a:off x="950439" y="1510799"/>
            <a:ext cx="8219431" cy="2897387"/>
          </a:xfrm>
          <a:prstGeom prst="rect">
            <a:avLst/>
          </a:prstGeom>
        </p:spPr>
        <p:txBody>
          <a:bodyPr vert="horz" wrap="square" lIns="0" tIns="42346" rIns="0" bIns="0" rtlCol="0">
            <a:spAutoFit/>
          </a:bodyPr>
          <a:lstStyle/>
          <a:p>
            <a:pPr marL="5413" marR="96472">
              <a:spcBef>
                <a:spcPts val="333"/>
              </a:spcBef>
              <a:tabLst>
                <a:tab pos="100611" algn="l"/>
              </a:tabLst>
            </a:pPr>
            <a:r>
              <a:rPr lang="en-GB" sz="2400" dirty="0">
                <a:latin typeface="Arial MT"/>
                <a:cs typeface="Arial MT"/>
              </a:rPr>
              <a:t>Try:</a:t>
            </a:r>
          </a:p>
          <a:p>
            <a:pPr marL="519763" marR="96472" indent="-514350">
              <a:spcBef>
                <a:spcPts val="333"/>
              </a:spcBef>
              <a:buAutoNum type="arabicPeriod"/>
              <a:tabLst>
                <a:tab pos="100611" algn="l"/>
              </a:tabLst>
            </a:pPr>
            <a:r>
              <a:rPr lang="en-GB" sz="2400" dirty="0">
                <a:latin typeface="Arial MT"/>
                <a:cs typeface="Arial MT"/>
              </a:rPr>
              <a:t>Select different sets of features to train the data. </a:t>
            </a:r>
            <a:br>
              <a:rPr lang="en-GB" sz="2400" dirty="0">
                <a:latin typeface="Arial MT"/>
                <a:cs typeface="Arial MT"/>
              </a:rPr>
            </a:br>
            <a:r>
              <a:rPr lang="en-GB" sz="2400" dirty="0">
                <a:latin typeface="Arial MT"/>
                <a:cs typeface="Arial MT"/>
              </a:rPr>
              <a:t>(ex. Remove Sex, and Age), and compare the results.</a:t>
            </a:r>
          </a:p>
          <a:p>
            <a:pPr marL="519763" marR="96472" indent="-514350">
              <a:spcBef>
                <a:spcPts val="333"/>
              </a:spcBef>
              <a:buAutoNum type="arabicPeriod"/>
              <a:tabLst>
                <a:tab pos="100611" algn="l"/>
              </a:tabLst>
            </a:pPr>
            <a:endParaRPr lang="en-GB" sz="2400" dirty="0">
              <a:latin typeface="Arial MT"/>
              <a:cs typeface="Arial MT"/>
            </a:endParaRPr>
          </a:p>
          <a:p>
            <a:pPr marL="519763" marR="96472" indent="-514350">
              <a:spcBef>
                <a:spcPts val="333"/>
              </a:spcBef>
              <a:buAutoNum type="arabicPeriod"/>
              <a:tabLst>
                <a:tab pos="100611" algn="l"/>
              </a:tabLst>
            </a:pPr>
            <a:r>
              <a:rPr lang="en-GB" sz="2400" dirty="0">
                <a:latin typeface="Arial MT"/>
                <a:cs typeface="Arial MT"/>
              </a:rPr>
              <a:t>Pre-prune or post-prune the tree</a:t>
            </a:r>
          </a:p>
          <a:p>
            <a:pPr marL="462613" marR="96472" lvl="1">
              <a:spcBef>
                <a:spcPts val="333"/>
              </a:spcBef>
              <a:tabLst>
                <a:tab pos="100611" algn="l"/>
              </a:tabLst>
            </a:pPr>
            <a:endParaRPr lang="en-GB" sz="1600" dirty="0">
              <a:latin typeface="Arial MT"/>
              <a:cs typeface="Arial MT"/>
            </a:endParaRPr>
          </a:p>
          <a:p>
            <a:pPr marL="462613" marR="96472" lvl="1">
              <a:spcBef>
                <a:spcPts val="333"/>
              </a:spcBef>
              <a:tabLst>
                <a:tab pos="100611" algn="l"/>
              </a:tabLst>
            </a:pPr>
            <a:r>
              <a:rPr lang="en-GB" sz="1600" dirty="0">
                <a:latin typeface="Arial MT"/>
                <a:cs typeface="Arial MT"/>
              </a:rPr>
              <a:t>Example for Python</a:t>
            </a:r>
          </a:p>
          <a:p>
            <a:pPr marL="462613" marR="96472" lvl="1">
              <a:spcBef>
                <a:spcPts val="333"/>
              </a:spcBef>
              <a:tabLst>
                <a:tab pos="100611" algn="l"/>
              </a:tabLst>
            </a:pPr>
            <a:r>
              <a:rPr lang="en-GB" sz="1600" dirty="0">
                <a:latin typeface="Arial MT"/>
                <a:cs typeface="Arial MT"/>
              </a:rPr>
              <a:t>https://</a:t>
            </a:r>
            <a:r>
              <a:rPr lang="en-GB" sz="1600" dirty="0" err="1">
                <a:latin typeface="Arial MT"/>
                <a:cs typeface="Arial MT"/>
              </a:rPr>
              <a:t>www.kaggle.com</a:t>
            </a:r>
            <a:r>
              <a:rPr lang="en-GB" sz="1600" dirty="0">
                <a:latin typeface="Arial MT"/>
                <a:cs typeface="Arial MT"/>
              </a:rPr>
              <a:t>/code/arunmohan003/pruning-decision-trees-tutorial</a:t>
            </a:r>
          </a:p>
        </p:txBody>
      </p:sp>
      <p:sp>
        <p:nvSpPr>
          <p:cNvPr id="2" name="object 3">
            <a:extLst>
              <a:ext uri="{FF2B5EF4-FFF2-40B4-BE49-F238E27FC236}">
                <a16:creationId xmlns:a16="http://schemas.microsoft.com/office/drawing/2014/main" id="{F29ED96A-2229-DD23-B2C3-27928CFC355D}"/>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Decision Tree</a:t>
            </a:r>
            <a:endParaRPr b="1" dirty="0">
              <a:solidFill>
                <a:srgbClr val="FE0E67"/>
              </a:solidFill>
              <a:latin typeface="Arial MT"/>
              <a:cs typeface="Arial MT"/>
            </a:endParaRPr>
          </a:p>
        </p:txBody>
      </p:sp>
    </p:spTree>
    <p:extLst>
      <p:ext uri="{BB962C8B-B14F-4D97-AF65-F5344CB8AC3E}">
        <p14:creationId xmlns:p14="http://schemas.microsoft.com/office/powerpoint/2010/main" val="3806369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30EE-7F0D-BC47-35A8-51663AA29C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E63D413-773B-146A-F074-60988214E01A}"/>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EED8E298-475E-4251-2B91-17A1ACCEDC2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283B48ED-EA7C-00DC-09E1-2CD2467CFD73}"/>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BE59EC56-2BB0-2D7B-5DE2-3DDD67DBF23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7EAC6F30-770B-8230-E3A1-A038CAFA759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F6635338-E0E1-886C-5B6F-948A8E237E9D}"/>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18" name="object 3">
            <a:extLst>
              <a:ext uri="{FF2B5EF4-FFF2-40B4-BE49-F238E27FC236}">
                <a16:creationId xmlns:a16="http://schemas.microsoft.com/office/drawing/2014/main" id="{E4284748-F54A-028E-51F7-5EA8B8C9D466}"/>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K-NN</a:t>
            </a:r>
            <a:endParaRPr b="1" dirty="0">
              <a:solidFill>
                <a:srgbClr val="FE0E67"/>
              </a:solidFill>
              <a:latin typeface="Arial MT"/>
              <a:cs typeface="Arial MT"/>
            </a:endParaRPr>
          </a:p>
        </p:txBody>
      </p:sp>
      <p:sp>
        <p:nvSpPr>
          <p:cNvPr id="20" name="object 3">
            <a:extLst>
              <a:ext uri="{FF2B5EF4-FFF2-40B4-BE49-F238E27FC236}">
                <a16:creationId xmlns:a16="http://schemas.microsoft.com/office/drawing/2014/main" id="{F1E0D9FF-10A3-21B9-78D0-B8DF86611F42}"/>
              </a:ext>
            </a:extLst>
          </p:cNvPr>
          <p:cNvSpPr txBox="1"/>
          <p:nvPr/>
        </p:nvSpPr>
        <p:spPr>
          <a:xfrm>
            <a:off x="441990" y="3595233"/>
            <a:ext cx="8219431" cy="927617"/>
          </a:xfrm>
          <a:prstGeom prst="rect">
            <a:avLst/>
          </a:prstGeom>
        </p:spPr>
        <p:txBody>
          <a:bodyPr vert="horz" wrap="square" lIns="0" tIns="42346" rIns="0" bIns="0" rtlCol="0">
            <a:spAutoFit/>
          </a:bodyPr>
          <a:lstStyle/>
          <a:p>
            <a:pPr marL="348313" marR="96472" indent="-342900">
              <a:lnSpc>
                <a:spcPts val="2126"/>
              </a:lnSpc>
              <a:spcBef>
                <a:spcPts val="333"/>
              </a:spcBef>
              <a:buAutoNum type="arabicPeriod"/>
              <a:tabLst>
                <a:tab pos="100611" algn="l"/>
              </a:tabLst>
            </a:pPr>
            <a:r>
              <a:rPr lang="en-GB" dirty="0">
                <a:latin typeface="Arial MT"/>
                <a:cs typeface="Arial MT"/>
              </a:rPr>
              <a:t>Scale </a:t>
            </a:r>
            <a:r>
              <a:rPr lang="en-GB" dirty="0" err="1">
                <a:latin typeface="Arial MT"/>
                <a:cs typeface="Arial MT"/>
              </a:rPr>
              <a:t>X_train</a:t>
            </a:r>
            <a:r>
              <a:rPr lang="en-GB" dirty="0">
                <a:latin typeface="Arial MT"/>
                <a:cs typeface="Arial MT"/>
              </a:rPr>
              <a:t>, </a:t>
            </a:r>
            <a:r>
              <a:rPr lang="en-GB" dirty="0" err="1">
                <a:latin typeface="Arial MT"/>
                <a:cs typeface="Arial MT"/>
              </a:rPr>
              <a:t>X_test</a:t>
            </a:r>
            <a:endParaRPr lang="en-GB" dirty="0">
              <a:latin typeface="Arial MT"/>
              <a:cs typeface="Arial MT"/>
            </a:endParaRPr>
          </a:p>
          <a:p>
            <a:pPr marL="348313" marR="96472" indent="-342900">
              <a:lnSpc>
                <a:spcPts val="2126"/>
              </a:lnSpc>
              <a:spcBef>
                <a:spcPts val="333"/>
              </a:spcBef>
              <a:buAutoNum type="arabicPeriod"/>
              <a:tabLst>
                <a:tab pos="100611" algn="l"/>
              </a:tabLst>
            </a:pPr>
            <a:r>
              <a:rPr lang="en-GB" dirty="0">
                <a:latin typeface="Arial MT"/>
                <a:cs typeface="Arial MT"/>
              </a:rPr>
              <a:t>Train on </a:t>
            </a:r>
            <a:r>
              <a:rPr lang="en-GB" dirty="0" err="1">
                <a:latin typeface="Arial MT"/>
                <a:cs typeface="Arial MT"/>
              </a:rPr>
              <a:t>X_train_scaled</a:t>
            </a:r>
            <a:r>
              <a:rPr lang="en-GB" dirty="0">
                <a:latin typeface="Arial MT"/>
                <a:cs typeface="Arial MT"/>
              </a:rPr>
              <a:t>, </a:t>
            </a:r>
            <a:r>
              <a:rPr lang="en-GB" dirty="0" err="1">
                <a:latin typeface="Arial MT"/>
                <a:cs typeface="Arial MT"/>
              </a:rPr>
              <a:t>y_train</a:t>
            </a:r>
            <a:endParaRPr lang="en-GB" dirty="0">
              <a:latin typeface="Arial MT"/>
              <a:cs typeface="Arial MT"/>
            </a:endParaRPr>
          </a:p>
          <a:p>
            <a:pPr marL="348313" marR="96472" indent="-342900">
              <a:lnSpc>
                <a:spcPts val="2126"/>
              </a:lnSpc>
              <a:spcBef>
                <a:spcPts val="333"/>
              </a:spcBef>
              <a:buAutoNum type="arabicPeriod"/>
              <a:tabLst>
                <a:tab pos="100611" algn="l"/>
              </a:tabLst>
            </a:pPr>
            <a:r>
              <a:rPr lang="en-GB" dirty="0">
                <a:latin typeface="Arial MT"/>
                <a:cs typeface="Arial MT"/>
              </a:rPr>
              <a:t>Predict on </a:t>
            </a:r>
            <a:r>
              <a:rPr lang="en-GB" dirty="0" err="1">
                <a:latin typeface="Arial MT"/>
                <a:cs typeface="Arial MT"/>
              </a:rPr>
              <a:t>X_text_scaled</a:t>
            </a:r>
            <a:endParaRPr dirty="0">
              <a:latin typeface="Arial MT"/>
              <a:cs typeface="Arial MT"/>
            </a:endParaRPr>
          </a:p>
        </p:txBody>
      </p:sp>
      <p:pic>
        <p:nvPicPr>
          <p:cNvPr id="10" name="Picture 9" descr="A computer code with text&#10;&#10;AI-generated content may be incorrect.">
            <a:extLst>
              <a:ext uri="{FF2B5EF4-FFF2-40B4-BE49-F238E27FC236}">
                <a16:creationId xmlns:a16="http://schemas.microsoft.com/office/drawing/2014/main" id="{23268CD7-D2E4-6337-27F0-6FF16592F68C}"/>
              </a:ext>
            </a:extLst>
          </p:cNvPr>
          <p:cNvPicPr>
            <a:picLocks noChangeAspect="1"/>
          </p:cNvPicPr>
          <p:nvPr/>
        </p:nvPicPr>
        <p:blipFill>
          <a:blip r:embed="rId6"/>
          <a:stretch>
            <a:fillRect/>
          </a:stretch>
        </p:blipFill>
        <p:spPr>
          <a:xfrm>
            <a:off x="4332706" y="1413839"/>
            <a:ext cx="4925243" cy="127263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60E21714-88F0-7847-D555-58768991A3C1}"/>
              </a:ext>
            </a:extLst>
          </p:cNvPr>
          <p:cNvPicPr>
            <a:picLocks noChangeAspect="1"/>
          </p:cNvPicPr>
          <p:nvPr/>
        </p:nvPicPr>
        <p:blipFill>
          <a:blip r:embed="rId7"/>
          <a:stretch>
            <a:fillRect/>
          </a:stretch>
        </p:blipFill>
        <p:spPr>
          <a:xfrm>
            <a:off x="373901" y="1430313"/>
            <a:ext cx="3708400" cy="2057400"/>
          </a:xfrm>
          <a:prstGeom prst="rect">
            <a:avLst/>
          </a:prstGeom>
        </p:spPr>
      </p:pic>
    </p:spTree>
    <p:extLst>
      <p:ext uri="{BB962C8B-B14F-4D97-AF65-F5344CB8AC3E}">
        <p14:creationId xmlns:p14="http://schemas.microsoft.com/office/powerpoint/2010/main" val="154979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81A79-56B8-4BB1-2A80-9418E77AF70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FFAA83D-2CE0-E1FA-A5ED-D8394E1F50F2}"/>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FA63A7F6-0642-5326-A13E-03B35F4FD43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10E0697C-EB6E-B58B-1DFE-F1180A24E2E5}"/>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A635C04E-88D3-9AB2-8D23-F6B614C4141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8B81061D-81CE-CD8C-D093-87DD5901A886}"/>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4198056A-1346-6D29-C2F7-984583100715}"/>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6" name="object 3">
            <a:extLst>
              <a:ext uri="{FF2B5EF4-FFF2-40B4-BE49-F238E27FC236}">
                <a16:creationId xmlns:a16="http://schemas.microsoft.com/office/drawing/2014/main" id="{446952FA-2003-CEE5-8CB4-785E8DABFF1E}"/>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K-NN</a:t>
            </a:r>
            <a:endParaRPr b="1" dirty="0">
              <a:solidFill>
                <a:srgbClr val="FE0E67"/>
              </a:solidFill>
              <a:latin typeface="Arial MT"/>
              <a:cs typeface="Arial MT"/>
            </a:endParaRPr>
          </a:p>
        </p:txBody>
      </p:sp>
      <p:pic>
        <p:nvPicPr>
          <p:cNvPr id="4" name="Picture 3" descr="A blue squares with white text&#10;&#10;AI-generated content may be incorrect.">
            <a:extLst>
              <a:ext uri="{FF2B5EF4-FFF2-40B4-BE49-F238E27FC236}">
                <a16:creationId xmlns:a16="http://schemas.microsoft.com/office/drawing/2014/main" id="{D4D4E214-0CD9-CE2F-23F8-86F2B3667A98}"/>
              </a:ext>
            </a:extLst>
          </p:cNvPr>
          <p:cNvPicPr>
            <a:picLocks noChangeAspect="1"/>
          </p:cNvPicPr>
          <p:nvPr/>
        </p:nvPicPr>
        <p:blipFill>
          <a:blip r:embed="rId6"/>
          <a:stretch>
            <a:fillRect/>
          </a:stretch>
        </p:blipFill>
        <p:spPr>
          <a:xfrm>
            <a:off x="5276847" y="1507272"/>
            <a:ext cx="3726651" cy="2739843"/>
          </a:xfrm>
          <a:prstGeom prst="rect">
            <a:avLst/>
          </a:prstGeom>
        </p:spPr>
      </p:pic>
      <p:pic>
        <p:nvPicPr>
          <p:cNvPr id="11" name="Picture 10" descr="A graph with blue squares and numbers&#10;&#10;AI-generated content may be incorrect.">
            <a:extLst>
              <a:ext uri="{FF2B5EF4-FFF2-40B4-BE49-F238E27FC236}">
                <a16:creationId xmlns:a16="http://schemas.microsoft.com/office/drawing/2014/main" id="{ED360D57-C8A1-F131-A7F6-EBCBB6FE5A38}"/>
              </a:ext>
            </a:extLst>
          </p:cNvPr>
          <p:cNvPicPr>
            <a:picLocks noChangeAspect="1"/>
          </p:cNvPicPr>
          <p:nvPr/>
        </p:nvPicPr>
        <p:blipFill>
          <a:blip r:embed="rId7"/>
          <a:stretch>
            <a:fillRect/>
          </a:stretch>
        </p:blipFill>
        <p:spPr>
          <a:xfrm>
            <a:off x="671800" y="1404363"/>
            <a:ext cx="4131979" cy="2739843"/>
          </a:xfrm>
          <a:prstGeom prst="rect">
            <a:avLst/>
          </a:prstGeom>
        </p:spPr>
      </p:pic>
    </p:spTree>
    <p:extLst>
      <p:ext uri="{BB962C8B-B14F-4D97-AF65-F5344CB8AC3E}">
        <p14:creationId xmlns:p14="http://schemas.microsoft.com/office/powerpoint/2010/main" val="21024573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FB1E-68F0-DE05-1314-F41B4E9CC4C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5F8AE23-7A6E-49DF-11DD-9A178497A8FC}"/>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B2C0CB8C-5132-BC30-A6E8-DA77346C571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C7482C8-921C-2B41-8FDD-1FD1CD39C0CA}"/>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D7E49555-DC61-F203-7E18-F06C6F5266C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739599F5-EEDF-1B1D-CFBE-9EC52D9CA75F}"/>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DC843AE5-6F48-4815-D82D-ACD6152BE224}"/>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20" name="object 3">
            <a:extLst>
              <a:ext uri="{FF2B5EF4-FFF2-40B4-BE49-F238E27FC236}">
                <a16:creationId xmlns:a16="http://schemas.microsoft.com/office/drawing/2014/main" id="{6013C679-5201-7C01-CC61-E8D533CCC0C3}"/>
              </a:ext>
            </a:extLst>
          </p:cNvPr>
          <p:cNvSpPr txBox="1"/>
          <p:nvPr/>
        </p:nvSpPr>
        <p:spPr>
          <a:xfrm>
            <a:off x="950439" y="1965919"/>
            <a:ext cx="8219431" cy="1635503"/>
          </a:xfrm>
          <a:prstGeom prst="rect">
            <a:avLst/>
          </a:prstGeom>
        </p:spPr>
        <p:txBody>
          <a:bodyPr vert="horz" wrap="square" lIns="0" tIns="42346" rIns="0" bIns="0" rtlCol="0">
            <a:spAutoFit/>
          </a:bodyPr>
          <a:lstStyle/>
          <a:p>
            <a:pPr marL="5413" marR="96472">
              <a:spcBef>
                <a:spcPts val="333"/>
              </a:spcBef>
              <a:tabLst>
                <a:tab pos="100611" algn="l"/>
              </a:tabLst>
            </a:pPr>
            <a:r>
              <a:rPr lang="en-GB" sz="2400" dirty="0">
                <a:latin typeface="Arial MT"/>
                <a:cs typeface="Arial MT"/>
              </a:rPr>
              <a:t>Try:</a:t>
            </a:r>
          </a:p>
          <a:p>
            <a:pPr marL="519763" marR="96472" indent="-514350">
              <a:spcBef>
                <a:spcPts val="333"/>
              </a:spcBef>
              <a:buAutoNum type="arabicPeriod"/>
              <a:tabLst>
                <a:tab pos="100611" algn="l"/>
              </a:tabLst>
            </a:pPr>
            <a:r>
              <a:rPr lang="en-GB" sz="2400" dirty="0">
                <a:latin typeface="Arial MT"/>
                <a:cs typeface="Arial MT"/>
              </a:rPr>
              <a:t>Compare the results before and after scaling.</a:t>
            </a:r>
          </a:p>
          <a:p>
            <a:pPr marL="519763" marR="96472" indent="-514350">
              <a:spcBef>
                <a:spcPts val="333"/>
              </a:spcBef>
              <a:buAutoNum type="arabicPeriod"/>
              <a:tabLst>
                <a:tab pos="100611" algn="l"/>
              </a:tabLst>
            </a:pPr>
            <a:endParaRPr lang="en-GB" sz="2400" dirty="0">
              <a:latin typeface="Arial MT"/>
              <a:cs typeface="Arial MT"/>
            </a:endParaRPr>
          </a:p>
          <a:p>
            <a:pPr marL="519763" marR="96472" indent="-514350">
              <a:spcBef>
                <a:spcPts val="333"/>
              </a:spcBef>
              <a:buAutoNum type="arabicPeriod"/>
              <a:tabLst>
                <a:tab pos="100611" algn="l"/>
              </a:tabLst>
            </a:pPr>
            <a:r>
              <a:rPr lang="en-GB" sz="2400" dirty="0">
                <a:latin typeface="Arial MT"/>
                <a:cs typeface="Arial MT"/>
              </a:rPr>
              <a:t>Compare the result of using different K</a:t>
            </a:r>
            <a:endParaRPr lang="en-GB" sz="1600" dirty="0">
              <a:latin typeface="Arial MT"/>
              <a:cs typeface="Arial MT"/>
            </a:endParaRPr>
          </a:p>
        </p:txBody>
      </p:sp>
      <p:sp>
        <p:nvSpPr>
          <p:cNvPr id="2" name="object 3">
            <a:extLst>
              <a:ext uri="{FF2B5EF4-FFF2-40B4-BE49-F238E27FC236}">
                <a16:creationId xmlns:a16="http://schemas.microsoft.com/office/drawing/2014/main" id="{CA30CDB4-8826-F808-AD64-A76D1CA0A247}"/>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K-NN</a:t>
            </a:r>
            <a:endParaRPr b="1" dirty="0">
              <a:solidFill>
                <a:srgbClr val="FE0E67"/>
              </a:solidFill>
              <a:latin typeface="Arial MT"/>
              <a:cs typeface="Arial MT"/>
            </a:endParaRPr>
          </a:p>
        </p:txBody>
      </p:sp>
    </p:spTree>
    <p:extLst>
      <p:ext uri="{BB962C8B-B14F-4D97-AF65-F5344CB8AC3E}">
        <p14:creationId xmlns:p14="http://schemas.microsoft.com/office/powerpoint/2010/main" val="3030812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C4588-AD7B-52A1-FACA-9A5AEEA84D6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BC5601E-022F-334F-ACFD-B0E13DCA6BE1}"/>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4256CCD6-62AE-6ECF-A19F-89EB24C2EB2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84003B61-B21A-D716-A408-CCEAE7C4591B}"/>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6879557E-9D40-5184-6469-E53A12D5269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92E0FA8C-9751-0075-CBB8-358067A87E29}"/>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7CB4790A-B4C2-8BF5-3DD4-F48657806958}"/>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6" name="object 3">
            <a:extLst>
              <a:ext uri="{FF2B5EF4-FFF2-40B4-BE49-F238E27FC236}">
                <a16:creationId xmlns:a16="http://schemas.microsoft.com/office/drawing/2014/main" id="{2001BFCC-B1F4-564E-C940-2A58F9872BAC}"/>
              </a:ext>
            </a:extLst>
          </p:cNvPr>
          <p:cNvSpPr txBox="1"/>
          <p:nvPr/>
        </p:nvSpPr>
        <p:spPr>
          <a:xfrm>
            <a:off x="238768" y="979086"/>
            <a:ext cx="4801543"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Compare decision tree and K-NN</a:t>
            </a:r>
            <a:endParaRPr b="1" dirty="0">
              <a:solidFill>
                <a:srgbClr val="FE0E67"/>
              </a:solidFill>
              <a:latin typeface="Arial MT"/>
              <a:cs typeface="Arial MT"/>
            </a:endParaRPr>
          </a:p>
        </p:txBody>
      </p:sp>
      <p:pic>
        <p:nvPicPr>
          <p:cNvPr id="13" name="Picture 12" descr="A screenshot of a phone&#10;&#10;AI-generated content may be incorrect.">
            <a:extLst>
              <a:ext uri="{FF2B5EF4-FFF2-40B4-BE49-F238E27FC236}">
                <a16:creationId xmlns:a16="http://schemas.microsoft.com/office/drawing/2014/main" id="{1090FA2E-F2E1-FDB7-4A28-9C0E32893212}"/>
              </a:ext>
            </a:extLst>
          </p:cNvPr>
          <p:cNvPicPr>
            <a:picLocks noChangeAspect="1"/>
          </p:cNvPicPr>
          <p:nvPr/>
        </p:nvPicPr>
        <p:blipFill>
          <a:blip r:embed="rId6"/>
          <a:stretch>
            <a:fillRect/>
          </a:stretch>
        </p:blipFill>
        <p:spPr>
          <a:xfrm>
            <a:off x="1652780" y="2273480"/>
            <a:ext cx="6775062" cy="1286404"/>
          </a:xfrm>
          <a:prstGeom prst="rect">
            <a:avLst/>
          </a:prstGeom>
        </p:spPr>
      </p:pic>
    </p:spTree>
    <p:extLst>
      <p:ext uri="{BB962C8B-B14F-4D97-AF65-F5344CB8AC3E}">
        <p14:creationId xmlns:p14="http://schemas.microsoft.com/office/powerpoint/2010/main" val="2155322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7EC21-8399-AEC6-02B3-A4AE5D07EEC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C2FF5130-B9F2-632C-FEB9-A970F62C4FB7}"/>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4CCFF575-6C19-D69B-E36B-126F3A4CD2F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9802F4DA-9F12-7C0B-1FC6-15A281C71F81}"/>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FD44ED3D-970C-FE51-7172-A2D4D0E0578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8201677F-6670-835F-B0E9-D442F7D4311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E0D08315-DE9B-4C22-81D8-7F8E6E7E5076}"/>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6" name="object 3">
            <a:extLst>
              <a:ext uri="{FF2B5EF4-FFF2-40B4-BE49-F238E27FC236}">
                <a16:creationId xmlns:a16="http://schemas.microsoft.com/office/drawing/2014/main" id="{D1BB6CFF-D58F-D9DC-BE0C-647944617264}"/>
              </a:ext>
            </a:extLst>
          </p:cNvPr>
          <p:cNvSpPr txBox="1"/>
          <p:nvPr/>
        </p:nvSpPr>
        <p:spPr>
          <a:xfrm>
            <a:off x="238768" y="979086"/>
            <a:ext cx="4801543"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Compare decision tree and K-NN</a:t>
            </a:r>
            <a:endParaRPr b="1" dirty="0">
              <a:solidFill>
                <a:srgbClr val="FE0E67"/>
              </a:solidFill>
              <a:latin typeface="Arial MT"/>
              <a:cs typeface="Arial MT"/>
            </a:endParaRPr>
          </a:p>
        </p:txBody>
      </p:sp>
      <p:pic>
        <p:nvPicPr>
          <p:cNvPr id="13" name="Picture 12" descr="A screenshot of a phone&#10;&#10;AI-generated content may be incorrect.">
            <a:extLst>
              <a:ext uri="{FF2B5EF4-FFF2-40B4-BE49-F238E27FC236}">
                <a16:creationId xmlns:a16="http://schemas.microsoft.com/office/drawing/2014/main" id="{29DA11D7-ABA2-68C7-B2BE-4F0F1F34BF91}"/>
              </a:ext>
            </a:extLst>
          </p:cNvPr>
          <p:cNvPicPr>
            <a:picLocks noChangeAspect="1"/>
          </p:cNvPicPr>
          <p:nvPr/>
        </p:nvPicPr>
        <p:blipFill>
          <a:blip r:embed="rId6"/>
          <a:stretch>
            <a:fillRect/>
          </a:stretch>
        </p:blipFill>
        <p:spPr>
          <a:xfrm>
            <a:off x="5196739" y="1017558"/>
            <a:ext cx="3981848" cy="756047"/>
          </a:xfrm>
          <a:prstGeom prst="rect">
            <a:avLst/>
          </a:prstGeom>
        </p:spPr>
      </p:pic>
      <p:pic>
        <p:nvPicPr>
          <p:cNvPr id="10" name="Picture 9" descr="A graph with red and blue dots&#10;&#10;AI-generated content may be incorrect.">
            <a:extLst>
              <a:ext uri="{FF2B5EF4-FFF2-40B4-BE49-F238E27FC236}">
                <a16:creationId xmlns:a16="http://schemas.microsoft.com/office/drawing/2014/main" id="{A73A5F51-D92F-83CE-E17D-002B1E77F1AC}"/>
              </a:ext>
            </a:extLst>
          </p:cNvPr>
          <p:cNvPicPr>
            <a:picLocks noChangeAspect="1"/>
          </p:cNvPicPr>
          <p:nvPr/>
        </p:nvPicPr>
        <p:blipFill>
          <a:blip r:embed="rId7"/>
          <a:stretch>
            <a:fillRect/>
          </a:stretch>
        </p:blipFill>
        <p:spPr>
          <a:xfrm>
            <a:off x="5216764" y="1951180"/>
            <a:ext cx="4153774" cy="2596109"/>
          </a:xfrm>
          <a:prstGeom prst="rect">
            <a:avLst/>
          </a:prstGeom>
        </p:spPr>
      </p:pic>
      <p:pic>
        <p:nvPicPr>
          <p:cNvPr id="14" name="Picture 13" descr="A graph with red and blue dots&#10;&#10;AI-generated content may be incorrect.">
            <a:extLst>
              <a:ext uri="{FF2B5EF4-FFF2-40B4-BE49-F238E27FC236}">
                <a16:creationId xmlns:a16="http://schemas.microsoft.com/office/drawing/2014/main" id="{0E2B0D09-661D-19FF-8787-051859A80E59}"/>
              </a:ext>
            </a:extLst>
          </p:cNvPr>
          <p:cNvPicPr>
            <a:picLocks noChangeAspect="1"/>
          </p:cNvPicPr>
          <p:nvPr/>
        </p:nvPicPr>
        <p:blipFill>
          <a:blip r:embed="rId8"/>
          <a:stretch>
            <a:fillRect/>
          </a:stretch>
        </p:blipFill>
        <p:spPr>
          <a:xfrm>
            <a:off x="470580" y="1855530"/>
            <a:ext cx="4393281" cy="2700037"/>
          </a:xfrm>
          <a:prstGeom prst="rect">
            <a:avLst/>
          </a:prstGeom>
        </p:spPr>
      </p:pic>
    </p:spTree>
    <p:extLst>
      <p:ext uri="{BB962C8B-B14F-4D97-AF65-F5344CB8AC3E}">
        <p14:creationId xmlns:p14="http://schemas.microsoft.com/office/powerpoint/2010/main" val="9154857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D6850-CC53-9345-6A22-A7240BF64D1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887E465-4BDD-957A-B33D-5B184DC81023}"/>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7688679C-E68E-668C-59B5-06005C8F390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47FFDF6D-65D2-41BC-566F-7F277A489BAD}"/>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D83C6F1E-6401-4449-3419-9F1E589648D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0A13D7BF-3A56-A2E5-D7AE-43E0CB07678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61662383-5D08-E573-D947-2BB39357B98A}"/>
              </a:ext>
            </a:extLst>
          </p:cNvPr>
          <p:cNvSpPr txBox="1"/>
          <p:nvPr/>
        </p:nvSpPr>
        <p:spPr>
          <a:xfrm>
            <a:off x="1063190" y="538366"/>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Regression</a:t>
            </a:r>
          </a:p>
        </p:txBody>
      </p:sp>
      <p:sp>
        <p:nvSpPr>
          <p:cNvPr id="2" name="object 3">
            <a:extLst>
              <a:ext uri="{FF2B5EF4-FFF2-40B4-BE49-F238E27FC236}">
                <a16:creationId xmlns:a16="http://schemas.microsoft.com/office/drawing/2014/main" id="{71A712DA-D52D-5890-E1B1-DBCD5F83A3B2}"/>
              </a:ext>
            </a:extLst>
          </p:cNvPr>
          <p:cNvSpPr txBox="1"/>
          <p:nvPr/>
        </p:nvSpPr>
        <p:spPr>
          <a:xfrm>
            <a:off x="561331" y="1595719"/>
            <a:ext cx="4012049" cy="834414"/>
          </a:xfrm>
          <a:prstGeom prst="rect">
            <a:avLst/>
          </a:prstGeom>
        </p:spPr>
        <p:txBody>
          <a:bodyPr vert="horz" wrap="square" lIns="0" tIns="6686" rIns="0" bIns="0" rtlCol="0">
            <a:spAutoFit/>
          </a:bodyPr>
          <a:lstStyle/>
          <a:p>
            <a:pPr marL="6368">
              <a:spcBef>
                <a:spcPts val="53"/>
              </a:spcBef>
            </a:pPr>
            <a:r>
              <a:rPr sz="2000" b="1" spc="-125" dirty="0">
                <a:latin typeface="Source Sans Pro" panose="020B0503030403020204" pitchFamily="34" charset="0"/>
                <a:ea typeface="Source Sans Pro" panose="020B0503030403020204" pitchFamily="34" charset="0"/>
                <a:cs typeface="Trebuchet MS"/>
              </a:rPr>
              <a:t>A</a:t>
            </a:r>
            <a:r>
              <a:rPr sz="2000" b="1" spc="-181" dirty="0">
                <a:latin typeface="Source Sans Pro" panose="020B0503030403020204" pitchFamily="34" charset="0"/>
                <a:ea typeface="Source Sans Pro" panose="020B0503030403020204" pitchFamily="34" charset="0"/>
                <a:cs typeface="Trebuchet MS"/>
              </a:rPr>
              <a:t> </a:t>
            </a:r>
            <a:r>
              <a:rPr lang="en-GB" sz="2000" b="1" spc="-181" dirty="0">
                <a:latin typeface="Source Sans Pro" panose="020B0503030403020204" pitchFamily="34" charset="0"/>
                <a:ea typeface="Source Sans Pro" panose="020B0503030403020204" pitchFamily="34" charset="0"/>
                <a:cs typeface="Trebuchet MS"/>
              </a:rPr>
              <a:t> </a:t>
            </a:r>
            <a:r>
              <a:rPr sz="2000" b="1" spc="-43" dirty="0">
                <a:latin typeface="Source Sans Pro" panose="020B0503030403020204" pitchFamily="34" charset="0"/>
                <a:ea typeface="Source Sans Pro" panose="020B0503030403020204" pitchFamily="34" charset="0"/>
                <a:cs typeface="Trebuchet MS"/>
              </a:rPr>
              <a:t>supervised</a:t>
            </a:r>
            <a:r>
              <a:rPr sz="2000" b="1" spc="-178" dirty="0">
                <a:latin typeface="Source Sans Pro" panose="020B0503030403020204" pitchFamily="34" charset="0"/>
                <a:ea typeface="Source Sans Pro" panose="020B0503030403020204" pitchFamily="34" charset="0"/>
                <a:cs typeface="Trebuchet MS"/>
              </a:rPr>
              <a:t> </a:t>
            </a:r>
            <a:r>
              <a:rPr sz="2000" b="1" spc="-38" dirty="0">
                <a:latin typeface="Source Sans Pro" panose="020B0503030403020204" pitchFamily="34" charset="0"/>
                <a:ea typeface="Source Sans Pro" panose="020B0503030403020204" pitchFamily="34" charset="0"/>
                <a:cs typeface="Trebuchet MS"/>
              </a:rPr>
              <a:t>learning</a:t>
            </a:r>
            <a:r>
              <a:rPr sz="2000" b="1" spc="-181" dirty="0">
                <a:latin typeface="Source Sans Pro" panose="020B0503030403020204" pitchFamily="34" charset="0"/>
                <a:ea typeface="Source Sans Pro" panose="020B0503030403020204" pitchFamily="34" charset="0"/>
                <a:cs typeface="Trebuchet MS"/>
              </a:rPr>
              <a:t> </a:t>
            </a:r>
            <a:r>
              <a:rPr sz="2000" b="1" spc="-10" dirty="0">
                <a:latin typeface="Source Sans Pro" panose="020B0503030403020204" pitchFamily="34" charset="0"/>
                <a:ea typeface="Source Sans Pro" panose="020B0503030403020204" pitchFamily="34" charset="0"/>
                <a:cs typeface="Trebuchet MS"/>
              </a:rPr>
              <a:t>task</a:t>
            </a:r>
            <a:endParaRPr sz="2000" dirty="0">
              <a:latin typeface="Source Sans Pro" panose="020B0503030403020204" pitchFamily="34" charset="0"/>
              <a:ea typeface="Source Sans Pro" panose="020B0503030403020204" pitchFamily="34" charset="0"/>
              <a:cs typeface="Trebuchet MS"/>
            </a:endParaRPr>
          </a:p>
          <a:p>
            <a:pPr marL="6368">
              <a:spcBef>
                <a:spcPts val="1717"/>
              </a:spcBef>
            </a:pPr>
            <a:r>
              <a:rPr sz="2000" spc="-73" dirty="0">
                <a:latin typeface="Source Sans Pro" panose="020B0503030403020204" pitchFamily="34" charset="0"/>
                <a:ea typeface="Source Sans Pro" panose="020B0503030403020204" pitchFamily="34" charset="0"/>
                <a:cs typeface="Tahoma"/>
              </a:rPr>
              <a:t>Goal:</a:t>
            </a:r>
            <a:r>
              <a:rPr sz="2000" spc="-196" dirty="0">
                <a:latin typeface="Source Sans Pro" panose="020B0503030403020204" pitchFamily="34" charset="0"/>
                <a:ea typeface="Source Sans Pro" panose="020B0503030403020204" pitchFamily="34" charset="0"/>
                <a:cs typeface="Tahoma"/>
              </a:rPr>
              <a:t> </a:t>
            </a:r>
            <a:r>
              <a:rPr sz="2000" spc="-20" dirty="0">
                <a:latin typeface="Source Sans Pro" panose="020B0503030403020204" pitchFamily="34" charset="0"/>
                <a:ea typeface="Source Sans Pro" panose="020B0503030403020204" pitchFamily="34" charset="0"/>
                <a:cs typeface="Tahoma"/>
              </a:rPr>
              <a:t>Predicting</a:t>
            </a:r>
            <a:r>
              <a:rPr sz="2000" spc="-196" dirty="0">
                <a:latin typeface="Source Sans Pro" panose="020B0503030403020204" pitchFamily="34" charset="0"/>
                <a:ea typeface="Source Sans Pro" panose="020B0503030403020204" pitchFamily="34" charset="0"/>
                <a:cs typeface="Tahoma"/>
              </a:rPr>
              <a:t> </a:t>
            </a:r>
            <a:r>
              <a:rPr sz="2000" spc="-28" dirty="0">
                <a:latin typeface="Source Sans Pro" panose="020B0503030403020204" pitchFamily="34" charset="0"/>
                <a:ea typeface="Source Sans Pro" panose="020B0503030403020204" pitchFamily="34" charset="0"/>
                <a:cs typeface="Tahoma"/>
              </a:rPr>
              <a:t>continuous</a:t>
            </a:r>
            <a:r>
              <a:rPr sz="2000" spc="-193" dirty="0">
                <a:latin typeface="Source Sans Pro" panose="020B0503030403020204" pitchFamily="34" charset="0"/>
                <a:ea typeface="Source Sans Pro" panose="020B0503030403020204" pitchFamily="34" charset="0"/>
                <a:cs typeface="Tahoma"/>
              </a:rPr>
              <a:t> </a:t>
            </a:r>
            <a:r>
              <a:rPr sz="2000" spc="-10" dirty="0">
                <a:latin typeface="Source Sans Pro" panose="020B0503030403020204" pitchFamily="34" charset="0"/>
                <a:ea typeface="Source Sans Pro" panose="020B0503030403020204" pitchFamily="34" charset="0"/>
                <a:cs typeface="Tahoma"/>
              </a:rPr>
              <a:t>outcomes</a:t>
            </a:r>
            <a:endParaRPr sz="2000" dirty="0">
              <a:latin typeface="Source Sans Pro" panose="020B0503030403020204" pitchFamily="34" charset="0"/>
              <a:ea typeface="Source Sans Pro" panose="020B0503030403020204" pitchFamily="34" charset="0"/>
              <a:cs typeface="Tahoma"/>
            </a:endParaRPr>
          </a:p>
        </p:txBody>
      </p:sp>
      <p:pic>
        <p:nvPicPr>
          <p:cNvPr id="3" name="object 4">
            <a:extLst>
              <a:ext uri="{FF2B5EF4-FFF2-40B4-BE49-F238E27FC236}">
                <a16:creationId xmlns:a16="http://schemas.microsoft.com/office/drawing/2014/main" id="{5A4C81F7-A738-E45D-84CD-FA6F89933BBD}"/>
              </a:ext>
            </a:extLst>
          </p:cNvPr>
          <p:cNvPicPr/>
          <p:nvPr/>
        </p:nvPicPr>
        <p:blipFill>
          <a:blip r:embed="rId6" cstate="print"/>
          <a:stretch>
            <a:fillRect/>
          </a:stretch>
        </p:blipFill>
        <p:spPr>
          <a:xfrm>
            <a:off x="932319" y="2819097"/>
            <a:ext cx="2850826" cy="1585542"/>
          </a:xfrm>
          <a:prstGeom prst="rect">
            <a:avLst/>
          </a:prstGeom>
        </p:spPr>
      </p:pic>
      <p:pic>
        <p:nvPicPr>
          <p:cNvPr id="4" name="object 5">
            <a:extLst>
              <a:ext uri="{FF2B5EF4-FFF2-40B4-BE49-F238E27FC236}">
                <a16:creationId xmlns:a16="http://schemas.microsoft.com/office/drawing/2014/main" id="{C6688689-1571-63C5-84E8-B8BC75828D07}"/>
              </a:ext>
            </a:extLst>
          </p:cNvPr>
          <p:cNvPicPr/>
          <p:nvPr/>
        </p:nvPicPr>
        <p:blipFill>
          <a:blip r:embed="rId7" cstate="print"/>
          <a:stretch>
            <a:fillRect/>
          </a:stretch>
        </p:blipFill>
        <p:spPr>
          <a:xfrm>
            <a:off x="5301658" y="1505832"/>
            <a:ext cx="3825520" cy="2898807"/>
          </a:xfrm>
          <a:prstGeom prst="rect">
            <a:avLst/>
          </a:prstGeom>
        </p:spPr>
      </p:pic>
    </p:spTree>
    <p:extLst>
      <p:ext uri="{BB962C8B-B14F-4D97-AF65-F5344CB8AC3E}">
        <p14:creationId xmlns:p14="http://schemas.microsoft.com/office/powerpoint/2010/main" val="4245246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B6EFC-05F4-3E33-622F-B8FC7EFCDCF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9FFEC58-8F69-986C-8327-A55B5219B4E6}"/>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C811D955-E0A2-6EB5-2FE3-3EFD5AB3C3B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CA4BEEDE-37F0-D218-8556-7DE35F0BA9DA}"/>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06B8F553-14A3-F13A-253C-DBE1A5B2EE3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04BDB7CA-700A-2E8A-63CB-7DABB911AB5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D8634355-67EC-2099-AD15-D3E337833643}"/>
              </a:ext>
            </a:extLst>
          </p:cNvPr>
          <p:cNvSpPr txBox="1"/>
          <p:nvPr/>
        </p:nvSpPr>
        <p:spPr>
          <a:xfrm>
            <a:off x="1063190" y="538366"/>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How does regression work</a:t>
            </a:r>
          </a:p>
        </p:txBody>
      </p:sp>
      <p:sp>
        <p:nvSpPr>
          <p:cNvPr id="6" name="object 3">
            <a:extLst>
              <a:ext uri="{FF2B5EF4-FFF2-40B4-BE49-F238E27FC236}">
                <a16:creationId xmlns:a16="http://schemas.microsoft.com/office/drawing/2014/main" id="{6B3072FC-33B0-E0F4-6756-A11FB29EA1C4}"/>
              </a:ext>
            </a:extLst>
          </p:cNvPr>
          <p:cNvSpPr txBox="1"/>
          <p:nvPr/>
        </p:nvSpPr>
        <p:spPr>
          <a:xfrm>
            <a:off x="6511058" y="2152237"/>
            <a:ext cx="2506377" cy="452130"/>
          </a:xfrm>
          <a:prstGeom prst="rect">
            <a:avLst/>
          </a:prstGeom>
        </p:spPr>
        <p:txBody>
          <a:bodyPr vert="horz" wrap="square" lIns="0" tIns="6686" rIns="0" bIns="0" rtlCol="0">
            <a:spAutoFit/>
          </a:bodyPr>
          <a:lstStyle/>
          <a:p>
            <a:pPr marL="6368" marR="695362">
              <a:lnSpc>
                <a:spcPct val="172200"/>
              </a:lnSpc>
            </a:pPr>
            <a:r>
              <a:rPr sz="1981" spc="-33" dirty="0">
                <a:latin typeface="Tahoma"/>
                <a:cs typeface="Tahoma"/>
              </a:rPr>
              <a:t>Linear</a:t>
            </a:r>
            <a:r>
              <a:rPr sz="1981" spc="-201" dirty="0">
                <a:latin typeface="Tahoma"/>
                <a:cs typeface="Tahoma"/>
              </a:rPr>
              <a:t> </a:t>
            </a:r>
            <a:r>
              <a:rPr sz="1981" spc="-45" dirty="0">
                <a:latin typeface="Tahoma"/>
                <a:cs typeface="Tahoma"/>
              </a:rPr>
              <a:t>regression</a:t>
            </a:r>
            <a:endParaRPr sz="1981" dirty="0">
              <a:latin typeface="Tahoma"/>
              <a:cs typeface="Tahoma"/>
            </a:endParaRPr>
          </a:p>
        </p:txBody>
      </p:sp>
      <p:grpSp>
        <p:nvGrpSpPr>
          <p:cNvPr id="10" name="object 4">
            <a:extLst>
              <a:ext uri="{FF2B5EF4-FFF2-40B4-BE49-F238E27FC236}">
                <a16:creationId xmlns:a16="http://schemas.microsoft.com/office/drawing/2014/main" id="{1A71880C-E0BA-B8B9-3F41-C7FEA12733D7}"/>
              </a:ext>
            </a:extLst>
          </p:cNvPr>
          <p:cNvGrpSpPr/>
          <p:nvPr/>
        </p:nvGrpSpPr>
        <p:grpSpPr>
          <a:xfrm>
            <a:off x="1063190" y="1191885"/>
            <a:ext cx="5206017" cy="3533507"/>
            <a:chOff x="2193864" y="1981893"/>
            <a:chExt cx="10382885" cy="7047230"/>
          </a:xfrm>
        </p:grpSpPr>
        <p:pic>
          <p:nvPicPr>
            <p:cNvPr id="11" name="object 5">
              <a:extLst>
                <a:ext uri="{FF2B5EF4-FFF2-40B4-BE49-F238E27FC236}">
                  <a16:creationId xmlns:a16="http://schemas.microsoft.com/office/drawing/2014/main" id="{295D7733-448F-CEC0-BB69-9AF7320E4523}"/>
                </a:ext>
              </a:extLst>
            </p:cNvPr>
            <p:cNvPicPr/>
            <p:nvPr/>
          </p:nvPicPr>
          <p:blipFill>
            <a:blip r:embed="rId6" cstate="print"/>
            <a:stretch>
              <a:fillRect/>
            </a:stretch>
          </p:blipFill>
          <p:spPr>
            <a:xfrm>
              <a:off x="2193864" y="1981893"/>
              <a:ext cx="6659483" cy="7046905"/>
            </a:xfrm>
            <a:prstGeom prst="rect">
              <a:avLst/>
            </a:prstGeom>
          </p:spPr>
        </p:pic>
        <p:sp>
          <p:nvSpPr>
            <p:cNvPr id="12" name="object 6">
              <a:extLst>
                <a:ext uri="{FF2B5EF4-FFF2-40B4-BE49-F238E27FC236}">
                  <a16:creationId xmlns:a16="http://schemas.microsoft.com/office/drawing/2014/main" id="{BB105F11-8F9F-FE3A-9F34-A4D867D9943B}"/>
                </a:ext>
              </a:extLst>
            </p:cNvPr>
            <p:cNvSpPr/>
            <p:nvPr/>
          </p:nvSpPr>
          <p:spPr>
            <a:xfrm>
              <a:off x="6838338" y="4613822"/>
              <a:ext cx="5711825" cy="509270"/>
            </a:xfrm>
            <a:custGeom>
              <a:avLst/>
              <a:gdLst/>
              <a:ahLst/>
              <a:cxnLst/>
              <a:rect l="l" t="t" r="r" b="b"/>
              <a:pathLst>
                <a:path w="5711825" h="509270">
                  <a:moveTo>
                    <a:pt x="5711814" y="0"/>
                  </a:moveTo>
                  <a:lnTo>
                    <a:pt x="26073" y="506650"/>
                  </a:lnTo>
                  <a:lnTo>
                    <a:pt x="0" y="508973"/>
                  </a:lnTo>
                </a:path>
              </a:pathLst>
            </a:custGeom>
            <a:ln w="52354">
              <a:solidFill>
                <a:srgbClr val="000000"/>
              </a:solidFill>
            </a:ln>
          </p:spPr>
          <p:txBody>
            <a:bodyPr wrap="square" lIns="0" tIns="0" rIns="0" bIns="0" rtlCol="0"/>
            <a:lstStyle/>
            <a:p>
              <a:endParaRPr sz="903"/>
            </a:p>
          </p:txBody>
        </p:sp>
        <p:sp>
          <p:nvSpPr>
            <p:cNvPr id="13" name="object 7">
              <a:extLst>
                <a:ext uri="{FF2B5EF4-FFF2-40B4-BE49-F238E27FC236}">
                  <a16:creationId xmlns:a16="http://schemas.microsoft.com/office/drawing/2014/main" id="{8479791E-F273-22D5-D77B-D2EA8DF9926C}"/>
                </a:ext>
              </a:extLst>
            </p:cNvPr>
            <p:cNvSpPr/>
            <p:nvPr/>
          </p:nvSpPr>
          <p:spPr>
            <a:xfrm>
              <a:off x="6651650" y="5014091"/>
              <a:ext cx="222250" cy="213360"/>
            </a:xfrm>
            <a:custGeom>
              <a:avLst/>
              <a:gdLst/>
              <a:ahLst/>
              <a:cxnLst/>
              <a:rect l="l" t="t" r="r" b="b"/>
              <a:pathLst>
                <a:path w="222250" h="213360">
                  <a:moveTo>
                    <a:pt x="203283" y="0"/>
                  </a:moveTo>
                  <a:lnTo>
                    <a:pt x="0" y="125340"/>
                  </a:lnTo>
                  <a:lnTo>
                    <a:pt x="222243" y="212763"/>
                  </a:lnTo>
                  <a:lnTo>
                    <a:pt x="203283" y="0"/>
                  </a:lnTo>
                  <a:close/>
                </a:path>
              </a:pathLst>
            </a:custGeom>
            <a:solidFill>
              <a:srgbClr val="000000"/>
            </a:solidFill>
          </p:spPr>
          <p:txBody>
            <a:bodyPr wrap="square" lIns="0" tIns="0" rIns="0" bIns="0" rtlCol="0"/>
            <a:lstStyle/>
            <a:p>
              <a:endParaRPr sz="903"/>
            </a:p>
          </p:txBody>
        </p:sp>
      </p:grpSp>
    </p:spTree>
    <p:extLst>
      <p:ext uri="{BB962C8B-B14F-4D97-AF65-F5344CB8AC3E}">
        <p14:creationId xmlns:p14="http://schemas.microsoft.com/office/powerpoint/2010/main" val="22479260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E2A14-BEF8-F186-C1F6-A499A7B4126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FD2559A-E44E-0EE1-CC13-A858D4E5ED93}"/>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F6487912-E781-A2A8-8906-81A644032CD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A3646575-7B4E-640E-ACD9-474FE0DA01E8}"/>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FBC28F1E-B9CE-E677-8E2C-2A6167721CF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25A9D30F-C0ED-64B9-4181-2890886A198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A7534A8A-2E77-4AE6-5193-6D58EE5A0017}"/>
              </a:ext>
            </a:extLst>
          </p:cNvPr>
          <p:cNvSpPr txBox="1"/>
          <p:nvPr/>
        </p:nvSpPr>
        <p:spPr>
          <a:xfrm>
            <a:off x="71546" y="627416"/>
            <a:ext cx="9934709"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What is linear regression in machine learning</a:t>
            </a:r>
          </a:p>
        </p:txBody>
      </p:sp>
      <p:graphicFrame>
        <p:nvGraphicFramePr>
          <p:cNvPr id="2" name="object 3">
            <a:extLst>
              <a:ext uri="{FF2B5EF4-FFF2-40B4-BE49-F238E27FC236}">
                <a16:creationId xmlns:a16="http://schemas.microsoft.com/office/drawing/2014/main" id="{61CCB853-8FDE-9D71-CA52-D6D65E619CC9}"/>
              </a:ext>
            </a:extLst>
          </p:cNvPr>
          <p:cNvGraphicFramePr>
            <a:graphicFrameLocks noGrp="1"/>
          </p:cNvGraphicFramePr>
          <p:nvPr>
            <p:extLst>
              <p:ext uri="{D42A27DB-BD31-4B8C-83A1-F6EECF244321}">
                <p14:modId xmlns:p14="http://schemas.microsoft.com/office/powerpoint/2010/main" val="1185246647"/>
              </p:ext>
            </p:extLst>
          </p:nvPr>
        </p:nvGraphicFramePr>
        <p:xfrm>
          <a:off x="596068" y="1708921"/>
          <a:ext cx="8885666" cy="2754318"/>
        </p:xfrm>
        <a:graphic>
          <a:graphicData uri="http://schemas.openxmlformats.org/drawingml/2006/table">
            <a:tbl>
              <a:tblPr firstRow="1" bandRow="1">
                <a:tableStyleId>{2D5ABB26-0587-4C30-8999-92F81FD0307C}</a:tableStyleId>
              </a:tblPr>
              <a:tblGrid>
                <a:gridCol w="4442833">
                  <a:extLst>
                    <a:ext uri="{9D8B030D-6E8A-4147-A177-3AD203B41FA5}">
                      <a16:colId xmlns:a16="http://schemas.microsoft.com/office/drawing/2014/main" val="20000"/>
                    </a:ext>
                  </a:extLst>
                </a:gridCol>
                <a:gridCol w="4442833">
                  <a:extLst>
                    <a:ext uri="{9D8B030D-6E8A-4147-A177-3AD203B41FA5}">
                      <a16:colId xmlns:a16="http://schemas.microsoft.com/office/drawing/2014/main" val="20001"/>
                    </a:ext>
                  </a:extLst>
                </a:gridCol>
              </a:tblGrid>
              <a:tr h="393474">
                <a:tc>
                  <a:txBody>
                    <a:bodyPr/>
                    <a:lstStyle/>
                    <a:p>
                      <a:pPr algn="ctr">
                        <a:lnSpc>
                          <a:spcPct val="100000"/>
                        </a:lnSpc>
                        <a:spcBef>
                          <a:spcPts val="1245"/>
                        </a:spcBef>
                      </a:pPr>
                      <a:r>
                        <a:rPr sz="1600" b="1" spc="-10" dirty="0">
                          <a:latin typeface="Arial"/>
                          <a:cs typeface="Arial"/>
                        </a:rPr>
                        <a:t>Traditional</a:t>
                      </a:r>
                      <a:r>
                        <a:rPr sz="1600" b="1" spc="-100" dirty="0">
                          <a:latin typeface="Arial"/>
                          <a:cs typeface="Arial"/>
                        </a:rPr>
                        <a:t> </a:t>
                      </a:r>
                      <a:r>
                        <a:rPr sz="1600" b="1" dirty="0">
                          <a:latin typeface="Arial"/>
                          <a:cs typeface="Arial"/>
                        </a:rPr>
                        <a:t>(modelling-as-</a:t>
                      </a:r>
                      <a:r>
                        <a:rPr sz="1600" b="1" spc="-10" dirty="0">
                          <a:latin typeface="Arial"/>
                          <a:cs typeface="Arial"/>
                        </a:rPr>
                        <a:t>analysis)</a:t>
                      </a:r>
                      <a:endParaRPr sz="1600">
                        <a:latin typeface="Arial"/>
                        <a:cs typeface="Arial"/>
                      </a:endParaRPr>
                    </a:p>
                  </a:txBody>
                  <a:tcPr marL="0" marR="0" marT="79279"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algn="ctr">
                        <a:lnSpc>
                          <a:spcPct val="100000"/>
                        </a:lnSpc>
                        <a:spcBef>
                          <a:spcPts val="1245"/>
                        </a:spcBef>
                      </a:pPr>
                      <a:r>
                        <a:rPr sz="1600" b="1" dirty="0">
                          <a:latin typeface="Arial"/>
                          <a:cs typeface="Arial"/>
                        </a:rPr>
                        <a:t>Machine</a:t>
                      </a:r>
                      <a:r>
                        <a:rPr sz="1600" b="1" spc="185" dirty="0">
                          <a:latin typeface="Arial"/>
                          <a:cs typeface="Arial"/>
                        </a:rPr>
                        <a:t> </a:t>
                      </a:r>
                      <a:r>
                        <a:rPr sz="1600" b="1" dirty="0">
                          <a:latin typeface="Arial"/>
                          <a:cs typeface="Arial"/>
                        </a:rPr>
                        <a:t>Learning</a:t>
                      </a:r>
                      <a:r>
                        <a:rPr sz="1600" b="1" spc="190" dirty="0">
                          <a:latin typeface="Arial"/>
                          <a:cs typeface="Arial"/>
                        </a:rPr>
                        <a:t> </a:t>
                      </a:r>
                      <a:r>
                        <a:rPr sz="1600" b="1" spc="-10" dirty="0">
                          <a:latin typeface="Arial"/>
                          <a:cs typeface="Arial"/>
                        </a:rPr>
                        <a:t>Approach</a:t>
                      </a:r>
                      <a:endParaRPr sz="1600" dirty="0">
                        <a:latin typeface="Arial"/>
                        <a:cs typeface="Arial"/>
                      </a:endParaRPr>
                    </a:p>
                  </a:txBody>
                  <a:tcPr marL="0" marR="0" marT="79279" marB="0">
                    <a:lnL w="12700">
                      <a:solidFill>
                        <a:srgbClr val="000000"/>
                      </a:solidFill>
                      <a:prstDash val="solid"/>
                    </a:lnL>
                    <a:lnR w="12700">
                      <a:solidFill>
                        <a:srgbClr val="000000"/>
                      </a:solidFill>
                      <a:prstDash val="solid"/>
                    </a:lnR>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0"/>
                  </a:ext>
                </a:extLst>
              </a:tr>
              <a:tr h="393474">
                <a:tc>
                  <a:txBody>
                    <a:bodyPr/>
                    <a:lstStyle/>
                    <a:p>
                      <a:pPr marR="2540" algn="ctr">
                        <a:lnSpc>
                          <a:spcPct val="100000"/>
                        </a:lnSpc>
                        <a:spcBef>
                          <a:spcPts val="1255"/>
                        </a:spcBef>
                      </a:pPr>
                      <a:r>
                        <a:rPr sz="1600" dirty="0">
                          <a:latin typeface="Arial MT"/>
                          <a:cs typeface="Arial MT"/>
                        </a:rPr>
                        <a:t>Fit</a:t>
                      </a:r>
                      <a:r>
                        <a:rPr sz="1600" spc="110" dirty="0">
                          <a:latin typeface="Arial MT"/>
                          <a:cs typeface="Arial MT"/>
                        </a:rPr>
                        <a:t> </a:t>
                      </a:r>
                      <a:r>
                        <a:rPr sz="1600" dirty="0">
                          <a:latin typeface="Arial MT"/>
                          <a:cs typeface="Arial MT"/>
                        </a:rPr>
                        <a:t>the</a:t>
                      </a:r>
                      <a:r>
                        <a:rPr sz="1600" spc="114" dirty="0">
                          <a:latin typeface="Arial MT"/>
                          <a:cs typeface="Arial MT"/>
                        </a:rPr>
                        <a:t> </a:t>
                      </a:r>
                      <a:r>
                        <a:rPr sz="1600" dirty="0">
                          <a:latin typeface="Arial MT"/>
                          <a:cs typeface="Arial MT"/>
                        </a:rPr>
                        <a:t>model</a:t>
                      </a:r>
                      <a:r>
                        <a:rPr sz="1600" spc="114" dirty="0">
                          <a:latin typeface="Arial MT"/>
                          <a:cs typeface="Arial MT"/>
                        </a:rPr>
                        <a:t> </a:t>
                      </a:r>
                      <a:r>
                        <a:rPr sz="1600" spc="-20" dirty="0">
                          <a:latin typeface="Arial MT"/>
                          <a:cs typeface="Arial MT"/>
                        </a:rPr>
                        <a:t>once</a:t>
                      </a:r>
                      <a:endParaRPr sz="1600">
                        <a:latin typeface="Arial MT"/>
                        <a:cs typeface="Arial MT"/>
                      </a:endParaRPr>
                    </a:p>
                  </a:txBody>
                  <a:tcPr marL="0" marR="0" marT="79916" marB="0">
                    <a:lnL w="12700">
                      <a:solidFill>
                        <a:srgbClr val="000000"/>
                      </a:solidFill>
                      <a:prstDash val="solid"/>
                    </a:lnL>
                    <a:lnR w="38100">
                      <a:solidFill>
                        <a:srgbClr val="000000"/>
                      </a:solidFill>
                      <a:prstDash val="solid"/>
                    </a:lnR>
                    <a:lnT w="38100">
                      <a:solidFill>
                        <a:srgbClr val="000000"/>
                      </a:solidFill>
                      <a:prstDash val="solid"/>
                    </a:lnT>
                    <a:lnB w="12700">
                      <a:solidFill>
                        <a:srgbClr val="000000"/>
                      </a:solidFill>
                      <a:prstDash val="solid"/>
                    </a:lnB>
                  </a:tcPr>
                </a:tc>
                <a:tc>
                  <a:txBody>
                    <a:bodyPr/>
                    <a:lstStyle/>
                    <a:p>
                      <a:pPr marL="10160" algn="ctr">
                        <a:lnSpc>
                          <a:spcPct val="100000"/>
                        </a:lnSpc>
                        <a:spcBef>
                          <a:spcPts val="1255"/>
                        </a:spcBef>
                      </a:pPr>
                      <a:r>
                        <a:rPr sz="1600" dirty="0">
                          <a:latin typeface="Arial MT"/>
                          <a:cs typeface="Arial MT"/>
                        </a:rPr>
                        <a:t>Train/test</a:t>
                      </a:r>
                      <a:r>
                        <a:rPr sz="1600" spc="110" dirty="0">
                          <a:latin typeface="Arial MT"/>
                          <a:cs typeface="Arial MT"/>
                        </a:rPr>
                        <a:t> </a:t>
                      </a:r>
                      <a:r>
                        <a:rPr sz="1600" dirty="0">
                          <a:latin typeface="Arial MT"/>
                          <a:cs typeface="Arial MT"/>
                        </a:rPr>
                        <a:t>split</a:t>
                      </a:r>
                      <a:r>
                        <a:rPr sz="1600" spc="110" dirty="0">
                          <a:latin typeface="Arial MT"/>
                          <a:cs typeface="Arial MT"/>
                        </a:rPr>
                        <a:t> </a:t>
                      </a:r>
                      <a:r>
                        <a:rPr sz="1600" dirty="0">
                          <a:latin typeface="Arial MT"/>
                          <a:cs typeface="Arial MT"/>
                        </a:rPr>
                        <a:t>(or</a:t>
                      </a:r>
                      <a:r>
                        <a:rPr sz="1600" spc="110" dirty="0">
                          <a:latin typeface="Arial MT"/>
                          <a:cs typeface="Arial MT"/>
                        </a:rPr>
                        <a:t> </a:t>
                      </a:r>
                      <a:r>
                        <a:rPr sz="1600" dirty="0">
                          <a:latin typeface="Arial MT"/>
                          <a:cs typeface="Arial MT"/>
                        </a:rPr>
                        <a:t>cross-</a:t>
                      </a:r>
                      <a:r>
                        <a:rPr sz="1600" spc="-10" dirty="0">
                          <a:latin typeface="Arial MT"/>
                          <a:cs typeface="Arial MT"/>
                        </a:rPr>
                        <a:t>validation)</a:t>
                      </a:r>
                      <a:endParaRPr sz="1600">
                        <a:latin typeface="Arial MT"/>
                        <a:cs typeface="Arial MT"/>
                      </a:endParaRPr>
                    </a:p>
                  </a:txBody>
                  <a:tcPr marL="0" marR="0" marT="79916" marB="0">
                    <a:lnL w="38100">
                      <a:solidFill>
                        <a:srgbClr val="000000"/>
                      </a:solidFill>
                      <a:prstDash val="solid"/>
                    </a:lnL>
                    <a:lnR w="12700">
                      <a:solidFill>
                        <a:srgbClr val="000000"/>
                      </a:solidFill>
                      <a:prstDash val="solid"/>
                    </a:lnR>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93474">
                <a:tc>
                  <a:txBody>
                    <a:bodyPr/>
                    <a:lstStyle/>
                    <a:p>
                      <a:pPr marR="2540" algn="ctr">
                        <a:lnSpc>
                          <a:spcPct val="100000"/>
                        </a:lnSpc>
                        <a:spcBef>
                          <a:spcPts val="1255"/>
                        </a:spcBef>
                      </a:pPr>
                      <a:r>
                        <a:rPr sz="1600" dirty="0">
                          <a:latin typeface="Arial MT"/>
                          <a:cs typeface="Arial MT"/>
                        </a:rPr>
                        <a:t>Interpret</a:t>
                      </a:r>
                      <a:r>
                        <a:rPr sz="1600" spc="175" dirty="0">
                          <a:latin typeface="Arial MT"/>
                          <a:cs typeface="Arial MT"/>
                        </a:rPr>
                        <a:t> </a:t>
                      </a:r>
                      <a:r>
                        <a:rPr sz="1600" spc="-10" dirty="0">
                          <a:latin typeface="Arial MT"/>
                          <a:cs typeface="Arial MT"/>
                        </a:rPr>
                        <a:t>coefficients</a:t>
                      </a:r>
                      <a:endParaRPr sz="1600" dirty="0">
                        <a:latin typeface="Arial MT"/>
                        <a:cs typeface="Arial MT"/>
                      </a:endParaRPr>
                    </a:p>
                  </a:txBody>
                  <a:tcPr marL="0" marR="0" marT="79916"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gn="ctr">
                        <a:lnSpc>
                          <a:spcPct val="100000"/>
                        </a:lnSpc>
                        <a:spcBef>
                          <a:spcPts val="1255"/>
                        </a:spcBef>
                      </a:pPr>
                      <a:r>
                        <a:rPr sz="1600" dirty="0">
                          <a:latin typeface="Arial MT"/>
                          <a:cs typeface="Arial MT"/>
                        </a:rPr>
                        <a:t>Prioritise</a:t>
                      </a:r>
                      <a:r>
                        <a:rPr sz="1600" spc="225" dirty="0">
                          <a:latin typeface="Arial MT"/>
                          <a:cs typeface="Arial MT"/>
                        </a:rPr>
                        <a:t> </a:t>
                      </a:r>
                      <a:r>
                        <a:rPr sz="1600" dirty="0">
                          <a:latin typeface="Arial MT"/>
                          <a:cs typeface="Arial MT"/>
                        </a:rPr>
                        <a:t>predictive</a:t>
                      </a:r>
                      <a:r>
                        <a:rPr sz="1600" spc="225" dirty="0">
                          <a:latin typeface="Arial MT"/>
                          <a:cs typeface="Arial MT"/>
                        </a:rPr>
                        <a:t> </a:t>
                      </a:r>
                      <a:r>
                        <a:rPr sz="1600" spc="-10" dirty="0">
                          <a:latin typeface="Arial MT"/>
                          <a:cs typeface="Arial MT"/>
                        </a:rPr>
                        <a:t>performance</a:t>
                      </a:r>
                      <a:endParaRPr sz="1600" dirty="0">
                        <a:latin typeface="Arial MT"/>
                        <a:cs typeface="Arial MT"/>
                      </a:endParaRPr>
                    </a:p>
                  </a:txBody>
                  <a:tcPr marL="0" marR="0" marT="79916"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93474">
                <a:tc>
                  <a:txBody>
                    <a:bodyPr/>
                    <a:lstStyle/>
                    <a:p>
                      <a:pPr marR="2540" algn="ctr">
                        <a:lnSpc>
                          <a:spcPct val="100000"/>
                        </a:lnSpc>
                        <a:spcBef>
                          <a:spcPts val="1255"/>
                        </a:spcBef>
                      </a:pPr>
                      <a:r>
                        <a:rPr sz="1600" dirty="0">
                          <a:latin typeface="Arial MT"/>
                          <a:cs typeface="Arial MT"/>
                        </a:rPr>
                        <a:t>Check</a:t>
                      </a:r>
                      <a:r>
                        <a:rPr sz="1600" spc="250" dirty="0">
                          <a:latin typeface="Arial MT"/>
                          <a:cs typeface="Arial MT"/>
                        </a:rPr>
                        <a:t> </a:t>
                      </a:r>
                      <a:r>
                        <a:rPr sz="1600" dirty="0">
                          <a:latin typeface="Arial MT"/>
                          <a:cs typeface="Arial MT"/>
                        </a:rPr>
                        <a:t>p-values,</a:t>
                      </a:r>
                      <a:r>
                        <a:rPr sz="1600" spc="254" dirty="0">
                          <a:latin typeface="Arial MT"/>
                          <a:cs typeface="Arial MT"/>
                        </a:rPr>
                        <a:t> </a:t>
                      </a:r>
                      <a:r>
                        <a:rPr sz="1600" dirty="0">
                          <a:latin typeface="Arial MT"/>
                          <a:cs typeface="Arial MT"/>
                        </a:rPr>
                        <a:t>confidence</a:t>
                      </a:r>
                      <a:r>
                        <a:rPr sz="1600" spc="254" dirty="0">
                          <a:latin typeface="Arial MT"/>
                          <a:cs typeface="Arial MT"/>
                        </a:rPr>
                        <a:t> </a:t>
                      </a:r>
                      <a:r>
                        <a:rPr sz="1600" spc="-10" dirty="0">
                          <a:latin typeface="Arial MT"/>
                          <a:cs typeface="Arial MT"/>
                        </a:rPr>
                        <a:t>intervals</a:t>
                      </a:r>
                      <a:endParaRPr sz="1600">
                        <a:latin typeface="Arial MT"/>
                        <a:cs typeface="Arial MT"/>
                      </a:endParaRPr>
                    </a:p>
                  </a:txBody>
                  <a:tcPr marL="0" marR="0" marT="79916"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gn="ctr">
                        <a:lnSpc>
                          <a:spcPct val="100000"/>
                        </a:lnSpc>
                        <a:spcBef>
                          <a:spcPts val="1255"/>
                        </a:spcBef>
                      </a:pPr>
                      <a:r>
                        <a:rPr sz="1600" spc="-10" dirty="0">
                          <a:latin typeface="Arial MT"/>
                          <a:cs typeface="Arial MT"/>
                        </a:rPr>
                        <a:t>Track</a:t>
                      </a:r>
                      <a:r>
                        <a:rPr sz="1600" spc="10" dirty="0">
                          <a:latin typeface="Arial MT"/>
                          <a:cs typeface="Arial MT"/>
                        </a:rPr>
                        <a:t> </a:t>
                      </a:r>
                      <a:r>
                        <a:rPr sz="1600" dirty="0">
                          <a:latin typeface="Arial MT"/>
                          <a:cs typeface="Arial MT"/>
                        </a:rPr>
                        <a:t>metrics</a:t>
                      </a:r>
                      <a:r>
                        <a:rPr sz="1600" spc="15" dirty="0">
                          <a:latin typeface="Arial MT"/>
                          <a:cs typeface="Arial MT"/>
                        </a:rPr>
                        <a:t> </a:t>
                      </a:r>
                      <a:r>
                        <a:rPr sz="1600" dirty="0">
                          <a:latin typeface="Arial MT"/>
                          <a:cs typeface="Arial MT"/>
                        </a:rPr>
                        <a:t>like</a:t>
                      </a:r>
                      <a:r>
                        <a:rPr sz="1600" spc="15" dirty="0">
                          <a:latin typeface="Arial MT"/>
                          <a:cs typeface="Arial MT"/>
                        </a:rPr>
                        <a:t> </a:t>
                      </a:r>
                      <a:r>
                        <a:rPr sz="1600" dirty="0">
                          <a:latin typeface="Arial MT"/>
                          <a:cs typeface="Arial MT"/>
                        </a:rPr>
                        <a:t>MAE,</a:t>
                      </a:r>
                      <a:r>
                        <a:rPr sz="1600" spc="15" dirty="0">
                          <a:latin typeface="Arial MT"/>
                          <a:cs typeface="Arial MT"/>
                        </a:rPr>
                        <a:t> </a:t>
                      </a:r>
                      <a:r>
                        <a:rPr sz="1600" dirty="0">
                          <a:latin typeface="Arial MT"/>
                          <a:cs typeface="Arial MT"/>
                        </a:rPr>
                        <a:t>MSE,</a:t>
                      </a:r>
                      <a:r>
                        <a:rPr sz="1600" spc="10" dirty="0">
                          <a:latin typeface="Arial MT"/>
                          <a:cs typeface="Arial MT"/>
                        </a:rPr>
                        <a:t> </a:t>
                      </a:r>
                      <a:r>
                        <a:rPr sz="1600" spc="-25" dirty="0">
                          <a:latin typeface="Arial MT"/>
                          <a:cs typeface="Arial MT"/>
                        </a:rPr>
                        <a:t>R²</a:t>
                      </a:r>
                      <a:endParaRPr sz="1600" dirty="0">
                        <a:latin typeface="Arial MT"/>
                        <a:cs typeface="Arial MT"/>
                      </a:endParaRPr>
                    </a:p>
                  </a:txBody>
                  <a:tcPr marL="0" marR="0" marT="79916"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93474">
                <a:tc>
                  <a:txBody>
                    <a:bodyPr/>
                    <a:lstStyle/>
                    <a:p>
                      <a:pPr marR="2540" algn="ctr">
                        <a:lnSpc>
                          <a:spcPct val="100000"/>
                        </a:lnSpc>
                        <a:spcBef>
                          <a:spcPts val="1255"/>
                        </a:spcBef>
                      </a:pPr>
                      <a:r>
                        <a:rPr sz="1600" dirty="0">
                          <a:latin typeface="Arial MT"/>
                          <a:cs typeface="Arial MT"/>
                        </a:rPr>
                        <a:t>Choose</a:t>
                      </a:r>
                      <a:r>
                        <a:rPr sz="1600" spc="75" dirty="0">
                          <a:latin typeface="Arial MT"/>
                          <a:cs typeface="Arial MT"/>
                        </a:rPr>
                        <a:t> </a:t>
                      </a:r>
                      <a:r>
                        <a:rPr sz="1600" dirty="0">
                          <a:latin typeface="Arial MT"/>
                          <a:cs typeface="Arial MT"/>
                        </a:rPr>
                        <a:t>features</a:t>
                      </a:r>
                      <a:r>
                        <a:rPr sz="1600" spc="80" dirty="0">
                          <a:latin typeface="Arial MT"/>
                          <a:cs typeface="Arial MT"/>
                        </a:rPr>
                        <a:t> </a:t>
                      </a:r>
                      <a:r>
                        <a:rPr sz="1600" dirty="0">
                          <a:latin typeface="Arial MT"/>
                          <a:cs typeface="Arial MT"/>
                        </a:rPr>
                        <a:t>based</a:t>
                      </a:r>
                      <a:r>
                        <a:rPr sz="1600" spc="80" dirty="0">
                          <a:latin typeface="Arial MT"/>
                          <a:cs typeface="Arial MT"/>
                        </a:rPr>
                        <a:t> </a:t>
                      </a:r>
                      <a:r>
                        <a:rPr sz="1600" dirty="0">
                          <a:latin typeface="Arial MT"/>
                          <a:cs typeface="Arial MT"/>
                        </a:rPr>
                        <a:t>on</a:t>
                      </a:r>
                      <a:r>
                        <a:rPr sz="1600" spc="80" dirty="0">
                          <a:latin typeface="Arial MT"/>
                          <a:cs typeface="Arial MT"/>
                        </a:rPr>
                        <a:t> </a:t>
                      </a:r>
                      <a:r>
                        <a:rPr sz="1600" spc="-10" dirty="0">
                          <a:latin typeface="Arial MT"/>
                          <a:cs typeface="Arial MT"/>
                        </a:rPr>
                        <a:t>theory</a:t>
                      </a:r>
                      <a:endParaRPr sz="1600">
                        <a:latin typeface="Arial MT"/>
                        <a:cs typeface="Arial MT"/>
                      </a:endParaRPr>
                    </a:p>
                  </a:txBody>
                  <a:tcPr marL="0" marR="0" marT="79916"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gn="ctr">
                        <a:lnSpc>
                          <a:spcPct val="100000"/>
                        </a:lnSpc>
                        <a:spcBef>
                          <a:spcPts val="1255"/>
                        </a:spcBef>
                      </a:pPr>
                      <a:r>
                        <a:rPr sz="1600" dirty="0">
                          <a:latin typeface="Arial MT"/>
                          <a:cs typeface="Arial MT"/>
                        </a:rPr>
                        <a:t>Use</a:t>
                      </a:r>
                      <a:r>
                        <a:rPr sz="1600" spc="70" dirty="0">
                          <a:latin typeface="Arial MT"/>
                          <a:cs typeface="Arial MT"/>
                        </a:rPr>
                        <a:t> </a:t>
                      </a:r>
                      <a:r>
                        <a:rPr sz="1600" dirty="0">
                          <a:latin typeface="Arial MT"/>
                          <a:cs typeface="Arial MT"/>
                        </a:rPr>
                        <a:t>feature</a:t>
                      </a:r>
                      <a:r>
                        <a:rPr sz="1600" spc="75" dirty="0">
                          <a:latin typeface="Arial MT"/>
                          <a:cs typeface="Arial MT"/>
                        </a:rPr>
                        <a:t> </a:t>
                      </a:r>
                      <a:r>
                        <a:rPr sz="1600" dirty="0">
                          <a:latin typeface="Arial MT"/>
                          <a:cs typeface="Arial MT"/>
                        </a:rPr>
                        <a:t>selection,</a:t>
                      </a:r>
                      <a:r>
                        <a:rPr sz="1600" spc="75" dirty="0">
                          <a:latin typeface="Arial MT"/>
                          <a:cs typeface="Arial MT"/>
                        </a:rPr>
                        <a:t> </a:t>
                      </a:r>
                      <a:r>
                        <a:rPr sz="1600" spc="-10" dirty="0">
                          <a:latin typeface="Arial MT"/>
                          <a:cs typeface="Arial MT"/>
                        </a:rPr>
                        <a:t>regularisation</a:t>
                      </a:r>
                      <a:endParaRPr sz="1600">
                        <a:latin typeface="Arial MT"/>
                        <a:cs typeface="Arial MT"/>
                      </a:endParaRPr>
                    </a:p>
                  </a:txBody>
                  <a:tcPr marL="0" marR="0" marT="79916"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93474">
                <a:tc>
                  <a:txBody>
                    <a:bodyPr/>
                    <a:lstStyle/>
                    <a:p>
                      <a:pPr marR="2540" algn="ctr">
                        <a:lnSpc>
                          <a:spcPct val="100000"/>
                        </a:lnSpc>
                        <a:spcBef>
                          <a:spcPts val="1255"/>
                        </a:spcBef>
                      </a:pPr>
                      <a:r>
                        <a:rPr sz="1600" dirty="0">
                          <a:latin typeface="Arial MT"/>
                          <a:cs typeface="Arial MT"/>
                        </a:rPr>
                        <a:t>Assume</a:t>
                      </a:r>
                      <a:r>
                        <a:rPr sz="1600" spc="85" dirty="0">
                          <a:latin typeface="Arial MT"/>
                          <a:cs typeface="Arial MT"/>
                        </a:rPr>
                        <a:t> </a:t>
                      </a:r>
                      <a:r>
                        <a:rPr sz="1600" dirty="0">
                          <a:latin typeface="Arial MT"/>
                          <a:cs typeface="Arial MT"/>
                        </a:rPr>
                        <a:t>model</a:t>
                      </a:r>
                      <a:r>
                        <a:rPr sz="1600" spc="85" dirty="0">
                          <a:latin typeface="Arial MT"/>
                          <a:cs typeface="Arial MT"/>
                        </a:rPr>
                        <a:t> </a:t>
                      </a:r>
                      <a:r>
                        <a:rPr sz="1600" dirty="0">
                          <a:latin typeface="Arial MT"/>
                          <a:cs typeface="Arial MT"/>
                        </a:rPr>
                        <a:t>is</a:t>
                      </a:r>
                      <a:r>
                        <a:rPr sz="1600" spc="90" dirty="0">
                          <a:latin typeface="Arial MT"/>
                          <a:cs typeface="Arial MT"/>
                        </a:rPr>
                        <a:t> </a:t>
                      </a:r>
                      <a:r>
                        <a:rPr sz="1600" spc="-10" dirty="0">
                          <a:latin typeface="Arial MT"/>
                          <a:cs typeface="Arial MT"/>
                        </a:rPr>
                        <a:t>correct</a:t>
                      </a:r>
                      <a:endParaRPr sz="1600">
                        <a:latin typeface="Arial MT"/>
                        <a:cs typeface="Arial MT"/>
                      </a:endParaRPr>
                    </a:p>
                  </a:txBody>
                  <a:tcPr marL="0" marR="0" marT="79916"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gn="ctr">
                        <a:lnSpc>
                          <a:spcPct val="100000"/>
                        </a:lnSpc>
                        <a:spcBef>
                          <a:spcPts val="1255"/>
                        </a:spcBef>
                      </a:pPr>
                      <a:r>
                        <a:rPr sz="1600" dirty="0">
                          <a:latin typeface="Arial MT"/>
                          <a:cs typeface="Arial MT"/>
                        </a:rPr>
                        <a:t>Evaluate</a:t>
                      </a:r>
                      <a:r>
                        <a:rPr sz="1600" spc="-5" dirty="0">
                          <a:latin typeface="Arial MT"/>
                          <a:cs typeface="Arial MT"/>
                        </a:rPr>
                        <a:t> </a:t>
                      </a:r>
                      <a:r>
                        <a:rPr sz="1600" dirty="0">
                          <a:latin typeface="Arial MT"/>
                          <a:cs typeface="Arial MT"/>
                        </a:rPr>
                        <a:t>on</a:t>
                      </a:r>
                      <a:r>
                        <a:rPr sz="1600" spc="-5" dirty="0">
                          <a:latin typeface="Arial MT"/>
                          <a:cs typeface="Arial MT"/>
                        </a:rPr>
                        <a:t> </a:t>
                      </a:r>
                      <a:r>
                        <a:rPr sz="1600" dirty="0">
                          <a:latin typeface="Arial MT"/>
                          <a:cs typeface="Arial MT"/>
                        </a:rPr>
                        <a:t>unseen</a:t>
                      </a:r>
                      <a:r>
                        <a:rPr sz="1600" spc="-5" dirty="0">
                          <a:latin typeface="Arial MT"/>
                          <a:cs typeface="Arial MT"/>
                        </a:rPr>
                        <a:t> </a:t>
                      </a:r>
                      <a:r>
                        <a:rPr sz="1600" spc="-20" dirty="0">
                          <a:latin typeface="Arial MT"/>
                          <a:cs typeface="Arial MT"/>
                        </a:rPr>
                        <a:t>data</a:t>
                      </a:r>
                      <a:endParaRPr sz="1600">
                        <a:latin typeface="Arial MT"/>
                        <a:cs typeface="Arial MT"/>
                      </a:endParaRPr>
                    </a:p>
                  </a:txBody>
                  <a:tcPr marL="0" marR="0" marT="79916"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93474">
                <a:tc>
                  <a:txBody>
                    <a:bodyPr/>
                    <a:lstStyle/>
                    <a:p>
                      <a:pPr marR="2540" algn="ctr">
                        <a:lnSpc>
                          <a:spcPct val="100000"/>
                        </a:lnSpc>
                        <a:spcBef>
                          <a:spcPts val="1255"/>
                        </a:spcBef>
                      </a:pPr>
                      <a:r>
                        <a:rPr sz="1600" dirty="0">
                          <a:latin typeface="Arial MT"/>
                          <a:cs typeface="Arial MT"/>
                        </a:rPr>
                        <a:t>Focus</a:t>
                      </a:r>
                      <a:r>
                        <a:rPr sz="1600" spc="215" dirty="0">
                          <a:latin typeface="Arial MT"/>
                          <a:cs typeface="Arial MT"/>
                        </a:rPr>
                        <a:t> </a:t>
                      </a:r>
                      <a:r>
                        <a:rPr sz="1600" dirty="0">
                          <a:latin typeface="Arial MT"/>
                          <a:cs typeface="Arial MT"/>
                        </a:rPr>
                        <a:t>on</a:t>
                      </a:r>
                      <a:r>
                        <a:rPr sz="1600" spc="220" dirty="0">
                          <a:latin typeface="Arial MT"/>
                          <a:cs typeface="Arial MT"/>
                        </a:rPr>
                        <a:t> </a:t>
                      </a:r>
                      <a:r>
                        <a:rPr sz="1600" dirty="0">
                          <a:latin typeface="Arial MT"/>
                          <a:cs typeface="Arial MT"/>
                        </a:rPr>
                        <a:t>statistical</a:t>
                      </a:r>
                      <a:r>
                        <a:rPr sz="1600" spc="220" dirty="0">
                          <a:latin typeface="Arial MT"/>
                          <a:cs typeface="Arial MT"/>
                        </a:rPr>
                        <a:t> </a:t>
                      </a:r>
                      <a:r>
                        <a:rPr sz="1600" spc="-10" dirty="0">
                          <a:latin typeface="Arial MT"/>
                          <a:cs typeface="Arial MT"/>
                        </a:rPr>
                        <a:t>assumptions</a:t>
                      </a:r>
                      <a:endParaRPr sz="1600" dirty="0">
                        <a:latin typeface="Arial MT"/>
                        <a:cs typeface="Arial MT"/>
                      </a:endParaRPr>
                    </a:p>
                  </a:txBody>
                  <a:tcPr marL="0" marR="0" marT="79916" marB="0">
                    <a:lnL w="12700">
                      <a:solidFill>
                        <a:srgbClr val="000000"/>
                      </a:solidFill>
                      <a:prstDash val="solid"/>
                    </a:lnL>
                    <a:lnR w="38100">
                      <a:solidFill>
                        <a:srgbClr val="000000"/>
                      </a:solidFill>
                      <a:prstDash val="solid"/>
                    </a:lnR>
                    <a:lnT w="12700">
                      <a:solidFill>
                        <a:srgbClr val="000000"/>
                      </a:solidFill>
                      <a:prstDash val="solid"/>
                    </a:lnT>
                    <a:lnB w="12700">
                      <a:solidFill>
                        <a:srgbClr val="000000"/>
                      </a:solidFill>
                      <a:prstDash val="solid"/>
                    </a:lnB>
                  </a:tcPr>
                </a:tc>
                <a:tc>
                  <a:txBody>
                    <a:bodyPr/>
                    <a:lstStyle/>
                    <a:p>
                      <a:pPr marL="10160" algn="ctr">
                        <a:lnSpc>
                          <a:spcPct val="100000"/>
                        </a:lnSpc>
                        <a:spcBef>
                          <a:spcPts val="1255"/>
                        </a:spcBef>
                      </a:pPr>
                      <a:r>
                        <a:rPr sz="1600" dirty="0">
                          <a:latin typeface="Arial MT"/>
                          <a:cs typeface="Arial MT"/>
                        </a:rPr>
                        <a:t>Focus</a:t>
                      </a:r>
                      <a:r>
                        <a:rPr sz="1600" spc="130" dirty="0">
                          <a:latin typeface="Arial MT"/>
                          <a:cs typeface="Arial MT"/>
                        </a:rPr>
                        <a:t> </a:t>
                      </a:r>
                      <a:r>
                        <a:rPr sz="1600" dirty="0">
                          <a:latin typeface="Arial MT"/>
                          <a:cs typeface="Arial MT"/>
                        </a:rPr>
                        <a:t>on</a:t>
                      </a:r>
                      <a:r>
                        <a:rPr sz="1600" spc="130" dirty="0">
                          <a:latin typeface="Arial MT"/>
                          <a:cs typeface="Arial MT"/>
                        </a:rPr>
                        <a:t> </a:t>
                      </a:r>
                      <a:r>
                        <a:rPr sz="1600" dirty="0">
                          <a:latin typeface="Arial MT"/>
                          <a:cs typeface="Arial MT"/>
                        </a:rPr>
                        <a:t>robustness</a:t>
                      </a:r>
                      <a:r>
                        <a:rPr sz="1600" spc="130" dirty="0">
                          <a:latin typeface="Arial MT"/>
                          <a:cs typeface="Arial MT"/>
                        </a:rPr>
                        <a:t> </a:t>
                      </a:r>
                      <a:r>
                        <a:rPr sz="1600" dirty="0">
                          <a:latin typeface="Arial MT"/>
                          <a:cs typeface="Arial MT"/>
                        </a:rPr>
                        <a:t>and</a:t>
                      </a:r>
                      <a:r>
                        <a:rPr sz="1600" spc="130" dirty="0">
                          <a:latin typeface="Arial MT"/>
                          <a:cs typeface="Arial MT"/>
                        </a:rPr>
                        <a:t> </a:t>
                      </a:r>
                      <a:r>
                        <a:rPr sz="1600" spc="-10" dirty="0">
                          <a:latin typeface="Arial MT"/>
                          <a:cs typeface="Arial MT"/>
                        </a:rPr>
                        <a:t>generalisation</a:t>
                      </a:r>
                      <a:endParaRPr sz="1600" dirty="0">
                        <a:latin typeface="Arial MT"/>
                        <a:cs typeface="Arial MT"/>
                      </a:endParaRPr>
                    </a:p>
                  </a:txBody>
                  <a:tcPr marL="0" marR="0" marT="79916" marB="0">
                    <a:lnL w="381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069323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390C705-69B3-4EC5-BA39-0C4A32714AE3}"/>
              </a:ext>
            </a:extLst>
          </p:cNvPr>
          <p:cNvSpPr txBox="1"/>
          <p:nvPr/>
        </p:nvSpPr>
        <p:spPr>
          <a:xfrm>
            <a:off x="72957" y="517676"/>
            <a:ext cx="9934709"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How do we know if a regressor did well?</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35724446-C671-6DA0-D672-9C1F529DF356}"/>
                  </a:ext>
                </a:extLst>
              </p:cNvPr>
              <p:cNvGraphicFramePr>
                <a:graphicFrameLocks noGrp="1"/>
              </p:cNvGraphicFramePr>
              <p:nvPr>
                <p:extLst>
                  <p:ext uri="{D42A27DB-BD31-4B8C-83A1-F6EECF244321}">
                    <p14:modId xmlns:p14="http://schemas.microsoft.com/office/powerpoint/2010/main" val="3025484260"/>
                  </p:ext>
                </p:extLst>
              </p:nvPr>
            </p:nvGraphicFramePr>
            <p:xfrm>
              <a:off x="466153" y="1636296"/>
              <a:ext cx="8827476" cy="3201408"/>
            </p:xfrm>
            <a:graphic>
              <a:graphicData uri="http://schemas.openxmlformats.org/drawingml/2006/table">
                <a:tbl>
                  <a:tblPr firstRow="1" bandRow="1">
                    <a:tableStyleId>{5940675A-B579-460E-94D1-54222C63F5DA}</a:tableStyleId>
                  </a:tblPr>
                  <a:tblGrid>
                    <a:gridCol w="2437468">
                      <a:extLst>
                        <a:ext uri="{9D8B030D-6E8A-4147-A177-3AD203B41FA5}">
                          <a16:colId xmlns:a16="http://schemas.microsoft.com/office/drawing/2014/main" val="1465537324"/>
                        </a:ext>
                      </a:extLst>
                    </a:gridCol>
                    <a:gridCol w="1976270">
                      <a:extLst>
                        <a:ext uri="{9D8B030D-6E8A-4147-A177-3AD203B41FA5}">
                          <a16:colId xmlns:a16="http://schemas.microsoft.com/office/drawing/2014/main" val="2649036122"/>
                        </a:ext>
                      </a:extLst>
                    </a:gridCol>
                    <a:gridCol w="2206869">
                      <a:extLst>
                        <a:ext uri="{9D8B030D-6E8A-4147-A177-3AD203B41FA5}">
                          <a16:colId xmlns:a16="http://schemas.microsoft.com/office/drawing/2014/main" val="1633102707"/>
                        </a:ext>
                      </a:extLst>
                    </a:gridCol>
                    <a:gridCol w="2206869">
                      <a:extLst>
                        <a:ext uri="{9D8B030D-6E8A-4147-A177-3AD203B41FA5}">
                          <a16:colId xmlns:a16="http://schemas.microsoft.com/office/drawing/2014/main" val="1739143365"/>
                        </a:ext>
                      </a:extLst>
                    </a:gridCol>
                  </a:tblGrid>
                  <a:tr h="761869">
                    <a:tc>
                      <a:txBody>
                        <a:bodyPr/>
                        <a:lstStyle/>
                        <a:p>
                          <a:pPr algn="ctr"/>
                          <a:r>
                            <a:rPr lang="en-US" sz="1800" b="1" dirty="0"/>
                            <a:t>Metric</a:t>
                          </a:r>
                        </a:p>
                      </a:txBody>
                      <a:tcPr anchor="ctr">
                        <a:lnB w="28575" cap="flat" cmpd="sng" algn="ctr">
                          <a:solidFill>
                            <a:schemeClr val="tx1"/>
                          </a:solidFill>
                          <a:prstDash val="solid"/>
                          <a:round/>
                          <a:headEnd type="none" w="med" len="med"/>
                          <a:tailEnd type="none" w="med" len="med"/>
                        </a:lnB>
                      </a:tcPr>
                    </a:tc>
                    <a:tc>
                      <a:txBody>
                        <a:bodyPr/>
                        <a:lstStyle/>
                        <a:p>
                          <a:pPr algn="ctr"/>
                          <a:r>
                            <a:rPr lang="en-US" sz="1800" b="1" dirty="0"/>
                            <a:t>What is it?</a:t>
                          </a:r>
                        </a:p>
                      </a:txBody>
                      <a:tcPr anchor="ctr">
                        <a:lnB w="28575" cap="flat" cmpd="sng" algn="ctr">
                          <a:solidFill>
                            <a:schemeClr val="tx1"/>
                          </a:solidFill>
                          <a:prstDash val="solid"/>
                          <a:round/>
                          <a:headEnd type="none" w="med" len="med"/>
                          <a:tailEnd type="none" w="med" len="med"/>
                        </a:lnB>
                      </a:tcPr>
                    </a:tc>
                    <a:tc>
                      <a:txBody>
                        <a:bodyPr/>
                        <a:lstStyle/>
                        <a:p>
                          <a:pPr algn="ctr"/>
                          <a:r>
                            <a:rPr lang="en-US" sz="1800" b="1" dirty="0"/>
                            <a:t>Formula</a:t>
                          </a:r>
                        </a:p>
                      </a:txBody>
                      <a:tcPr anchor="ctr">
                        <a:lnB w="28575" cap="flat" cmpd="sng" algn="ctr">
                          <a:solidFill>
                            <a:schemeClr val="tx1"/>
                          </a:solidFill>
                          <a:prstDash val="solid"/>
                          <a:round/>
                          <a:headEnd type="none" w="med" len="med"/>
                          <a:tailEnd type="none" w="med" len="med"/>
                        </a:lnB>
                      </a:tcPr>
                    </a:tc>
                    <a:tc>
                      <a:txBody>
                        <a:bodyPr/>
                        <a:lstStyle/>
                        <a:p>
                          <a:pPr algn="ctr"/>
                          <a:r>
                            <a:rPr lang="en-US" sz="1800" b="1" dirty="0"/>
                            <a:t>Good value?</a:t>
                          </a:r>
                        </a:p>
                      </a:txBody>
                      <a:tcPr anchor="ct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2347188"/>
                      </a:ext>
                    </a:extLst>
                  </a:tr>
                  <a:tr h="761869">
                    <a:tc>
                      <a:txBody>
                        <a:bodyPr/>
                        <a:lstStyle/>
                        <a:p>
                          <a:pPr algn="ctr"/>
                          <a:r>
                            <a:rPr lang="en-US" sz="1800" dirty="0"/>
                            <a:t>MAE</a:t>
                          </a:r>
                        </a:p>
                        <a:p>
                          <a:pPr algn="ctr"/>
                          <a:r>
                            <a:rPr lang="en-US" sz="1800" dirty="0"/>
                            <a:t>Mean Absolute Value</a:t>
                          </a:r>
                        </a:p>
                      </a:txBody>
                      <a:tcPr anchor="ctr">
                        <a:lnT w="28575" cap="flat" cmpd="sng" algn="ctr">
                          <a:solidFill>
                            <a:schemeClr val="tx1"/>
                          </a:solidFill>
                          <a:prstDash val="solid"/>
                          <a:round/>
                          <a:headEnd type="none" w="med" len="med"/>
                          <a:tailEnd type="none" w="med" len="med"/>
                        </a:lnT>
                      </a:tcPr>
                    </a:tc>
                    <a:tc>
                      <a:txBody>
                        <a:bodyPr/>
                        <a:lstStyle/>
                        <a:p>
                          <a:pPr algn="ctr"/>
                          <a:r>
                            <a:rPr lang="en-US" sz="1800" dirty="0"/>
                            <a:t>Average absolute difference</a:t>
                          </a:r>
                        </a:p>
                      </a:txBody>
                      <a:tcPr anchor="ctr">
                        <a:lnT w="28575" cap="flat" cmpd="sng" algn="ctr">
                          <a:solidFill>
                            <a:schemeClr val="tx1"/>
                          </a:solid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𝑛</m:t>
                                    </m:r>
                                  </m:den>
                                </m:f>
                                <m:nary>
                                  <m:naryPr>
                                    <m:chr m:val="∑"/>
                                    <m:ctrlPr>
                                      <a:rPr lang="en-US" sz="1800" i="1" smtClean="0">
                                        <a:latin typeface="Cambria Math" panose="02040503050406030204" pitchFamily="18" charset="0"/>
                                      </a:rPr>
                                    </m:ctrlPr>
                                  </m:naryPr>
                                  <m:sub>
                                    <m:r>
                                      <m:rPr>
                                        <m:brk m:alnAt="23"/>
                                      </m:rPr>
                                      <a:rPr lang="en-GB" sz="1800" b="0" i="1" smtClean="0">
                                        <a:latin typeface="Cambria Math" panose="02040503050406030204" pitchFamily="18" charset="0"/>
                                      </a:rPr>
                                      <m:t>1</m:t>
                                    </m:r>
                                  </m:sub>
                                  <m:sup>
                                    <m:r>
                                      <a:rPr lang="en-GB" sz="1800" b="0" i="1" smtClean="0">
                                        <a:latin typeface="Cambria Math" panose="02040503050406030204" pitchFamily="18" charset="0"/>
                                      </a:rPr>
                                      <m:t>𝑛</m:t>
                                    </m:r>
                                  </m:sup>
                                  <m:e>
                                    <m:r>
                                      <a:rPr lang="en-GB" sz="1800" b="0" i="1" smtClean="0">
                                        <a:latin typeface="Cambria Math" panose="02040503050406030204" pitchFamily="18" charset="0"/>
                                      </a:rPr>
                                      <m:t>|</m:t>
                                    </m:r>
                                    <m:r>
                                      <m:rPr>
                                        <m:nor/>
                                      </m:rPr>
                                      <a:rPr lang="en-GB" sz="2000" i="1" dirty="0" smtClean="0">
                                        <a:latin typeface="Times New Roman"/>
                                        <a:cs typeface="Times New Roman"/>
                                      </a:rPr>
                                      <m:t>y</m:t>
                                    </m:r>
                                    <m:r>
                                      <m:rPr>
                                        <m:nor/>
                                      </m:rPr>
                                      <a:rPr lang="en-GB" sz="2400" i="1" baseline="-19607" dirty="0" smtClean="0">
                                        <a:latin typeface="Times New Roman"/>
                                        <a:cs typeface="Times New Roman"/>
                                      </a:rPr>
                                      <m:t>i</m:t>
                                    </m:r>
                                    <m:r>
                                      <m:rPr>
                                        <m:nor/>
                                      </m:rPr>
                                      <a:rPr lang="en-GB" sz="2400" i="1" spc="127" baseline="-19607" dirty="0" smtClean="0">
                                        <a:latin typeface="Times New Roman"/>
                                        <a:cs typeface="Times New Roman"/>
                                      </a:rPr>
                                      <m:t> </m:t>
                                    </m:r>
                                    <m:r>
                                      <m:rPr>
                                        <m:nor/>
                                      </m:rPr>
                                      <a:rPr lang="en-GB" sz="2000" spc="300" dirty="0" smtClean="0">
                                        <a:latin typeface="Cambria"/>
                                        <a:cs typeface="Cambria"/>
                                      </a:rPr>
                                      <m:t>−</m:t>
                                    </m:r>
                                    <m:r>
                                      <m:rPr>
                                        <m:nor/>
                                      </m:rPr>
                                      <a:rPr lang="en-GB" sz="2000" spc="-20" dirty="0" smtClean="0">
                                        <a:latin typeface="Cambria"/>
                                        <a:cs typeface="Cambria"/>
                                      </a:rPr>
                                      <m:t> </m:t>
                                    </m:r>
                                    <m:r>
                                      <m:rPr>
                                        <m:nor/>
                                      </m:rPr>
                                      <a:rPr lang="en-GB" sz="2000" i="1" spc="-10" dirty="0" smtClean="0">
                                        <a:latin typeface="Times New Roman"/>
                                        <a:cs typeface="Times New Roman"/>
                                      </a:rPr>
                                      <m:t>y</m:t>
                                    </m:r>
                                    <m:r>
                                      <m:rPr>
                                        <m:nor/>
                                      </m:rPr>
                                      <a:rPr lang="en-GB" sz="3200" spc="-15" baseline="1157" dirty="0" smtClean="0">
                                        <a:latin typeface="Cambria"/>
                                        <a:cs typeface="Cambria"/>
                                      </a:rPr>
                                      <m:t>̂</m:t>
                                    </m:r>
                                    <m:r>
                                      <m:rPr>
                                        <m:nor/>
                                      </m:rPr>
                                      <a:rPr lang="en-GB" sz="2400" i="1" spc="-15" baseline="-19607" dirty="0" smtClean="0">
                                        <a:latin typeface="Times New Roman"/>
                                        <a:cs typeface="Times New Roman"/>
                                      </a:rPr>
                                      <m:t>i</m:t>
                                    </m:r>
                                    <m:r>
                                      <a:rPr lang="en-GB" sz="1800" b="0" i="1" smtClean="0">
                                        <a:latin typeface="Cambria Math" panose="02040503050406030204" pitchFamily="18" charset="0"/>
                                      </a:rPr>
                                      <m:t>|</m:t>
                                    </m:r>
                                  </m:e>
                                </m:nary>
                              </m:oMath>
                            </m:oMathPara>
                          </a14:m>
                          <a:endParaRPr lang="en-US" sz="1800" dirty="0"/>
                        </a:p>
                      </a:txBody>
                      <a:tcPr anchor="ctr">
                        <a:lnT w="28575" cap="flat" cmpd="sng" algn="ctr">
                          <a:solidFill>
                            <a:schemeClr val="tx1"/>
                          </a:solidFill>
                          <a:prstDash val="solid"/>
                          <a:round/>
                          <a:headEnd type="none" w="med" len="med"/>
                          <a:tailEnd type="none" w="med" len="med"/>
                        </a:lnT>
                      </a:tcPr>
                    </a:tc>
                    <a:tc>
                      <a:txBody>
                        <a:bodyPr/>
                        <a:lstStyle/>
                        <a:p>
                          <a:pPr algn="ctr"/>
                          <a:r>
                            <a:rPr lang="en-US" sz="1800" dirty="0"/>
                            <a:t>Low</a:t>
                          </a:r>
                        </a:p>
                      </a:txBody>
                      <a:tcPr anchor="ct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8137274"/>
                      </a:ext>
                    </a:extLst>
                  </a:tr>
                  <a:tr h="761869">
                    <a:tc>
                      <a:txBody>
                        <a:bodyPr/>
                        <a:lstStyle/>
                        <a:p>
                          <a:pPr algn="ctr"/>
                          <a:r>
                            <a:rPr lang="en-US" sz="1800" dirty="0"/>
                            <a:t>MSE</a:t>
                          </a:r>
                        </a:p>
                        <a:p>
                          <a:pPr algn="ctr"/>
                          <a:r>
                            <a:rPr lang="en-US" sz="1800" dirty="0"/>
                            <a:t>Mean Square Value</a:t>
                          </a:r>
                        </a:p>
                      </a:txBody>
                      <a:tcPr anchor="ctr"/>
                    </a:tc>
                    <a:tc>
                      <a:txBody>
                        <a:bodyPr/>
                        <a:lstStyle/>
                        <a:p>
                          <a:pPr algn="ctr"/>
                          <a:r>
                            <a:rPr lang="en-US" sz="1800" dirty="0"/>
                            <a:t>Square large error </a:t>
                          </a:r>
                        </a:p>
                      </a:txBody>
                      <a:tcPr anchor="ctr"/>
                    </a:tc>
                    <a:tc>
                      <a:txBody>
                        <a:bodyPr/>
                        <a:lstStyle/>
                        <a:p>
                          <a:pPr algn="ct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𝑛</m:t>
                                    </m:r>
                                  </m:den>
                                </m:f>
                                <m:nary>
                                  <m:naryPr>
                                    <m:chr m:val="∑"/>
                                    <m:ctrlPr>
                                      <a:rPr lang="en-US" sz="1800" i="1" smtClean="0">
                                        <a:latin typeface="Cambria Math" panose="02040503050406030204" pitchFamily="18" charset="0"/>
                                      </a:rPr>
                                    </m:ctrlPr>
                                  </m:naryPr>
                                  <m:sub>
                                    <m:r>
                                      <m:rPr>
                                        <m:brk m:alnAt="23"/>
                                      </m:rPr>
                                      <a:rPr lang="en-GB" sz="1800" b="0" i="1" smtClean="0">
                                        <a:latin typeface="Cambria Math" panose="02040503050406030204" pitchFamily="18" charset="0"/>
                                      </a:rPr>
                                      <m:t>1</m:t>
                                    </m:r>
                                  </m:sub>
                                  <m:sup>
                                    <m:r>
                                      <a:rPr lang="en-GB" sz="1800" b="0" i="1" smtClean="0">
                                        <a:latin typeface="Cambria Math" panose="02040503050406030204" pitchFamily="18" charset="0"/>
                                      </a:rPr>
                                      <m:t>𝑛</m:t>
                                    </m:r>
                                  </m:sup>
                                  <m:e>
                                    <m:sSup>
                                      <m:sSupPr>
                                        <m:ctrlPr>
                                          <a:rPr lang="en-GB" sz="1800" b="0" i="1" smtClean="0">
                                            <a:latin typeface="Cambria Math" panose="02040503050406030204" pitchFamily="18" charset="0"/>
                                          </a:rPr>
                                        </m:ctrlPr>
                                      </m:sSupPr>
                                      <m:e>
                                        <m:r>
                                          <m:rPr>
                                            <m:nor/>
                                          </m:rPr>
                                          <a:rPr lang="en-GB" sz="1800" b="0" i="1" smtClean="0">
                                            <a:latin typeface="Cambria Math" panose="02040503050406030204" pitchFamily="18" charset="0"/>
                                          </a:rPr>
                                          <m:t>(</m:t>
                                        </m:r>
                                        <m:r>
                                          <m:rPr>
                                            <m:nor/>
                                          </m:rPr>
                                          <a:rPr lang="en-GB" sz="1800" i="1" dirty="0" smtClean="0">
                                            <a:latin typeface="Times New Roman"/>
                                            <a:cs typeface="Times New Roman"/>
                                          </a:rPr>
                                          <m:t>y</m:t>
                                        </m:r>
                                        <m:r>
                                          <m:rPr>
                                            <m:nor/>
                                          </m:rPr>
                                          <a:rPr lang="en-GB" sz="2000" i="1" baseline="-19607" dirty="0" smtClean="0">
                                            <a:latin typeface="Times New Roman"/>
                                            <a:cs typeface="Times New Roman"/>
                                          </a:rPr>
                                          <m:t>i</m:t>
                                        </m:r>
                                        <m:r>
                                          <m:rPr>
                                            <m:nor/>
                                          </m:rPr>
                                          <a:rPr lang="en-GB" sz="2000" i="1" spc="127" baseline="-19607" dirty="0" smtClean="0">
                                            <a:latin typeface="Times New Roman"/>
                                            <a:cs typeface="Times New Roman"/>
                                          </a:rPr>
                                          <m:t> </m:t>
                                        </m:r>
                                        <m:r>
                                          <m:rPr>
                                            <m:nor/>
                                          </m:rPr>
                                          <a:rPr lang="en-GB" sz="1800" spc="300" dirty="0" smtClean="0">
                                            <a:latin typeface="Cambria"/>
                                            <a:cs typeface="Cambria"/>
                                          </a:rPr>
                                          <m:t>−</m:t>
                                        </m:r>
                                        <m:r>
                                          <m:rPr>
                                            <m:nor/>
                                          </m:rPr>
                                          <a:rPr lang="en-GB" sz="1800" i="1" spc="-10" dirty="0" smtClean="0">
                                            <a:latin typeface="Times New Roman"/>
                                            <a:cs typeface="Times New Roman"/>
                                          </a:rPr>
                                          <m:t>y</m:t>
                                        </m:r>
                                        <m:r>
                                          <m:rPr>
                                            <m:nor/>
                                          </m:rPr>
                                          <a:rPr lang="en-GB" sz="2800" spc="-15" baseline="1157" dirty="0" smtClean="0">
                                            <a:latin typeface="Cambria"/>
                                            <a:cs typeface="Cambria"/>
                                          </a:rPr>
                                          <m:t>̂</m:t>
                                        </m:r>
                                        <m:r>
                                          <m:rPr>
                                            <m:nor/>
                                          </m:rPr>
                                          <a:rPr lang="en-GB" sz="2000" i="1" spc="-15" baseline="-19607" dirty="0" smtClean="0">
                                            <a:latin typeface="Times New Roman"/>
                                            <a:cs typeface="Times New Roman"/>
                                          </a:rPr>
                                          <m:t>i</m:t>
                                        </m:r>
                                        <m:r>
                                          <a:rPr lang="en-GB" sz="1800" b="0" i="1" spc="300" dirty="0" smtClean="0">
                                            <a:latin typeface="Cambria Math" panose="02040503050406030204" pitchFamily="18" charset="0"/>
                                            <a:cs typeface="Cambria"/>
                                          </a:rPr>
                                          <m:t>)</m:t>
                                        </m:r>
                                      </m:e>
                                      <m:sup>
                                        <m:r>
                                          <a:rPr lang="en-GB" sz="1800" b="0" i="1" smtClean="0">
                                            <a:latin typeface="Cambria Math" panose="02040503050406030204" pitchFamily="18" charset="0"/>
                                          </a:rPr>
                                          <m:t>2</m:t>
                                        </m:r>
                                      </m:sup>
                                    </m:sSup>
                                  </m:e>
                                </m:nary>
                              </m:oMath>
                            </m:oMathPara>
                          </a14:m>
                          <a:endParaRPr lang="en-US" sz="1800" dirty="0"/>
                        </a:p>
                      </a:txBody>
                      <a:tcPr anchor="ctr"/>
                    </a:tc>
                    <a:tc>
                      <a:txBody>
                        <a:bodyPr/>
                        <a:lstStyle/>
                        <a:p>
                          <a:pPr algn="ctr"/>
                          <a:r>
                            <a:rPr lang="en-US" sz="1800" dirty="0"/>
                            <a:t>Low</a:t>
                          </a:r>
                        </a:p>
                      </a:txBody>
                      <a:tcPr anchor="ctr"/>
                    </a:tc>
                    <a:extLst>
                      <a:ext uri="{0D108BD9-81ED-4DB2-BD59-A6C34878D82A}">
                        <a16:rowId xmlns:a16="http://schemas.microsoft.com/office/drawing/2014/main" val="91148656"/>
                      </a:ext>
                    </a:extLst>
                  </a:tr>
                  <a:tr h="761869">
                    <a:tc>
                      <a:txBody>
                        <a:bodyPr/>
                        <a:lstStyle/>
                        <a:p>
                          <a:pPr algn="ctr"/>
                          <a14:m>
                            <m:oMathPara xmlns:m="http://schemas.openxmlformats.org/officeDocument/2006/math">
                              <m:oMathParaPr>
                                <m:jc m:val="centerGroup"/>
                              </m:oMathParaPr>
                              <m:oMath xmlns:m="http://schemas.openxmlformats.org/officeDocument/2006/math">
                                <m:sSup>
                                  <m:sSupPr>
                                    <m:ctrlPr>
                                      <a:rPr lang="en-US" sz="1800" i="1" smtClean="0">
                                        <a:latin typeface="Cambria Math" panose="02040503050406030204" pitchFamily="18" charset="0"/>
                                      </a:rPr>
                                    </m:ctrlPr>
                                  </m:sSupPr>
                                  <m:e>
                                    <m:r>
                                      <a:rPr lang="en-GB" sz="1800" b="0" i="1" smtClean="0">
                                        <a:latin typeface="Cambria Math" panose="02040503050406030204" pitchFamily="18" charset="0"/>
                                      </a:rPr>
                                      <m:t>𝑅</m:t>
                                    </m:r>
                                  </m:e>
                                  <m:sup>
                                    <m:r>
                                      <a:rPr lang="en-GB" sz="1800" b="0" i="1" smtClean="0">
                                        <a:latin typeface="Cambria Math" panose="02040503050406030204" pitchFamily="18" charset="0"/>
                                      </a:rPr>
                                      <m:t>2</m:t>
                                    </m:r>
                                  </m:sup>
                                </m:sSup>
                              </m:oMath>
                            </m:oMathPara>
                          </a14:m>
                          <a:endParaRPr lang="en-US" sz="1800" dirty="0"/>
                        </a:p>
                      </a:txBody>
                      <a:tcPr anchor="ctr"/>
                    </a:tc>
                    <a:tc>
                      <a:txBody>
                        <a:bodyPr/>
                        <a:lstStyle/>
                        <a:p>
                          <a:pPr algn="ctr"/>
                          <a:r>
                            <a:rPr lang="en-US" sz="1800" dirty="0"/>
                            <a:t>Proportion of variance</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1−</m:t>
                                </m:r>
                                <m:f>
                                  <m:fPr>
                                    <m:ctrlPr>
                                      <a:rPr lang="en-GB" sz="1800" b="0" i="1" smtClean="0">
                                        <a:latin typeface="Cambria Math" panose="02040503050406030204" pitchFamily="18" charset="0"/>
                                      </a:rPr>
                                    </m:ctrlPr>
                                  </m:fPr>
                                  <m:num>
                                    <m:nary>
                                      <m:naryPr>
                                        <m:chr m:val="∑"/>
                                        <m:subHide m:val="on"/>
                                        <m:supHide m:val="on"/>
                                        <m:ctrlPr>
                                          <a:rPr lang="en-GB" sz="1800" b="0" i="1" smtClean="0">
                                            <a:latin typeface="Cambria Math" panose="02040503050406030204" pitchFamily="18" charset="0"/>
                                          </a:rPr>
                                        </m:ctrlPr>
                                      </m:naryPr>
                                      <m:sub/>
                                      <m:sup/>
                                      <m:e>
                                        <m:sSup>
                                          <m:sSupPr>
                                            <m:ctrlPr>
                                              <a:rPr lang="en-GB" sz="1800" b="0" i="1" smtClean="0">
                                                <a:latin typeface="Cambria Math" panose="02040503050406030204" pitchFamily="18" charset="0"/>
                                              </a:rPr>
                                            </m:ctrlPr>
                                          </m:sSupPr>
                                          <m:e>
                                            <m:r>
                                              <m:rPr>
                                                <m:nor/>
                                              </m:rPr>
                                              <a:rPr lang="en-GB" sz="2000" dirty="0" smtClean="0">
                                                <a:latin typeface="Cambria"/>
                                                <a:cs typeface="Cambria"/>
                                              </a:rPr>
                                              <m:t>(</m:t>
                                            </m:r>
                                            <m:r>
                                              <m:rPr>
                                                <m:nor/>
                                              </m:rPr>
                                              <a:rPr lang="en-GB" sz="2000" i="1" dirty="0" smtClean="0">
                                                <a:latin typeface="Times New Roman"/>
                                                <a:cs typeface="Times New Roman"/>
                                              </a:rPr>
                                              <m:t>y</m:t>
                                            </m:r>
                                            <m:r>
                                              <m:rPr>
                                                <m:nor/>
                                              </m:rPr>
                                              <a:rPr lang="en-GB" sz="2000" i="1" baseline="-20370" dirty="0" smtClean="0">
                                                <a:latin typeface="Times New Roman"/>
                                                <a:cs typeface="Times New Roman"/>
                                              </a:rPr>
                                              <m:t>i</m:t>
                                            </m:r>
                                            <m:r>
                                              <m:rPr>
                                                <m:nor/>
                                              </m:rPr>
                                              <a:rPr lang="en-GB" sz="2000" i="1" spc="37" baseline="-20370" dirty="0" smtClean="0">
                                                <a:latin typeface="Times New Roman"/>
                                                <a:cs typeface="Times New Roman"/>
                                              </a:rPr>
                                              <m:t> </m:t>
                                            </m:r>
                                            <m:r>
                                              <m:rPr>
                                                <m:nor/>
                                              </m:rPr>
                                              <a:rPr lang="en-GB" sz="2000" spc="270" dirty="0" smtClean="0">
                                                <a:latin typeface="Cambria"/>
                                                <a:cs typeface="Cambria"/>
                                              </a:rPr>
                                              <m:t>−</m:t>
                                            </m:r>
                                            <m:r>
                                              <m:rPr>
                                                <m:nor/>
                                              </m:rPr>
                                              <a:rPr lang="en-GB" sz="2000" spc="-40" dirty="0" smtClean="0">
                                                <a:latin typeface="Cambria"/>
                                                <a:cs typeface="Cambria"/>
                                              </a:rPr>
                                              <m:t> </m:t>
                                            </m:r>
                                            <m:r>
                                              <m:rPr>
                                                <m:nor/>
                                              </m:rPr>
                                              <a:rPr lang="en-GB" sz="2000" i="1" spc="-20" dirty="0" smtClean="0">
                                                <a:latin typeface="Times New Roman"/>
                                                <a:cs typeface="Times New Roman"/>
                                              </a:rPr>
                                              <m:t>y</m:t>
                                            </m:r>
                                            <m:r>
                                              <m:rPr>
                                                <m:nor/>
                                              </m:rPr>
                                              <a:rPr lang="en-GB" sz="3200" spc="-30" baseline="1291" dirty="0" smtClean="0">
                                                <a:latin typeface="Cambria"/>
                                                <a:cs typeface="Cambria"/>
                                              </a:rPr>
                                              <m:t>̂</m:t>
                                            </m:r>
                                            <m:r>
                                              <m:rPr>
                                                <m:nor/>
                                              </m:rPr>
                                              <a:rPr lang="en-GB" sz="2000" i="1" spc="-30" baseline="-20370" dirty="0" smtClean="0">
                                                <a:latin typeface="Times New Roman"/>
                                                <a:cs typeface="Times New Roman"/>
                                              </a:rPr>
                                              <m:t>i</m:t>
                                            </m:r>
                                            <m:r>
                                              <m:rPr>
                                                <m:nor/>
                                              </m:rPr>
                                              <a:rPr lang="en-GB" sz="2000" spc="-20" dirty="0" smtClean="0">
                                                <a:latin typeface="Cambria"/>
                                                <a:cs typeface="Cambria"/>
                                              </a:rPr>
                                              <m:t>)</m:t>
                                            </m:r>
                                          </m:e>
                                          <m:sup>
                                            <m:r>
                                              <a:rPr lang="en-GB" sz="1800" b="0" i="1" smtClean="0">
                                                <a:latin typeface="Cambria Math" panose="02040503050406030204" pitchFamily="18" charset="0"/>
                                              </a:rPr>
                                              <m:t>2</m:t>
                                            </m:r>
                                          </m:sup>
                                        </m:sSup>
                                      </m:e>
                                    </m:nary>
                                  </m:num>
                                  <m:den>
                                    <m:nary>
                                      <m:naryPr>
                                        <m:chr m:val="∑"/>
                                        <m:subHide m:val="on"/>
                                        <m:supHide m:val="on"/>
                                        <m:ctrlPr>
                                          <a:rPr lang="en-GB" sz="1800" b="0" i="1" smtClean="0">
                                            <a:latin typeface="Cambria Math" panose="02040503050406030204" pitchFamily="18" charset="0"/>
                                          </a:rPr>
                                        </m:ctrlPr>
                                      </m:naryPr>
                                      <m:sub/>
                                      <m:sup/>
                                      <m:e>
                                        <m:sSup>
                                          <m:sSupPr>
                                            <m:ctrlPr>
                                              <a:rPr lang="en-GB" sz="1800" b="0" i="1" smtClean="0">
                                                <a:latin typeface="Cambria Math" panose="02040503050406030204" pitchFamily="18" charset="0"/>
                                              </a:rPr>
                                            </m:ctrlPr>
                                          </m:sSupPr>
                                          <m:e>
                                            <m:r>
                                              <m:rPr>
                                                <m:nor/>
                                              </m:rPr>
                                              <a:rPr lang="en-GB" sz="2000" dirty="0" smtClean="0">
                                                <a:latin typeface="Cambria"/>
                                                <a:cs typeface="Cambria"/>
                                              </a:rPr>
                                              <m:t>(</m:t>
                                            </m:r>
                                            <m:r>
                                              <m:rPr>
                                                <m:nor/>
                                              </m:rPr>
                                              <a:rPr lang="en-GB" sz="2000" i="1" dirty="0" smtClean="0">
                                                <a:latin typeface="Times New Roman"/>
                                                <a:cs typeface="Times New Roman"/>
                                              </a:rPr>
                                              <m:t>y</m:t>
                                            </m:r>
                                            <m:r>
                                              <m:rPr>
                                                <m:nor/>
                                              </m:rPr>
                                              <a:rPr lang="en-GB" sz="2000" i="1" baseline="-16666" dirty="0" smtClean="0">
                                                <a:latin typeface="Times New Roman"/>
                                                <a:cs typeface="Times New Roman"/>
                                              </a:rPr>
                                              <m:t>i</m:t>
                                            </m:r>
                                            <m:r>
                                              <m:rPr>
                                                <m:nor/>
                                              </m:rPr>
                                              <a:rPr lang="en-GB" sz="2000" i="1" spc="52" baseline="-16666" dirty="0" smtClean="0">
                                                <a:latin typeface="Times New Roman"/>
                                                <a:cs typeface="Times New Roman"/>
                                              </a:rPr>
                                              <m:t> </m:t>
                                            </m:r>
                                            <m:r>
                                              <m:rPr>
                                                <m:nor/>
                                              </m:rPr>
                                              <a:rPr lang="en-GB" sz="2000" spc="270" dirty="0" smtClean="0">
                                                <a:latin typeface="Cambria"/>
                                                <a:cs typeface="Cambria"/>
                                              </a:rPr>
                                              <m:t>−</m:t>
                                            </m:r>
                                            <m:r>
                                              <m:rPr>
                                                <m:nor/>
                                              </m:rPr>
                                              <a:rPr lang="en-GB" sz="2000" spc="-40" dirty="0" smtClean="0">
                                                <a:latin typeface="Cambria"/>
                                                <a:cs typeface="Cambria"/>
                                              </a:rPr>
                                              <m:t> </m:t>
                                            </m:r>
                                            <m:r>
                                              <m:rPr>
                                                <m:nor/>
                                              </m:rPr>
                                              <a:rPr lang="en-GB" sz="2000" i="1" spc="-665" dirty="0" smtClean="0">
                                                <a:latin typeface="Times New Roman"/>
                                                <a:cs typeface="Times New Roman"/>
                                              </a:rPr>
                                              <m:t>y</m:t>
                                            </m:r>
                                            <m:r>
                                              <m:rPr>
                                                <m:nor/>
                                              </m:rPr>
                                              <a:rPr lang="en-GB" sz="2000" spc="265" dirty="0" smtClean="0">
                                                <a:latin typeface="Cambria"/>
                                                <a:cs typeface="Cambria"/>
                                              </a:rPr>
                                              <m:t>¯</m:t>
                                            </m:r>
                                            <m:r>
                                              <m:rPr>
                                                <m:nor/>
                                              </m:rPr>
                                              <a:rPr lang="en-GB" sz="2000" spc="160" dirty="0" smtClean="0">
                                                <a:latin typeface="Cambria"/>
                                                <a:cs typeface="Cambria"/>
                                              </a:rPr>
                                              <m:t>)</m:t>
                                            </m:r>
                                          </m:e>
                                          <m:sup>
                                            <m:r>
                                              <a:rPr lang="en-GB" sz="1800" b="0" i="1" smtClean="0">
                                                <a:latin typeface="Cambria Math" panose="02040503050406030204" pitchFamily="18" charset="0"/>
                                              </a:rPr>
                                              <m:t>2</m:t>
                                            </m:r>
                                          </m:sup>
                                        </m:sSup>
                                      </m:e>
                                    </m:nary>
                                  </m:den>
                                </m:f>
                              </m:oMath>
                            </m:oMathPara>
                          </a14:m>
                          <a:endParaRPr lang="en-US" sz="1800" dirty="0"/>
                        </a:p>
                      </a:txBody>
                      <a:tcPr anchor="ctr"/>
                    </a:tc>
                    <a:tc>
                      <a:txBody>
                        <a:bodyPr/>
                        <a:lstStyle/>
                        <a:p>
                          <a:pPr algn="ctr"/>
                          <a:r>
                            <a:rPr lang="en-US" sz="1800" dirty="0"/>
                            <a:t>Close to 1</a:t>
                          </a:r>
                        </a:p>
                      </a:txBody>
                      <a:tcPr anchor="ctr"/>
                    </a:tc>
                    <a:extLst>
                      <a:ext uri="{0D108BD9-81ED-4DB2-BD59-A6C34878D82A}">
                        <a16:rowId xmlns:a16="http://schemas.microsoft.com/office/drawing/2014/main" val="3367935381"/>
                      </a:ext>
                    </a:extLst>
                  </a:tr>
                </a:tbl>
              </a:graphicData>
            </a:graphic>
          </p:graphicFrame>
        </mc:Choice>
        <mc:Fallback xmlns="">
          <p:graphicFrame>
            <p:nvGraphicFramePr>
              <p:cNvPr id="13" name="Table 12">
                <a:extLst>
                  <a:ext uri="{FF2B5EF4-FFF2-40B4-BE49-F238E27FC236}">
                    <a16:creationId xmlns:a16="http://schemas.microsoft.com/office/drawing/2014/main" id="{35724446-C671-6DA0-D672-9C1F529DF356}"/>
                  </a:ext>
                </a:extLst>
              </p:cNvPr>
              <p:cNvGraphicFramePr>
                <a:graphicFrameLocks noGrp="1"/>
              </p:cNvGraphicFramePr>
              <p:nvPr>
                <p:extLst>
                  <p:ext uri="{D42A27DB-BD31-4B8C-83A1-F6EECF244321}">
                    <p14:modId xmlns:p14="http://schemas.microsoft.com/office/powerpoint/2010/main" val="3025484260"/>
                  </p:ext>
                </p:extLst>
              </p:nvPr>
            </p:nvGraphicFramePr>
            <p:xfrm>
              <a:off x="466153" y="1636296"/>
              <a:ext cx="8827476" cy="3201408"/>
            </p:xfrm>
            <a:graphic>
              <a:graphicData uri="http://schemas.openxmlformats.org/drawingml/2006/table">
                <a:tbl>
                  <a:tblPr firstRow="1" bandRow="1">
                    <a:tableStyleId>{5940675A-B579-460E-94D1-54222C63F5DA}</a:tableStyleId>
                  </a:tblPr>
                  <a:tblGrid>
                    <a:gridCol w="2437468">
                      <a:extLst>
                        <a:ext uri="{9D8B030D-6E8A-4147-A177-3AD203B41FA5}">
                          <a16:colId xmlns:a16="http://schemas.microsoft.com/office/drawing/2014/main" val="1465537324"/>
                        </a:ext>
                      </a:extLst>
                    </a:gridCol>
                    <a:gridCol w="1976270">
                      <a:extLst>
                        <a:ext uri="{9D8B030D-6E8A-4147-A177-3AD203B41FA5}">
                          <a16:colId xmlns:a16="http://schemas.microsoft.com/office/drawing/2014/main" val="2649036122"/>
                        </a:ext>
                      </a:extLst>
                    </a:gridCol>
                    <a:gridCol w="2206869">
                      <a:extLst>
                        <a:ext uri="{9D8B030D-6E8A-4147-A177-3AD203B41FA5}">
                          <a16:colId xmlns:a16="http://schemas.microsoft.com/office/drawing/2014/main" val="1633102707"/>
                        </a:ext>
                      </a:extLst>
                    </a:gridCol>
                    <a:gridCol w="2206869">
                      <a:extLst>
                        <a:ext uri="{9D8B030D-6E8A-4147-A177-3AD203B41FA5}">
                          <a16:colId xmlns:a16="http://schemas.microsoft.com/office/drawing/2014/main" val="1739143365"/>
                        </a:ext>
                      </a:extLst>
                    </a:gridCol>
                  </a:tblGrid>
                  <a:tr h="761869">
                    <a:tc>
                      <a:txBody>
                        <a:bodyPr/>
                        <a:lstStyle/>
                        <a:p>
                          <a:pPr algn="ctr"/>
                          <a:r>
                            <a:rPr lang="en-US" sz="1800" b="1" dirty="0"/>
                            <a:t>Metric</a:t>
                          </a:r>
                        </a:p>
                      </a:txBody>
                      <a:tcPr anchor="ctr">
                        <a:lnB w="28575" cap="flat" cmpd="sng" algn="ctr">
                          <a:solidFill>
                            <a:schemeClr val="tx1"/>
                          </a:solidFill>
                          <a:prstDash val="solid"/>
                          <a:round/>
                          <a:headEnd type="none" w="med" len="med"/>
                          <a:tailEnd type="none" w="med" len="med"/>
                        </a:lnB>
                      </a:tcPr>
                    </a:tc>
                    <a:tc>
                      <a:txBody>
                        <a:bodyPr/>
                        <a:lstStyle/>
                        <a:p>
                          <a:pPr algn="ctr"/>
                          <a:r>
                            <a:rPr lang="en-US" sz="1800" b="1" dirty="0"/>
                            <a:t>What is it?</a:t>
                          </a:r>
                        </a:p>
                      </a:txBody>
                      <a:tcPr anchor="ctr">
                        <a:lnB w="28575" cap="flat" cmpd="sng" algn="ctr">
                          <a:solidFill>
                            <a:schemeClr val="tx1"/>
                          </a:solidFill>
                          <a:prstDash val="solid"/>
                          <a:round/>
                          <a:headEnd type="none" w="med" len="med"/>
                          <a:tailEnd type="none" w="med" len="med"/>
                        </a:lnB>
                      </a:tcPr>
                    </a:tc>
                    <a:tc>
                      <a:txBody>
                        <a:bodyPr/>
                        <a:lstStyle/>
                        <a:p>
                          <a:pPr algn="ctr"/>
                          <a:r>
                            <a:rPr lang="en-US" sz="1800" b="1" dirty="0"/>
                            <a:t>Formula</a:t>
                          </a:r>
                        </a:p>
                      </a:txBody>
                      <a:tcPr anchor="ctr">
                        <a:lnB w="28575" cap="flat" cmpd="sng" algn="ctr">
                          <a:solidFill>
                            <a:schemeClr val="tx1"/>
                          </a:solidFill>
                          <a:prstDash val="solid"/>
                          <a:round/>
                          <a:headEnd type="none" w="med" len="med"/>
                          <a:tailEnd type="none" w="med" len="med"/>
                        </a:lnB>
                      </a:tcPr>
                    </a:tc>
                    <a:tc>
                      <a:txBody>
                        <a:bodyPr/>
                        <a:lstStyle/>
                        <a:p>
                          <a:pPr algn="ctr"/>
                          <a:r>
                            <a:rPr lang="en-US" sz="1800" b="1" dirty="0"/>
                            <a:t>Good value?</a:t>
                          </a:r>
                        </a:p>
                      </a:txBody>
                      <a:tcPr anchor="ct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2347188"/>
                      </a:ext>
                    </a:extLst>
                  </a:tr>
                  <a:tr h="838835">
                    <a:tc>
                      <a:txBody>
                        <a:bodyPr/>
                        <a:lstStyle/>
                        <a:p>
                          <a:pPr algn="ctr"/>
                          <a:r>
                            <a:rPr lang="en-US" sz="1800" dirty="0"/>
                            <a:t>MAE</a:t>
                          </a:r>
                        </a:p>
                        <a:p>
                          <a:pPr algn="ctr"/>
                          <a:r>
                            <a:rPr lang="en-US" sz="1800" dirty="0"/>
                            <a:t>Mean Absolute Value</a:t>
                          </a:r>
                        </a:p>
                      </a:txBody>
                      <a:tcPr anchor="ctr">
                        <a:lnT w="28575" cap="flat" cmpd="sng" algn="ctr">
                          <a:solidFill>
                            <a:schemeClr val="tx1"/>
                          </a:solidFill>
                          <a:prstDash val="solid"/>
                          <a:round/>
                          <a:headEnd type="none" w="med" len="med"/>
                          <a:tailEnd type="none" w="med" len="med"/>
                        </a:lnT>
                      </a:tcPr>
                    </a:tc>
                    <a:tc>
                      <a:txBody>
                        <a:bodyPr/>
                        <a:lstStyle/>
                        <a:p>
                          <a:pPr algn="ctr"/>
                          <a:r>
                            <a:rPr lang="en-US" sz="1800" dirty="0"/>
                            <a:t>Average absolute difference</a:t>
                          </a:r>
                        </a:p>
                      </a:txBody>
                      <a:tcPr anchor="ctr">
                        <a:lnT w="28575" cap="flat" cmpd="sng" algn="ctr">
                          <a:solidFill>
                            <a:schemeClr val="tx1"/>
                          </a:solidFill>
                          <a:prstDash val="solid"/>
                          <a:round/>
                          <a:headEnd type="none" w="med" len="med"/>
                          <a:tailEnd type="none" w="med" len="med"/>
                        </a:lnT>
                      </a:tcPr>
                    </a:tc>
                    <a:tc>
                      <a:txBody>
                        <a:bodyPr/>
                        <a:lstStyle/>
                        <a:p>
                          <a:endParaRPr lang="en-US"/>
                        </a:p>
                      </a:txBody>
                      <a:tcPr anchor="ctr">
                        <a:lnT w="28575" cap="flat" cmpd="sng" algn="ctr">
                          <a:solidFill>
                            <a:schemeClr val="tx1"/>
                          </a:solidFill>
                          <a:prstDash val="solid"/>
                          <a:round/>
                          <a:headEnd type="none" w="med" len="med"/>
                          <a:tailEnd type="none" w="med" len="med"/>
                        </a:lnT>
                        <a:blipFill>
                          <a:blip r:embed="rId3"/>
                          <a:stretch>
                            <a:fillRect l="-200000" t="-101493" r="-101149" b="-259701"/>
                          </a:stretch>
                        </a:blipFill>
                      </a:tcPr>
                    </a:tc>
                    <a:tc>
                      <a:txBody>
                        <a:bodyPr/>
                        <a:lstStyle/>
                        <a:p>
                          <a:pPr algn="ctr"/>
                          <a:r>
                            <a:rPr lang="en-US" sz="1800" dirty="0"/>
                            <a:t>Low</a:t>
                          </a:r>
                        </a:p>
                      </a:txBody>
                      <a:tcPr anchor="ct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78137274"/>
                      </a:ext>
                    </a:extLst>
                  </a:tr>
                  <a:tr h="838835">
                    <a:tc>
                      <a:txBody>
                        <a:bodyPr/>
                        <a:lstStyle/>
                        <a:p>
                          <a:pPr algn="ctr"/>
                          <a:r>
                            <a:rPr lang="en-US" sz="1800" dirty="0"/>
                            <a:t>MSE</a:t>
                          </a:r>
                        </a:p>
                        <a:p>
                          <a:pPr algn="ctr"/>
                          <a:r>
                            <a:rPr lang="en-US" sz="1800" dirty="0"/>
                            <a:t>Mean Square Value</a:t>
                          </a:r>
                        </a:p>
                      </a:txBody>
                      <a:tcPr anchor="ctr"/>
                    </a:tc>
                    <a:tc>
                      <a:txBody>
                        <a:bodyPr/>
                        <a:lstStyle/>
                        <a:p>
                          <a:pPr algn="ctr"/>
                          <a:r>
                            <a:rPr lang="en-US" sz="1800" dirty="0"/>
                            <a:t>Square large error </a:t>
                          </a:r>
                        </a:p>
                      </a:txBody>
                      <a:tcPr anchor="ctr"/>
                    </a:tc>
                    <a:tc>
                      <a:txBody>
                        <a:bodyPr/>
                        <a:lstStyle/>
                        <a:p>
                          <a:endParaRPr lang="en-US"/>
                        </a:p>
                      </a:txBody>
                      <a:tcPr anchor="ctr">
                        <a:blipFill>
                          <a:blip r:embed="rId3"/>
                          <a:stretch>
                            <a:fillRect l="-200000" t="-204545" r="-101149" b="-163636"/>
                          </a:stretch>
                        </a:blipFill>
                      </a:tcPr>
                    </a:tc>
                    <a:tc>
                      <a:txBody>
                        <a:bodyPr/>
                        <a:lstStyle/>
                        <a:p>
                          <a:pPr algn="ctr"/>
                          <a:r>
                            <a:rPr lang="en-US" sz="1800" dirty="0"/>
                            <a:t>Low</a:t>
                          </a:r>
                        </a:p>
                      </a:txBody>
                      <a:tcPr anchor="ctr"/>
                    </a:tc>
                    <a:extLst>
                      <a:ext uri="{0D108BD9-81ED-4DB2-BD59-A6C34878D82A}">
                        <a16:rowId xmlns:a16="http://schemas.microsoft.com/office/drawing/2014/main" val="91148656"/>
                      </a:ext>
                    </a:extLst>
                  </a:tr>
                  <a:tr h="761869">
                    <a:tc>
                      <a:txBody>
                        <a:bodyPr/>
                        <a:lstStyle/>
                        <a:p>
                          <a:endParaRPr lang="en-US"/>
                        </a:p>
                      </a:txBody>
                      <a:tcPr anchor="ctr">
                        <a:blipFill>
                          <a:blip r:embed="rId3"/>
                          <a:stretch>
                            <a:fillRect t="-335000" r="-263542" b="-80000"/>
                          </a:stretch>
                        </a:blipFill>
                      </a:tcPr>
                    </a:tc>
                    <a:tc>
                      <a:txBody>
                        <a:bodyPr/>
                        <a:lstStyle/>
                        <a:p>
                          <a:pPr algn="ctr"/>
                          <a:r>
                            <a:rPr lang="en-US" sz="1800" dirty="0"/>
                            <a:t>Proportion of variance</a:t>
                          </a:r>
                        </a:p>
                      </a:txBody>
                      <a:tcPr anchor="ctr"/>
                    </a:tc>
                    <a:tc>
                      <a:txBody>
                        <a:bodyPr/>
                        <a:lstStyle/>
                        <a:p>
                          <a:endParaRPr lang="en-US"/>
                        </a:p>
                      </a:txBody>
                      <a:tcPr anchor="ctr">
                        <a:blipFill>
                          <a:blip r:embed="rId3"/>
                          <a:stretch>
                            <a:fillRect l="-200000" t="-335000" r="-101149" b="-80000"/>
                          </a:stretch>
                        </a:blipFill>
                      </a:tcPr>
                    </a:tc>
                    <a:tc>
                      <a:txBody>
                        <a:bodyPr/>
                        <a:lstStyle/>
                        <a:p>
                          <a:pPr algn="ctr"/>
                          <a:r>
                            <a:rPr lang="en-US" sz="1800" dirty="0"/>
                            <a:t>Close to 1</a:t>
                          </a:r>
                        </a:p>
                      </a:txBody>
                      <a:tcPr anchor="ctr"/>
                    </a:tc>
                    <a:extLst>
                      <a:ext uri="{0D108BD9-81ED-4DB2-BD59-A6C34878D82A}">
                        <a16:rowId xmlns:a16="http://schemas.microsoft.com/office/drawing/2014/main" val="3367935381"/>
                      </a:ext>
                    </a:extLst>
                  </a:tr>
                </a:tbl>
              </a:graphicData>
            </a:graphic>
          </p:graphicFrame>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B8A0C-55DB-1FCE-2543-F927E1D575C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980AA82-9AE6-CDA5-E49C-1E6D478E6938}"/>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FE23B3B2-86D2-B7A5-AEE6-F6CF19AE3D6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EAA6C23-558C-0A26-96EB-0F00C35FA666}"/>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525B36B7-07DE-3097-9ED5-A400F47345F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BA518738-CB15-A90E-D9BF-4E6C9B56604F}"/>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D8B6F12B-21BF-8E34-5C6F-AE1264EB5467}"/>
              </a:ext>
            </a:extLst>
          </p:cNvPr>
          <p:cNvSpPr txBox="1"/>
          <p:nvPr/>
        </p:nvSpPr>
        <p:spPr>
          <a:xfrm>
            <a:off x="71546" y="627416"/>
            <a:ext cx="993470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Practical</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Considerations</a:t>
            </a:r>
          </a:p>
        </p:txBody>
      </p:sp>
      <p:pic>
        <p:nvPicPr>
          <p:cNvPr id="4" name="object 5">
            <a:extLst>
              <a:ext uri="{FF2B5EF4-FFF2-40B4-BE49-F238E27FC236}">
                <a16:creationId xmlns:a16="http://schemas.microsoft.com/office/drawing/2014/main" id="{FC2471B9-F60F-98BF-1B04-FAB06F54EE19}"/>
              </a:ext>
            </a:extLst>
          </p:cNvPr>
          <p:cNvPicPr/>
          <p:nvPr/>
        </p:nvPicPr>
        <p:blipFill>
          <a:blip r:embed="rId6" cstate="print"/>
          <a:srcRect r="66161"/>
          <a:stretch>
            <a:fillRect/>
          </a:stretch>
        </p:blipFill>
        <p:spPr>
          <a:xfrm>
            <a:off x="315279" y="3082167"/>
            <a:ext cx="1668821" cy="1474619"/>
          </a:xfrm>
          <a:prstGeom prst="rect">
            <a:avLst/>
          </a:prstGeom>
        </p:spPr>
      </p:pic>
      <p:sp>
        <p:nvSpPr>
          <p:cNvPr id="6" name="object 3">
            <a:extLst>
              <a:ext uri="{FF2B5EF4-FFF2-40B4-BE49-F238E27FC236}">
                <a16:creationId xmlns:a16="http://schemas.microsoft.com/office/drawing/2014/main" id="{07A97904-A53C-CA77-718D-C85C36C01D80}"/>
              </a:ext>
            </a:extLst>
          </p:cNvPr>
          <p:cNvSpPr txBox="1"/>
          <p:nvPr/>
        </p:nvSpPr>
        <p:spPr>
          <a:xfrm>
            <a:off x="2304495" y="1616856"/>
            <a:ext cx="3753406" cy="2327900"/>
          </a:xfrm>
          <a:prstGeom prst="rect">
            <a:avLst/>
          </a:prstGeom>
        </p:spPr>
        <p:txBody>
          <a:bodyPr vert="horz" wrap="square" lIns="0" tIns="6686" rIns="0" bIns="0" rtlCol="0">
            <a:spAutoFit/>
          </a:bodyPr>
          <a:lstStyle/>
          <a:p>
            <a:pPr marL="12700" marR="403225">
              <a:lnSpc>
                <a:spcPct val="100000"/>
              </a:lnSpc>
              <a:spcBef>
                <a:spcPts val="665"/>
              </a:spcBef>
              <a:tabLst>
                <a:tab pos="347345" algn="l"/>
              </a:tabLst>
            </a:pPr>
            <a:r>
              <a:rPr lang="en-GB" sz="2400" dirty="0"/>
              <a:t>Model</a:t>
            </a:r>
            <a:r>
              <a:rPr lang="en-GB" sz="2400" spc="200" dirty="0"/>
              <a:t> </a:t>
            </a:r>
            <a:r>
              <a:rPr lang="en-GB" sz="2400" dirty="0"/>
              <a:t>performs</a:t>
            </a:r>
            <a:r>
              <a:rPr lang="en-GB" sz="2400" spc="195" dirty="0"/>
              <a:t> </a:t>
            </a:r>
            <a:r>
              <a:rPr lang="en-GB" sz="2400" dirty="0"/>
              <a:t>well</a:t>
            </a:r>
            <a:r>
              <a:rPr lang="en-GB" sz="2400" spc="200" dirty="0"/>
              <a:t> </a:t>
            </a:r>
            <a:r>
              <a:rPr lang="en-GB" sz="2400" spc="-25" dirty="0"/>
              <a:t>on </a:t>
            </a:r>
            <a:r>
              <a:rPr lang="en-GB" sz="2400" dirty="0"/>
              <a:t>training</a:t>
            </a:r>
            <a:r>
              <a:rPr lang="en-GB" sz="2400" spc="105" dirty="0"/>
              <a:t> </a:t>
            </a:r>
            <a:r>
              <a:rPr lang="en-GB" sz="2400" dirty="0"/>
              <a:t>data</a:t>
            </a:r>
            <a:r>
              <a:rPr lang="en-GB" sz="2400" spc="110" dirty="0"/>
              <a:t> </a:t>
            </a:r>
            <a:r>
              <a:rPr lang="en-GB" sz="2400" spc="90" dirty="0"/>
              <a:t>but</a:t>
            </a:r>
            <a:r>
              <a:rPr lang="en-GB" sz="2400" spc="105" dirty="0"/>
              <a:t> </a:t>
            </a:r>
            <a:r>
              <a:rPr lang="en-GB" sz="2400" dirty="0"/>
              <a:t>poorly</a:t>
            </a:r>
            <a:r>
              <a:rPr lang="en-GB" sz="2400" spc="105" dirty="0"/>
              <a:t> </a:t>
            </a:r>
            <a:r>
              <a:rPr lang="en-GB" sz="2400" spc="-25" dirty="0"/>
              <a:t>on </a:t>
            </a:r>
            <a:r>
              <a:rPr lang="en-GB" sz="2400" dirty="0"/>
              <a:t>new</a:t>
            </a:r>
            <a:r>
              <a:rPr lang="en-GB" sz="2400" spc="85" dirty="0"/>
              <a:t> </a:t>
            </a:r>
            <a:r>
              <a:rPr lang="en-GB" sz="2400" dirty="0"/>
              <a:t>data</a:t>
            </a:r>
            <a:endParaRPr lang="en-GB" sz="2400" spc="-10" dirty="0"/>
          </a:p>
          <a:p>
            <a:pPr marL="12700" marR="1017269">
              <a:lnSpc>
                <a:spcPct val="100000"/>
              </a:lnSpc>
              <a:spcBef>
                <a:spcPts val="3710"/>
              </a:spcBef>
              <a:tabLst>
                <a:tab pos="347345" algn="l"/>
              </a:tabLst>
            </a:pPr>
            <a:r>
              <a:rPr lang="en-GB" sz="2400" dirty="0"/>
              <a:t>Model</a:t>
            </a:r>
            <a:r>
              <a:rPr lang="en-GB" sz="2400" spc="75" dirty="0"/>
              <a:t> </a:t>
            </a:r>
            <a:r>
              <a:rPr lang="en-GB" sz="2400" dirty="0"/>
              <a:t>is</a:t>
            </a:r>
            <a:r>
              <a:rPr lang="en-GB" sz="2400" spc="80" dirty="0"/>
              <a:t> </a:t>
            </a:r>
            <a:r>
              <a:rPr lang="en-GB" sz="2400" spc="90" dirty="0"/>
              <a:t>too</a:t>
            </a:r>
            <a:r>
              <a:rPr lang="en-GB" sz="2400" spc="85" dirty="0"/>
              <a:t> </a:t>
            </a:r>
            <a:r>
              <a:rPr lang="en-GB" sz="2400" dirty="0"/>
              <a:t>simple</a:t>
            </a:r>
            <a:r>
              <a:rPr lang="en-GB" sz="2400" spc="85" dirty="0"/>
              <a:t> </a:t>
            </a:r>
            <a:r>
              <a:rPr lang="en-GB" sz="2400" spc="70" dirty="0"/>
              <a:t>to </a:t>
            </a:r>
            <a:r>
              <a:rPr lang="en-GB" sz="2400" dirty="0"/>
              <a:t>capture</a:t>
            </a:r>
            <a:r>
              <a:rPr lang="en-GB" sz="2400" spc="165" dirty="0"/>
              <a:t> </a:t>
            </a:r>
            <a:r>
              <a:rPr lang="en-GB" sz="2400" spc="-10" dirty="0"/>
              <a:t>patterns</a:t>
            </a:r>
          </a:p>
        </p:txBody>
      </p:sp>
      <p:pic>
        <p:nvPicPr>
          <p:cNvPr id="10" name="object 5">
            <a:extLst>
              <a:ext uri="{FF2B5EF4-FFF2-40B4-BE49-F238E27FC236}">
                <a16:creationId xmlns:a16="http://schemas.microsoft.com/office/drawing/2014/main" id="{F1CC360C-9E3A-51C8-3BF4-1BE740BDC11D}"/>
              </a:ext>
            </a:extLst>
          </p:cNvPr>
          <p:cNvPicPr/>
          <p:nvPr/>
        </p:nvPicPr>
        <p:blipFill>
          <a:blip r:embed="rId6" cstate="print"/>
          <a:srcRect l="66161"/>
          <a:stretch>
            <a:fillRect/>
          </a:stretch>
        </p:blipFill>
        <p:spPr>
          <a:xfrm>
            <a:off x="315279" y="1432652"/>
            <a:ext cx="1668821" cy="1474619"/>
          </a:xfrm>
          <a:prstGeom prst="rect">
            <a:avLst/>
          </a:prstGeom>
        </p:spPr>
      </p:pic>
      <p:sp>
        <p:nvSpPr>
          <p:cNvPr id="12" name="TextBox 11">
            <a:extLst>
              <a:ext uri="{FF2B5EF4-FFF2-40B4-BE49-F238E27FC236}">
                <a16:creationId xmlns:a16="http://schemas.microsoft.com/office/drawing/2014/main" id="{E7B36A9F-047E-5FF8-ECF1-8F332CF74D54}"/>
              </a:ext>
            </a:extLst>
          </p:cNvPr>
          <p:cNvSpPr txBox="1"/>
          <p:nvPr/>
        </p:nvSpPr>
        <p:spPr>
          <a:xfrm>
            <a:off x="5664993" y="3707242"/>
            <a:ext cx="3977810" cy="1015663"/>
          </a:xfrm>
          <a:prstGeom prst="rect">
            <a:avLst/>
          </a:prstGeom>
          <a:noFill/>
        </p:spPr>
        <p:txBody>
          <a:bodyPr wrap="square">
            <a:spAutoFit/>
          </a:bodyPr>
          <a:lstStyle/>
          <a:p>
            <a:pPr marL="12700" marR="5080">
              <a:lnSpc>
                <a:spcPct val="100000"/>
              </a:lnSpc>
              <a:spcBef>
                <a:spcPts val="3625"/>
              </a:spcBef>
              <a:tabLst>
                <a:tab pos="347345" algn="l"/>
              </a:tabLst>
            </a:pPr>
            <a:r>
              <a:rPr lang="en-GB" sz="2000" dirty="0"/>
              <a:t>Fix</a:t>
            </a:r>
            <a:r>
              <a:rPr lang="en-GB" sz="2000" spc="-55" dirty="0"/>
              <a:t> </a:t>
            </a:r>
            <a:r>
              <a:rPr lang="en-GB" sz="2000" spc="70" dirty="0"/>
              <a:t>with</a:t>
            </a:r>
            <a:r>
              <a:rPr lang="en-GB" sz="2000" spc="-50" dirty="0"/>
              <a:t> </a:t>
            </a:r>
            <a:r>
              <a:rPr lang="en-GB" sz="2000" spc="-10" dirty="0"/>
              <a:t>simpler/more </a:t>
            </a:r>
            <a:r>
              <a:rPr lang="en-GB" sz="2000" spc="60" dirty="0"/>
              <a:t>complex</a:t>
            </a:r>
            <a:r>
              <a:rPr lang="en-GB" sz="2000" spc="20" dirty="0"/>
              <a:t> </a:t>
            </a:r>
            <a:r>
              <a:rPr lang="en-GB" sz="2000" spc="-10" dirty="0"/>
              <a:t>models, </a:t>
            </a:r>
            <a:r>
              <a:rPr lang="en-GB" sz="2000" dirty="0"/>
              <a:t>regularisation,</a:t>
            </a:r>
            <a:r>
              <a:rPr lang="en-GB" sz="2000" spc="20" dirty="0"/>
              <a:t> </a:t>
            </a:r>
            <a:r>
              <a:rPr lang="en-GB" sz="2000" dirty="0"/>
              <a:t>or</a:t>
            </a:r>
            <a:r>
              <a:rPr lang="en-GB" sz="2000" spc="20" dirty="0"/>
              <a:t> </a:t>
            </a:r>
            <a:r>
              <a:rPr lang="en-GB" sz="2000" b="1" dirty="0">
                <a:latin typeface="Arial"/>
                <a:cs typeface="Arial"/>
              </a:rPr>
              <a:t>more</a:t>
            </a:r>
            <a:r>
              <a:rPr lang="en-GB" sz="2000" b="1" spc="20" dirty="0">
                <a:latin typeface="Arial"/>
                <a:cs typeface="Arial"/>
              </a:rPr>
              <a:t> </a:t>
            </a:r>
            <a:r>
              <a:rPr lang="en-GB" sz="2000" b="1" spc="-20" dirty="0">
                <a:latin typeface="Arial"/>
                <a:cs typeface="Arial"/>
              </a:rPr>
              <a:t>data</a:t>
            </a:r>
          </a:p>
        </p:txBody>
      </p:sp>
      <p:pic>
        <p:nvPicPr>
          <p:cNvPr id="13" name="object 5">
            <a:extLst>
              <a:ext uri="{FF2B5EF4-FFF2-40B4-BE49-F238E27FC236}">
                <a16:creationId xmlns:a16="http://schemas.microsoft.com/office/drawing/2014/main" id="{7041CC6B-0965-D8EE-1621-D7EFC279F2D0}"/>
              </a:ext>
            </a:extLst>
          </p:cNvPr>
          <p:cNvPicPr/>
          <p:nvPr/>
        </p:nvPicPr>
        <p:blipFill>
          <a:blip r:embed="rId6" cstate="print"/>
          <a:srcRect l="33075" t="2176" r="33086" b="-2176"/>
          <a:stretch>
            <a:fillRect/>
          </a:stretch>
        </p:blipFill>
        <p:spPr>
          <a:xfrm>
            <a:off x="6378296" y="1470466"/>
            <a:ext cx="2280795" cy="2020123"/>
          </a:xfrm>
          <a:prstGeom prst="rect">
            <a:avLst/>
          </a:prstGeom>
        </p:spPr>
      </p:pic>
    </p:spTree>
    <p:extLst>
      <p:ext uri="{BB962C8B-B14F-4D97-AF65-F5344CB8AC3E}">
        <p14:creationId xmlns:p14="http://schemas.microsoft.com/office/powerpoint/2010/main" val="621951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1C7F7-1EB7-BA70-62AC-2B732124ACE4}"/>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95BECBC-EDAD-4A9C-E711-8453740DCB84}"/>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B0B9E34D-D099-B2DA-8825-60A01BDCD6B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8E968343-2B8C-354D-C813-E26D59758EAF}"/>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D4B563A5-C395-2C45-A206-1C6316799FD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9C94C17D-3E51-DB5E-EFBD-F2B9528209B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A1F2CBEF-1730-6BD1-414C-06C6AD3E978D}"/>
              </a:ext>
            </a:extLst>
          </p:cNvPr>
          <p:cNvSpPr txBox="1"/>
          <p:nvPr/>
        </p:nvSpPr>
        <p:spPr>
          <a:xfrm>
            <a:off x="71546" y="627416"/>
            <a:ext cx="993470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Practical</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Considerations</a:t>
            </a:r>
          </a:p>
        </p:txBody>
      </p:sp>
      <p:sp>
        <p:nvSpPr>
          <p:cNvPr id="3" name="object 2">
            <a:extLst>
              <a:ext uri="{FF2B5EF4-FFF2-40B4-BE49-F238E27FC236}">
                <a16:creationId xmlns:a16="http://schemas.microsoft.com/office/drawing/2014/main" id="{E24726A7-5D59-F4DC-B67B-77A696AD603E}"/>
              </a:ext>
            </a:extLst>
          </p:cNvPr>
          <p:cNvSpPr txBox="1"/>
          <p:nvPr/>
        </p:nvSpPr>
        <p:spPr>
          <a:xfrm>
            <a:off x="414466" y="1432147"/>
            <a:ext cx="4166870" cy="382797"/>
          </a:xfrm>
          <a:prstGeom prst="rect">
            <a:avLst/>
          </a:prstGeom>
        </p:spPr>
        <p:txBody>
          <a:bodyPr vert="horz" wrap="square" lIns="0" tIns="13335" rIns="0" bIns="0" rtlCol="0">
            <a:spAutoFit/>
          </a:bodyPr>
          <a:lstStyle/>
          <a:p>
            <a:pPr marL="12700">
              <a:lnSpc>
                <a:spcPct val="100000"/>
              </a:lnSpc>
              <a:spcBef>
                <a:spcPts val="105"/>
              </a:spcBef>
            </a:pPr>
            <a:r>
              <a:rPr sz="2400" b="1" dirty="0">
                <a:latin typeface="Arial"/>
                <a:cs typeface="Arial"/>
              </a:rPr>
              <a:t>Feature</a:t>
            </a:r>
            <a:r>
              <a:rPr sz="2400" b="1" spc="-10" dirty="0">
                <a:latin typeface="Arial"/>
                <a:cs typeface="Arial"/>
              </a:rPr>
              <a:t> selection</a:t>
            </a:r>
            <a:endParaRPr sz="2400" dirty="0">
              <a:latin typeface="Arial"/>
              <a:cs typeface="Arial"/>
            </a:endParaRPr>
          </a:p>
        </p:txBody>
      </p:sp>
      <p:sp>
        <p:nvSpPr>
          <p:cNvPr id="5" name="object 4">
            <a:extLst>
              <a:ext uri="{FF2B5EF4-FFF2-40B4-BE49-F238E27FC236}">
                <a16:creationId xmlns:a16="http://schemas.microsoft.com/office/drawing/2014/main" id="{474F0732-A3CB-9BE7-0F76-23A01DAD21E3}"/>
              </a:ext>
            </a:extLst>
          </p:cNvPr>
          <p:cNvSpPr txBox="1"/>
          <p:nvPr/>
        </p:nvSpPr>
        <p:spPr>
          <a:xfrm>
            <a:off x="4763386" y="1432147"/>
            <a:ext cx="5242869" cy="2637966"/>
          </a:xfrm>
          <a:prstGeom prst="rect">
            <a:avLst/>
          </a:prstGeom>
        </p:spPr>
        <p:txBody>
          <a:bodyPr vert="horz" wrap="square" lIns="0" tIns="84455" rIns="0" bIns="0" rtlCol="0">
            <a:spAutoFit/>
          </a:bodyPr>
          <a:lstStyle/>
          <a:p>
            <a:pPr marL="12700" marR="311150">
              <a:lnSpc>
                <a:spcPts val="4240"/>
              </a:lnSpc>
              <a:spcBef>
                <a:spcPts val="665"/>
              </a:spcBef>
              <a:tabLst>
                <a:tab pos="403225" algn="l"/>
              </a:tabLst>
            </a:pPr>
            <a:r>
              <a:rPr sz="2000" dirty="0">
                <a:latin typeface="Arial MT"/>
                <a:cs typeface="Arial MT"/>
              </a:rPr>
              <a:t>Some</a:t>
            </a:r>
            <a:r>
              <a:rPr sz="2000" spc="-25" dirty="0">
                <a:latin typeface="Arial MT"/>
                <a:cs typeface="Arial MT"/>
              </a:rPr>
              <a:t> </a:t>
            </a:r>
            <a:r>
              <a:rPr sz="2000" dirty="0">
                <a:latin typeface="Arial MT"/>
                <a:cs typeface="Arial MT"/>
              </a:rPr>
              <a:t>features</a:t>
            </a:r>
            <a:r>
              <a:rPr sz="2000" spc="-25" dirty="0">
                <a:latin typeface="Arial MT"/>
                <a:cs typeface="Arial MT"/>
              </a:rPr>
              <a:t> </a:t>
            </a:r>
            <a:r>
              <a:rPr sz="2000" dirty="0">
                <a:latin typeface="Arial MT"/>
                <a:cs typeface="Arial MT"/>
              </a:rPr>
              <a:t>may</a:t>
            </a:r>
            <a:r>
              <a:rPr sz="2000" spc="-20" dirty="0">
                <a:latin typeface="Arial MT"/>
                <a:cs typeface="Arial MT"/>
              </a:rPr>
              <a:t> </a:t>
            </a:r>
            <a:r>
              <a:rPr sz="2000" dirty="0">
                <a:latin typeface="Arial MT"/>
                <a:cs typeface="Arial MT"/>
              </a:rPr>
              <a:t>be</a:t>
            </a:r>
            <a:r>
              <a:rPr sz="2000" spc="-25" dirty="0">
                <a:latin typeface="Arial MT"/>
                <a:cs typeface="Arial MT"/>
              </a:rPr>
              <a:t> </a:t>
            </a:r>
            <a:r>
              <a:rPr sz="2000" dirty="0">
                <a:latin typeface="Arial MT"/>
                <a:cs typeface="Arial MT"/>
              </a:rPr>
              <a:t>noisy</a:t>
            </a:r>
            <a:r>
              <a:rPr sz="2000" spc="-20" dirty="0">
                <a:latin typeface="Arial MT"/>
                <a:cs typeface="Arial MT"/>
              </a:rPr>
              <a:t> </a:t>
            </a:r>
            <a:r>
              <a:rPr sz="2000" spc="-25" dirty="0">
                <a:latin typeface="Arial MT"/>
                <a:cs typeface="Arial MT"/>
              </a:rPr>
              <a:t>or </a:t>
            </a:r>
            <a:r>
              <a:rPr sz="2000" spc="-10" dirty="0">
                <a:latin typeface="Arial MT"/>
                <a:cs typeface="Arial MT"/>
              </a:rPr>
              <a:t>irrelevant.</a:t>
            </a:r>
            <a:endParaRPr sz="2000" dirty="0">
              <a:latin typeface="Arial MT"/>
              <a:cs typeface="Arial MT"/>
            </a:endParaRPr>
          </a:p>
          <a:p>
            <a:pPr marL="12700" marR="5080">
              <a:lnSpc>
                <a:spcPts val="4240"/>
              </a:lnSpc>
              <a:spcBef>
                <a:spcPts val="3710"/>
              </a:spcBef>
              <a:tabLst>
                <a:tab pos="403225" algn="l"/>
              </a:tabLst>
            </a:pPr>
            <a:r>
              <a:rPr sz="2000" dirty="0">
                <a:latin typeface="Arial MT"/>
                <a:cs typeface="Arial MT"/>
              </a:rPr>
              <a:t>Use</a:t>
            </a:r>
            <a:r>
              <a:rPr sz="2000" spc="-50" dirty="0">
                <a:latin typeface="Arial MT"/>
                <a:cs typeface="Arial MT"/>
              </a:rPr>
              <a:t> </a:t>
            </a:r>
            <a:r>
              <a:rPr sz="2000" dirty="0">
                <a:latin typeface="Arial MT"/>
                <a:cs typeface="Arial MT"/>
              </a:rPr>
              <a:t>causal</a:t>
            </a:r>
            <a:r>
              <a:rPr sz="2000" spc="-50" dirty="0">
                <a:latin typeface="Arial MT"/>
                <a:cs typeface="Arial MT"/>
              </a:rPr>
              <a:t> </a:t>
            </a:r>
            <a:r>
              <a:rPr sz="2000" dirty="0">
                <a:latin typeface="Arial MT"/>
                <a:cs typeface="Arial MT"/>
              </a:rPr>
              <a:t>inference</a:t>
            </a:r>
            <a:r>
              <a:rPr sz="2000" spc="-50" dirty="0">
                <a:latin typeface="Arial MT"/>
                <a:cs typeface="Arial MT"/>
              </a:rPr>
              <a:t> </a:t>
            </a:r>
            <a:r>
              <a:rPr sz="2000" spc="-10" dirty="0">
                <a:latin typeface="Arial MT"/>
                <a:cs typeface="Arial MT"/>
              </a:rPr>
              <a:t>techniques </a:t>
            </a:r>
            <a:r>
              <a:rPr sz="2000" spc="95" dirty="0">
                <a:latin typeface="Arial MT"/>
                <a:cs typeface="Arial MT"/>
              </a:rPr>
              <a:t>to </a:t>
            </a:r>
            <a:r>
              <a:rPr sz="2000" dirty="0">
                <a:latin typeface="Arial MT"/>
                <a:cs typeface="Arial MT"/>
              </a:rPr>
              <a:t>establish</a:t>
            </a:r>
            <a:r>
              <a:rPr sz="2000" spc="105" dirty="0">
                <a:latin typeface="Arial MT"/>
                <a:cs typeface="Arial MT"/>
              </a:rPr>
              <a:t> </a:t>
            </a:r>
            <a:r>
              <a:rPr sz="2000" dirty="0">
                <a:latin typeface="Arial MT"/>
                <a:cs typeface="Arial MT"/>
              </a:rPr>
              <a:t>a</a:t>
            </a:r>
            <a:r>
              <a:rPr sz="2000" spc="105" dirty="0">
                <a:latin typeface="Arial MT"/>
                <a:cs typeface="Arial MT"/>
              </a:rPr>
              <a:t> </a:t>
            </a:r>
            <a:r>
              <a:rPr sz="2000" dirty="0">
                <a:latin typeface="Arial MT"/>
                <a:cs typeface="Arial MT"/>
              </a:rPr>
              <a:t>directed</a:t>
            </a:r>
            <a:r>
              <a:rPr sz="2000" spc="110" dirty="0">
                <a:latin typeface="Arial MT"/>
                <a:cs typeface="Arial MT"/>
              </a:rPr>
              <a:t> </a:t>
            </a:r>
            <a:r>
              <a:rPr sz="2000" spc="40" dirty="0">
                <a:latin typeface="Arial MT"/>
                <a:cs typeface="Arial MT"/>
              </a:rPr>
              <a:t>acyclic </a:t>
            </a:r>
            <a:r>
              <a:rPr sz="2000" dirty="0">
                <a:latin typeface="Arial MT"/>
                <a:cs typeface="Arial MT"/>
              </a:rPr>
              <a:t>graph</a:t>
            </a:r>
            <a:r>
              <a:rPr sz="2000" spc="95" dirty="0">
                <a:latin typeface="Arial MT"/>
                <a:cs typeface="Arial MT"/>
              </a:rPr>
              <a:t> </a:t>
            </a:r>
            <a:r>
              <a:rPr sz="2000" dirty="0">
                <a:latin typeface="Arial MT"/>
                <a:cs typeface="Arial MT"/>
              </a:rPr>
              <a:t>first</a:t>
            </a:r>
            <a:r>
              <a:rPr sz="2000" spc="100" dirty="0">
                <a:latin typeface="Arial MT"/>
                <a:cs typeface="Arial MT"/>
              </a:rPr>
              <a:t> </a:t>
            </a:r>
            <a:r>
              <a:rPr sz="2000" dirty="0">
                <a:latin typeface="Arial MT"/>
                <a:cs typeface="Arial MT"/>
              </a:rPr>
              <a:t>when</a:t>
            </a:r>
            <a:r>
              <a:rPr sz="2000" spc="95" dirty="0">
                <a:latin typeface="Arial MT"/>
                <a:cs typeface="Arial MT"/>
              </a:rPr>
              <a:t> </a:t>
            </a:r>
            <a:r>
              <a:rPr sz="2000" spc="-10" dirty="0">
                <a:latin typeface="Arial MT"/>
                <a:cs typeface="Arial MT"/>
              </a:rPr>
              <a:t>considering features.</a:t>
            </a:r>
            <a:endParaRPr sz="2000" dirty="0">
              <a:latin typeface="Arial MT"/>
              <a:cs typeface="Arial MT"/>
            </a:endParaRPr>
          </a:p>
        </p:txBody>
      </p:sp>
      <p:pic>
        <p:nvPicPr>
          <p:cNvPr id="11" name="object 5">
            <a:extLst>
              <a:ext uri="{FF2B5EF4-FFF2-40B4-BE49-F238E27FC236}">
                <a16:creationId xmlns:a16="http://schemas.microsoft.com/office/drawing/2014/main" id="{F31A6E1A-0451-2B8C-DB05-9BCFC5B63598}"/>
              </a:ext>
            </a:extLst>
          </p:cNvPr>
          <p:cNvPicPr/>
          <p:nvPr/>
        </p:nvPicPr>
        <p:blipFill>
          <a:blip r:embed="rId6" cstate="print"/>
          <a:stretch>
            <a:fillRect/>
          </a:stretch>
        </p:blipFill>
        <p:spPr>
          <a:xfrm>
            <a:off x="414466" y="1933605"/>
            <a:ext cx="3565705" cy="2529632"/>
          </a:xfrm>
          <a:prstGeom prst="rect">
            <a:avLst/>
          </a:prstGeom>
        </p:spPr>
      </p:pic>
    </p:spTree>
    <p:extLst>
      <p:ext uri="{BB962C8B-B14F-4D97-AF65-F5344CB8AC3E}">
        <p14:creationId xmlns:p14="http://schemas.microsoft.com/office/powerpoint/2010/main" val="4165834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12BE-27DF-B1FA-15E2-8CD11A57C36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24B0B7B-AD54-40DA-2948-12AC4FC8AC83}"/>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B77E198B-1BA7-1B13-E1A1-F1DECAF1580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E39D6744-8B57-4727-D59E-A4A00AD89E5D}"/>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41155D1A-C901-9564-1EA3-51B7493D7A7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9656230F-94FA-897E-7C16-245BA0639A8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3EDAB034-3FEA-5271-EB4D-E37E266579FA}"/>
              </a:ext>
            </a:extLst>
          </p:cNvPr>
          <p:cNvSpPr txBox="1"/>
          <p:nvPr/>
        </p:nvSpPr>
        <p:spPr>
          <a:xfrm>
            <a:off x="71546" y="627416"/>
            <a:ext cx="993470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Practical</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Considerations</a:t>
            </a:r>
          </a:p>
        </p:txBody>
      </p:sp>
      <p:sp>
        <p:nvSpPr>
          <p:cNvPr id="2" name="object 2">
            <a:extLst>
              <a:ext uri="{FF2B5EF4-FFF2-40B4-BE49-F238E27FC236}">
                <a16:creationId xmlns:a16="http://schemas.microsoft.com/office/drawing/2014/main" id="{74E3299A-692D-03F2-FB36-6E15BE694C29}"/>
              </a:ext>
            </a:extLst>
          </p:cNvPr>
          <p:cNvSpPr txBox="1"/>
          <p:nvPr/>
        </p:nvSpPr>
        <p:spPr>
          <a:xfrm>
            <a:off x="971769" y="1341876"/>
            <a:ext cx="8134262" cy="311578"/>
          </a:xfrm>
          <a:prstGeom prst="rect">
            <a:avLst/>
          </a:prstGeom>
        </p:spPr>
        <p:txBody>
          <a:bodyPr vert="horz" wrap="square" lIns="0" tIns="6686" rIns="0" bIns="0" rtlCol="0">
            <a:spAutoFit/>
          </a:bodyPr>
          <a:lstStyle/>
          <a:p>
            <a:pPr marL="6368">
              <a:spcBef>
                <a:spcPts val="53"/>
              </a:spcBef>
            </a:pPr>
            <a:r>
              <a:rPr sz="1981" b="1" spc="-5" dirty="0">
                <a:latin typeface="Arial"/>
                <a:cs typeface="Arial"/>
              </a:rPr>
              <a:t>Scaling</a:t>
            </a:r>
            <a:r>
              <a:rPr sz="1981" spc="-5" dirty="0">
                <a:latin typeface="Arial MT"/>
                <a:cs typeface="Arial MT"/>
              </a:rPr>
              <a:t>…some</a:t>
            </a:r>
            <a:r>
              <a:rPr sz="1981" spc="-30" dirty="0">
                <a:latin typeface="Arial MT"/>
                <a:cs typeface="Arial MT"/>
              </a:rPr>
              <a:t> </a:t>
            </a:r>
            <a:r>
              <a:rPr sz="1981" dirty="0">
                <a:latin typeface="Arial MT"/>
                <a:cs typeface="Arial MT"/>
              </a:rPr>
              <a:t>models</a:t>
            </a:r>
            <a:r>
              <a:rPr sz="1981" spc="-30" dirty="0">
                <a:latin typeface="Arial MT"/>
                <a:cs typeface="Arial MT"/>
              </a:rPr>
              <a:t> </a:t>
            </a:r>
            <a:r>
              <a:rPr sz="1981" spc="-10" dirty="0">
                <a:latin typeface="Arial MT"/>
                <a:cs typeface="Arial MT"/>
              </a:rPr>
              <a:t>(e.g.</a:t>
            </a:r>
            <a:r>
              <a:rPr sz="1981" spc="-30" dirty="0">
                <a:latin typeface="Arial MT"/>
                <a:cs typeface="Arial MT"/>
              </a:rPr>
              <a:t> </a:t>
            </a:r>
            <a:r>
              <a:rPr sz="1981" dirty="0">
                <a:latin typeface="Arial MT"/>
                <a:cs typeface="Arial MT"/>
              </a:rPr>
              <a:t>k-</a:t>
            </a:r>
            <a:r>
              <a:rPr sz="1981" spc="33" dirty="0">
                <a:latin typeface="Arial MT"/>
                <a:cs typeface="Arial MT"/>
              </a:rPr>
              <a:t>NN,</a:t>
            </a:r>
            <a:r>
              <a:rPr sz="1981" spc="-28" dirty="0">
                <a:latin typeface="Arial MT"/>
                <a:cs typeface="Arial MT"/>
              </a:rPr>
              <a:t> </a:t>
            </a:r>
            <a:r>
              <a:rPr sz="1981" dirty="0">
                <a:latin typeface="Arial MT"/>
                <a:cs typeface="Arial MT"/>
              </a:rPr>
              <a:t>linear</a:t>
            </a:r>
            <a:r>
              <a:rPr sz="1981" spc="-30" dirty="0">
                <a:latin typeface="Arial MT"/>
                <a:cs typeface="Arial MT"/>
              </a:rPr>
              <a:t> </a:t>
            </a:r>
            <a:r>
              <a:rPr sz="1981" spc="-15" dirty="0">
                <a:latin typeface="Arial MT"/>
                <a:cs typeface="Arial MT"/>
              </a:rPr>
              <a:t>regression)</a:t>
            </a:r>
            <a:r>
              <a:rPr sz="1981" spc="-30" dirty="0">
                <a:latin typeface="Arial MT"/>
                <a:cs typeface="Arial MT"/>
              </a:rPr>
              <a:t> </a:t>
            </a:r>
            <a:r>
              <a:rPr sz="1981" dirty="0">
                <a:latin typeface="Arial MT"/>
                <a:cs typeface="Arial MT"/>
              </a:rPr>
              <a:t>need</a:t>
            </a:r>
            <a:r>
              <a:rPr sz="1981" spc="-28" dirty="0">
                <a:latin typeface="Arial MT"/>
                <a:cs typeface="Arial MT"/>
              </a:rPr>
              <a:t> </a:t>
            </a:r>
            <a:r>
              <a:rPr sz="1981" dirty="0">
                <a:latin typeface="Arial MT"/>
                <a:cs typeface="Arial MT"/>
              </a:rPr>
              <a:t>scaled</a:t>
            </a:r>
            <a:r>
              <a:rPr sz="1981" spc="-30" dirty="0">
                <a:latin typeface="Arial MT"/>
                <a:cs typeface="Arial MT"/>
              </a:rPr>
              <a:t> </a:t>
            </a:r>
            <a:r>
              <a:rPr sz="1981" spc="-5" dirty="0">
                <a:latin typeface="Arial MT"/>
                <a:cs typeface="Arial MT"/>
              </a:rPr>
              <a:t>inputs</a:t>
            </a:r>
            <a:endParaRPr sz="1981" dirty="0">
              <a:latin typeface="Arial MT"/>
              <a:cs typeface="Arial MT"/>
            </a:endParaRPr>
          </a:p>
        </p:txBody>
      </p:sp>
      <p:pic>
        <p:nvPicPr>
          <p:cNvPr id="4" name="object 4">
            <a:extLst>
              <a:ext uri="{FF2B5EF4-FFF2-40B4-BE49-F238E27FC236}">
                <a16:creationId xmlns:a16="http://schemas.microsoft.com/office/drawing/2014/main" id="{1FFFA5EE-00C8-F1A4-1494-27ECC5972805}"/>
              </a:ext>
            </a:extLst>
          </p:cNvPr>
          <p:cNvPicPr/>
          <p:nvPr/>
        </p:nvPicPr>
        <p:blipFill>
          <a:blip r:embed="rId6" cstate="print"/>
          <a:stretch>
            <a:fillRect/>
          </a:stretch>
        </p:blipFill>
        <p:spPr>
          <a:xfrm>
            <a:off x="2347420" y="1958011"/>
            <a:ext cx="5425469" cy="2493965"/>
          </a:xfrm>
          <a:prstGeom prst="rect">
            <a:avLst/>
          </a:prstGeom>
        </p:spPr>
      </p:pic>
    </p:spTree>
    <p:extLst>
      <p:ext uri="{BB962C8B-B14F-4D97-AF65-F5344CB8AC3E}">
        <p14:creationId xmlns:p14="http://schemas.microsoft.com/office/powerpoint/2010/main" val="10565310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8D9E8-A7D2-7088-EAD3-EC76156444C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A922EB6-F957-4F07-9D7A-C2F20E43D9CF}"/>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9B50D30E-2560-828C-BAEC-82EA46D8F10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0FC38EEE-4B23-740F-1F4C-F1A751043960}"/>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6E8AFC35-C04D-FF3F-A033-83A0AAADD95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F5FF9F01-98D1-4911-6CF3-7C8A40E846FE}"/>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2D32AFC4-740E-7728-EBE3-7A940AEC1D7C}"/>
              </a:ext>
            </a:extLst>
          </p:cNvPr>
          <p:cNvSpPr txBox="1"/>
          <p:nvPr/>
        </p:nvSpPr>
        <p:spPr>
          <a:xfrm>
            <a:off x="71546" y="627416"/>
            <a:ext cx="993470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Practical</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Considerations</a:t>
            </a:r>
          </a:p>
        </p:txBody>
      </p:sp>
      <p:sp>
        <p:nvSpPr>
          <p:cNvPr id="3" name="object 2">
            <a:extLst>
              <a:ext uri="{FF2B5EF4-FFF2-40B4-BE49-F238E27FC236}">
                <a16:creationId xmlns:a16="http://schemas.microsoft.com/office/drawing/2014/main" id="{4A56BD1C-8047-A9E2-29D7-C319C812E4D2}"/>
              </a:ext>
            </a:extLst>
          </p:cNvPr>
          <p:cNvSpPr txBox="1"/>
          <p:nvPr/>
        </p:nvSpPr>
        <p:spPr>
          <a:xfrm>
            <a:off x="436102" y="1443657"/>
            <a:ext cx="9203420" cy="311578"/>
          </a:xfrm>
          <a:prstGeom prst="rect">
            <a:avLst/>
          </a:prstGeom>
        </p:spPr>
        <p:txBody>
          <a:bodyPr vert="horz" wrap="square" lIns="0" tIns="6686" rIns="0" bIns="0" rtlCol="0">
            <a:spAutoFit/>
          </a:bodyPr>
          <a:lstStyle/>
          <a:p>
            <a:pPr marL="6368">
              <a:spcBef>
                <a:spcPts val="53"/>
              </a:spcBef>
            </a:pPr>
            <a:r>
              <a:rPr sz="1981" b="1" spc="30" dirty="0">
                <a:latin typeface="Arial"/>
                <a:cs typeface="Arial"/>
              </a:rPr>
              <a:t>Data</a:t>
            </a:r>
            <a:r>
              <a:rPr sz="1981" b="1" spc="48" dirty="0">
                <a:latin typeface="Arial"/>
                <a:cs typeface="Arial"/>
              </a:rPr>
              <a:t> </a:t>
            </a:r>
            <a:r>
              <a:rPr sz="1981" b="1" dirty="0">
                <a:latin typeface="Arial"/>
                <a:cs typeface="Arial"/>
              </a:rPr>
              <a:t>leakage</a:t>
            </a:r>
            <a:r>
              <a:rPr sz="1981" dirty="0">
                <a:latin typeface="Arial MT"/>
                <a:cs typeface="Arial MT"/>
              </a:rPr>
              <a:t>…when</a:t>
            </a:r>
            <a:r>
              <a:rPr sz="1981" spc="48" dirty="0">
                <a:latin typeface="Arial MT"/>
                <a:cs typeface="Arial MT"/>
              </a:rPr>
              <a:t> </a:t>
            </a:r>
            <a:r>
              <a:rPr sz="1981" dirty="0">
                <a:latin typeface="Arial MT"/>
                <a:cs typeface="Arial MT"/>
              </a:rPr>
              <a:t>information</a:t>
            </a:r>
            <a:r>
              <a:rPr sz="1981" spc="48" dirty="0">
                <a:latin typeface="Arial MT"/>
                <a:cs typeface="Arial MT"/>
              </a:rPr>
              <a:t> </a:t>
            </a:r>
            <a:r>
              <a:rPr sz="1981" dirty="0">
                <a:latin typeface="Arial MT"/>
                <a:cs typeface="Arial MT"/>
              </a:rPr>
              <a:t>from</a:t>
            </a:r>
            <a:r>
              <a:rPr sz="1981" spc="50" dirty="0">
                <a:latin typeface="Arial MT"/>
                <a:cs typeface="Arial MT"/>
              </a:rPr>
              <a:t> </a:t>
            </a:r>
            <a:r>
              <a:rPr sz="1981" dirty="0">
                <a:latin typeface="Arial MT"/>
                <a:cs typeface="Arial MT"/>
              </a:rPr>
              <a:t>outside</a:t>
            </a:r>
            <a:r>
              <a:rPr sz="1981" spc="48" dirty="0">
                <a:latin typeface="Arial MT"/>
                <a:cs typeface="Arial MT"/>
              </a:rPr>
              <a:t> </a:t>
            </a:r>
            <a:r>
              <a:rPr sz="1981" dirty="0">
                <a:latin typeface="Arial MT"/>
                <a:cs typeface="Arial MT"/>
              </a:rPr>
              <a:t>the</a:t>
            </a:r>
            <a:r>
              <a:rPr sz="1981" spc="48" dirty="0">
                <a:latin typeface="Arial MT"/>
                <a:cs typeface="Arial MT"/>
              </a:rPr>
              <a:t> </a:t>
            </a:r>
            <a:r>
              <a:rPr sz="1981" dirty="0">
                <a:latin typeface="Arial MT"/>
                <a:cs typeface="Arial MT"/>
              </a:rPr>
              <a:t>training</a:t>
            </a:r>
            <a:r>
              <a:rPr sz="1981" spc="48" dirty="0">
                <a:latin typeface="Arial MT"/>
                <a:cs typeface="Arial MT"/>
              </a:rPr>
              <a:t> </a:t>
            </a:r>
            <a:r>
              <a:rPr sz="1981" dirty="0">
                <a:latin typeface="Arial MT"/>
                <a:cs typeface="Arial MT"/>
              </a:rPr>
              <a:t>set</a:t>
            </a:r>
            <a:r>
              <a:rPr sz="1981" spc="48" dirty="0">
                <a:latin typeface="Arial MT"/>
                <a:cs typeface="Arial MT"/>
              </a:rPr>
              <a:t> </a:t>
            </a:r>
            <a:r>
              <a:rPr sz="1981" dirty="0">
                <a:latin typeface="Arial MT"/>
                <a:cs typeface="Arial MT"/>
              </a:rPr>
              <a:t>is</a:t>
            </a:r>
            <a:r>
              <a:rPr sz="1981" spc="48" dirty="0">
                <a:latin typeface="Arial MT"/>
                <a:cs typeface="Arial MT"/>
              </a:rPr>
              <a:t> </a:t>
            </a:r>
            <a:r>
              <a:rPr sz="1981" dirty="0">
                <a:latin typeface="Arial MT"/>
                <a:cs typeface="Arial MT"/>
              </a:rPr>
              <a:t>used</a:t>
            </a:r>
            <a:r>
              <a:rPr sz="1981" spc="48" dirty="0">
                <a:latin typeface="Arial MT"/>
                <a:cs typeface="Arial MT"/>
              </a:rPr>
              <a:t> </a:t>
            </a:r>
            <a:r>
              <a:rPr sz="1981" spc="-5" dirty="0">
                <a:latin typeface="Arial MT"/>
                <a:cs typeface="Arial MT"/>
              </a:rPr>
              <a:t>improperly.</a:t>
            </a:r>
            <a:endParaRPr sz="1981">
              <a:latin typeface="Arial MT"/>
              <a:cs typeface="Arial MT"/>
            </a:endParaRPr>
          </a:p>
        </p:txBody>
      </p:sp>
      <p:pic>
        <p:nvPicPr>
          <p:cNvPr id="5" name="object 4">
            <a:extLst>
              <a:ext uri="{FF2B5EF4-FFF2-40B4-BE49-F238E27FC236}">
                <a16:creationId xmlns:a16="http://schemas.microsoft.com/office/drawing/2014/main" id="{CDC33966-FEA1-BFB9-56F2-4ABE031984AF}"/>
              </a:ext>
            </a:extLst>
          </p:cNvPr>
          <p:cNvPicPr/>
          <p:nvPr/>
        </p:nvPicPr>
        <p:blipFill>
          <a:blip r:embed="rId6" cstate="print"/>
          <a:stretch>
            <a:fillRect/>
          </a:stretch>
        </p:blipFill>
        <p:spPr>
          <a:xfrm>
            <a:off x="633197" y="2385459"/>
            <a:ext cx="3604422" cy="1708496"/>
          </a:xfrm>
          <a:prstGeom prst="rect">
            <a:avLst/>
          </a:prstGeom>
        </p:spPr>
      </p:pic>
      <p:pic>
        <p:nvPicPr>
          <p:cNvPr id="6" name="object 5">
            <a:extLst>
              <a:ext uri="{FF2B5EF4-FFF2-40B4-BE49-F238E27FC236}">
                <a16:creationId xmlns:a16="http://schemas.microsoft.com/office/drawing/2014/main" id="{5344557A-707A-35AC-414F-715B63DF0E7F}"/>
              </a:ext>
            </a:extLst>
          </p:cNvPr>
          <p:cNvPicPr/>
          <p:nvPr/>
        </p:nvPicPr>
        <p:blipFill>
          <a:blip r:embed="rId7" cstate="print"/>
          <a:stretch>
            <a:fillRect/>
          </a:stretch>
        </p:blipFill>
        <p:spPr>
          <a:xfrm>
            <a:off x="5390005" y="2357604"/>
            <a:ext cx="3706679" cy="1553931"/>
          </a:xfrm>
          <a:prstGeom prst="rect">
            <a:avLst/>
          </a:prstGeom>
        </p:spPr>
      </p:pic>
    </p:spTree>
    <p:extLst>
      <p:ext uri="{BB962C8B-B14F-4D97-AF65-F5344CB8AC3E}">
        <p14:creationId xmlns:p14="http://schemas.microsoft.com/office/powerpoint/2010/main" val="1436566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8D9-B633-F72A-E536-7910892AA2AA}"/>
            </a:ext>
          </a:extLst>
        </p:cNvPr>
        <p:cNvGrpSpPr/>
        <p:nvPr/>
      </p:nvGrpSpPr>
      <p:grpSpPr>
        <a:xfrm>
          <a:off x="0" y="0"/>
          <a:ext cx="0" cy="0"/>
          <a:chOff x="0" y="0"/>
          <a:chExt cx="0" cy="0"/>
        </a:xfrm>
      </p:grpSpPr>
      <p:pic>
        <p:nvPicPr>
          <p:cNvPr id="15" name="Picture 14" descr="A close-up of a person&#10;&#10;Description automatically generated">
            <a:extLst>
              <a:ext uri="{FF2B5EF4-FFF2-40B4-BE49-F238E27FC236}">
                <a16:creationId xmlns:a16="http://schemas.microsoft.com/office/drawing/2014/main" id="{9187AADC-F7BB-C7C5-B921-76C1D43A6934}"/>
              </a:ext>
            </a:extLst>
          </p:cNvPr>
          <p:cNvPicPr>
            <a:picLocks noChangeAspect="1"/>
          </p:cNvPicPr>
          <p:nvPr/>
        </p:nvPicPr>
        <p:blipFill>
          <a:blip r:embed="rId3"/>
          <a:stretch>
            <a:fillRect/>
          </a:stretch>
        </p:blipFill>
        <p:spPr>
          <a:xfrm>
            <a:off x="119269" y="198"/>
            <a:ext cx="10080625" cy="5670352"/>
          </a:xfrm>
          <a:prstGeom prst="rect">
            <a:avLst/>
          </a:prstGeom>
        </p:spPr>
      </p:pic>
      <p:sp>
        <p:nvSpPr>
          <p:cNvPr id="16" name="Rectangle 15">
            <a:extLst>
              <a:ext uri="{FF2B5EF4-FFF2-40B4-BE49-F238E27FC236}">
                <a16:creationId xmlns:a16="http://schemas.microsoft.com/office/drawing/2014/main" id="{C3736AAD-80FF-3549-BE8A-2A194C707CFB}"/>
              </a:ext>
            </a:extLst>
          </p:cNvPr>
          <p:cNvSpPr/>
          <p:nvPr/>
        </p:nvSpPr>
        <p:spPr>
          <a:xfrm>
            <a:off x="212940" y="1768837"/>
            <a:ext cx="9654742" cy="2482150"/>
          </a:xfrm>
          <a:prstGeom prst="rect">
            <a:avLst/>
          </a:prstGeom>
          <a:solidFill>
            <a:srgbClr val="041E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0" b="1" dirty="0">
                <a:solidFill>
                  <a:schemeClr val="bg1"/>
                </a:solidFill>
                <a:latin typeface="Integral CF Bold" pitchFamily="2" charset="77"/>
                <a:ea typeface="Verdana" panose="020B0604030504040204" pitchFamily="34" charset="0"/>
                <a:cs typeface="Arial Black" panose="020B0604020202020204" pitchFamily="34" charset="0"/>
              </a:rPr>
              <a:t>Let’s Code </a:t>
            </a:r>
          </a:p>
          <a:p>
            <a:pPr algn="ctr"/>
            <a:r>
              <a:rPr lang="en-US" sz="6600" b="1" dirty="0">
                <a:solidFill>
                  <a:schemeClr val="bg1"/>
                </a:solidFill>
                <a:latin typeface="Integral CF Bold" pitchFamily="2" charset="77"/>
                <a:ea typeface="Verdana" panose="020B0604030504040204" pitchFamily="34" charset="0"/>
                <a:cs typeface="Arial Black" panose="020B0604020202020204" pitchFamily="34" charset="0"/>
              </a:rPr>
              <a:t>Session 2b</a:t>
            </a:r>
            <a:endParaRPr lang="en-US" sz="10000" b="1" dirty="0">
              <a:solidFill>
                <a:schemeClr val="bg1"/>
              </a:solidFill>
              <a:latin typeface="Integral CF Bold" pitchFamily="2" charset="77"/>
              <a:ea typeface="Verdana" panose="020B0604030504040204" pitchFamily="34" charset="0"/>
              <a:cs typeface="Arial Black" panose="020B0604020202020204" pitchFamily="34" charset="0"/>
            </a:endParaRPr>
          </a:p>
        </p:txBody>
      </p:sp>
    </p:spTree>
    <p:extLst>
      <p:ext uri="{BB962C8B-B14F-4D97-AF65-F5344CB8AC3E}">
        <p14:creationId xmlns:p14="http://schemas.microsoft.com/office/powerpoint/2010/main" val="17152277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6D204-343F-4A06-72CD-19827C5D340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DEE860B-FD14-AD45-68CA-A702FE8EDA1C}"/>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E1BF9C0F-60F0-CE40-5EF5-5CDDFCD3D5F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B1BDAB2B-9498-8A9F-3111-C5A6C83AA0B9}"/>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C4B42FEE-2E68-7D15-263D-3431AEC4F6D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F91D9C44-D835-FDBE-0560-B52446048AA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A3C58D6F-B837-469F-46CD-6ABC378E161B}"/>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20" name="object 3">
            <a:extLst>
              <a:ext uri="{FF2B5EF4-FFF2-40B4-BE49-F238E27FC236}">
                <a16:creationId xmlns:a16="http://schemas.microsoft.com/office/drawing/2014/main" id="{C834ECBE-0FD9-B839-4757-4041B433EFC1}"/>
              </a:ext>
            </a:extLst>
          </p:cNvPr>
          <p:cNvSpPr txBox="1"/>
          <p:nvPr/>
        </p:nvSpPr>
        <p:spPr>
          <a:xfrm>
            <a:off x="441990" y="3595233"/>
            <a:ext cx="8219431" cy="619841"/>
          </a:xfrm>
          <a:prstGeom prst="rect">
            <a:avLst/>
          </a:prstGeom>
        </p:spPr>
        <p:txBody>
          <a:bodyPr vert="horz" wrap="square" lIns="0" tIns="42346" rIns="0" bIns="0" rtlCol="0">
            <a:spAutoFit/>
          </a:bodyPr>
          <a:lstStyle/>
          <a:p>
            <a:pPr marL="348313" marR="96472" indent="-342900">
              <a:lnSpc>
                <a:spcPts val="2126"/>
              </a:lnSpc>
              <a:spcBef>
                <a:spcPts val="333"/>
              </a:spcBef>
              <a:buAutoNum type="arabicPeriod"/>
              <a:tabLst>
                <a:tab pos="100611" algn="l"/>
              </a:tabLst>
            </a:pPr>
            <a:r>
              <a:rPr lang="en-GB" dirty="0">
                <a:latin typeface="Arial MT"/>
                <a:cs typeface="Arial MT"/>
              </a:rPr>
              <a:t>Train on </a:t>
            </a:r>
            <a:r>
              <a:rPr lang="en-GB" dirty="0" err="1">
                <a:latin typeface="Arial MT"/>
                <a:cs typeface="Arial MT"/>
              </a:rPr>
              <a:t>X_train_white</a:t>
            </a:r>
            <a:r>
              <a:rPr lang="en-GB" dirty="0">
                <a:latin typeface="Arial MT"/>
                <a:cs typeface="Arial MT"/>
              </a:rPr>
              <a:t>, </a:t>
            </a:r>
            <a:r>
              <a:rPr lang="en-GB" dirty="0" err="1">
                <a:latin typeface="Arial MT"/>
                <a:cs typeface="Arial MT"/>
              </a:rPr>
              <a:t>y_train_white</a:t>
            </a:r>
            <a:endParaRPr lang="en-GB" dirty="0">
              <a:latin typeface="Arial MT"/>
              <a:cs typeface="Arial MT"/>
            </a:endParaRPr>
          </a:p>
          <a:p>
            <a:pPr marL="348313" marR="96472" indent="-342900">
              <a:lnSpc>
                <a:spcPts val="2126"/>
              </a:lnSpc>
              <a:spcBef>
                <a:spcPts val="333"/>
              </a:spcBef>
              <a:buAutoNum type="arabicPeriod"/>
              <a:tabLst>
                <a:tab pos="100611" algn="l"/>
              </a:tabLst>
            </a:pPr>
            <a:r>
              <a:rPr lang="en-GB" dirty="0">
                <a:latin typeface="Arial MT"/>
                <a:cs typeface="Arial MT"/>
              </a:rPr>
              <a:t>Predict on </a:t>
            </a:r>
            <a:r>
              <a:rPr lang="en-GB" dirty="0" err="1">
                <a:latin typeface="Arial MT"/>
                <a:cs typeface="Arial MT"/>
              </a:rPr>
              <a:t>X_text_white</a:t>
            </a:r>
            <a:endParaRPr dirty="0">
              <a:latin typeface="Arial MT"/>
              <a:cs typeface="Arial MT"/>
            </a:endParaRPr>
          </a:p>
        </p:txBody>
      </p:sp>
      <p:sp>
        <p:nvSpPr>
          <p:cNvPr id="2" name="object 3">
            <a:extLst>
              <a:ext uri="{FF2B5EF4-FFF2-40B4-BE49-F238E27FC236}">
                <a16:creationId xmlns:a16="http://schemas.microsoft.com/office/drawing/2014/main" id="{DE63E1DF-A0F1-DC8A-CC3A-3EBE21A6C2E5}"/>
              </a:ext>
            </a:extLst>
          </p:cNvPr>
          <p:cNvSpPr txBox="1"/>
          <p:nvPr/>
        </p:nvSpPr>
        <p:spPr>
          <a:xfrm>
            <a:off x="155564" y="987703"/>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Linear regression</a:t>
            </a:r>
            <a:endParaRPr b="1" dirty="0">
              <a:solidFill>
                <a:srgbClr val="FE0E67"/>
              </a:solidFill>
              <a:latin typeface="Arial MT"/>
              <a:cs typeface="Arial MT"/>
            </a:endParaRPr>
          </a:p>
        </p:txBody>
      </p:sp>
      <p:pic>
        <p:nvPicPr>
          <p:cNvPr id="4" name="Picture 3" descr="A screenshot of a computer program&#10;&#10;AI-generated content may be incorrect.">
            <a:extLst>
              <a:ext uri="{FF2B5EF4-FFF2-40B4-BE49-F238E27FC236}">
                <a16:creationId xmlns:a16="http://schemas.microsoft.com/office/drawing/2014/main" id="{6362135B-9387-0DF0-E09B-55B973C7171F}"/>
              </a:ext>
            </a:extLst>
          </p:cNvPr>
          <p:cNvPicPr>
            <a:picLocks noChangeAspect="1"/>
          </p:cNvPicPr>
          <p:nvPr/>
        </p:nvPicPr>
        <p:blipFill>
          <a:blip r:embed="rId6"/>
          <a:stretch>
            <a:fillRect/>
          </a:stretch>
        </p:blipFill>
        <p:spPr>
          <a:xfrm>
            <a:off x="441990" y="1522866"/>
            <a:ext cx="5092726" cy="1647090"/>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24EAAAC6-ED9B-BFF1-B978-856CD8DD58F8}"/>
              </a:ext>
            </a:extLst>
          </p:cNvPr>
          <p:cNvPicPr>
            <a:picLocks noChangeAspect="1"/>
          </p:cNvPicPr>
          <p:nvPr/>
        </p:nvPicPr>
        <p:blipFill>
          <a:blip r:embed="rId7"/>
          <a:stretch>
            <a:fillRect/>
          </a:stretch>
        </p:blipFill>
        <p:spPr>
          <a:xfrm>
            <a:off x="6031000" y="1522866"/>
            <a:ext cx="3349151" cy="2190440"/>
          </a:xfrm>
          <a:prstGeom prst="rect">
            <a:avLst/>
          </a:prstGeom>
        </p:spPr>
      </p:pic>
    </p:spTree>
    <p:extLst>
      <p:ext uri="{BB962C8B-B14F-4D97-AF65-F5344CB8AC3E}">
        <p14:creationId xmlns:p14="http://schemas.microsoft.com/office/powerpoint/2010/main" val="21206735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7F9AD-EFB3-66F9-7F07-8486D9B7306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74EF71D-C95C-D8A4-805C-1FFB60B3CA49}"/>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5929D676-4B70-778E-04C7-51CF511EC5C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E1720E4C-A490-2F3D-D900-405DC9EFF6A2}"/>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1A9511C4-6FF8-E9EB-E9B4-BE85D431BB5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F24555B3-EE54-011A-F224-5B71E406F9A3}"/>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34C7D288-33C1-38D5-ABA5-C5C7BB02F58B}"/>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20" name="object 3">
            <a:extLst>
              <a:ext uri="{FF2B5EF4-FFF2-40B4-BE49-F238E27FC236}">
                <a16:creationId xmlns:a16="http://schemas.microsoft.com/office/drawing/2014/main" id="{F2A592E8-F743-375F-70FA-74052C1E8A35}"/>
              </a:ext>
            </a:extLst>
          </p:cNvPr>
          <p:cNvSpPr txBox="1"/>
          <p:nvPr/>
        </p:nvSpPr>
        <p:spPr>
          <a:xfrm>
            <a:off x="441990" y="3595233"/>
            <a:ext cx="8219431"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dirty="0">
                <a:latin typeface="Arial MT"/>
                <a:cs typeface="Arial MT"/>
              </a:rPr>
              <a:t>What variables have the most predictive power?</a:t>
            </a:r>
            <a:endParaRPr dirty="0">
              <a:latin typeface="Arial MT"/>
              <a:cs typeface="Arial MT"/>
            </a:endParaRPr>
          </a:p>
        </p:txBody>
      </p:sp>
      <p:sp>
        <p:nvSpPr>
          <p:cNvPr id="2" name="object 3">
            <a:extLst>
              <a:ext uri="{FF2B5EF4-FFF2-40B4-BE49-F238E27FC236}">
                <a16:creationId xmlns:a16="http://schemas.microsoft.com/office/drawing/2014/main" id="{9C3868E9-9DDD-740B-8F5C-C6CE96272D3A}"/>
              </a:ext>
            </a:extLst>
          </p:cNvPr>
          <p:cNvSpPr txBox="1"/>
          <p:nvPr/>
        </p:nvSpPr>
        <p:spPr>
          <a:xfrm>
            <a:off x="155564" y="987703"/>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Linear regression</a:t>
            </a:r>
            <a:endParaRPr b="1" dirty="0">
              <a:solidFill>
                <a:srgbClr val="FE0E67"/>
              </a:solidFill>
              <a:latin typeface="Arial MT"/>
              <a:cs typeface="Arial MT"/>
            </a:endParaRPr>
          </a:p>
        </p:txBody>
      </p:sp>
      <p:pic>
        <p:nvPicPr>
          <p:cNvPr id="11" name="Picture 10" descr="A screenshot of a computer&#10;&#10;AI-generated content may be incorrect.">
            <a:extLst>
              <a:ext uri="{FF2B5EF4-FFF2-40B4-BE49-F238E27FC236}">
                <a16:creationId xmlns:a16="http://schemas.microsoft.com/office/drawing/2014/main" id="{36629E0F-79B2-AF51-3EF8-8D54780D1CC5}"/>
              </a:ext>
            </a:extLst>
          </p:cNvPr>
          <p:cNvPicPr>
            <a:picLocks noChangeAspect="1"/>
          </p:cNvPicPr>
          <p:nvPr/>
        </p:nvPicPr>
        <p:blipFill>
          <a:blip r:embed="rId6"/>
          <a:stretch>
            <a:fillRect/>
          </a:stretch>
        </p:blipFill>
        <p:spPr>
          <a:xfrm>
            <a:off x="441990" y="1635002"/>
            <a:ext cx="9308140" cy="1712068"/>
          </a:xfrm>
          <a:prstGeom prst="rect">
            <a:avLst/>
          </a:prstGeom>
        </p:spPr>
      </p:pic>
    </p:spTree>
    <p:extLst>
      <p:ext uri="{BB962C8B-B14F-4D97-AF65-F5344CB8AC3E}">
        <p14:creationId xmlns:p14="http://schemas.microsoft.com/office/powerpoint/2010/main" val="26297425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5270E-9C20-DB3E-80E0-F132E3F3AEE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C10412F-422B-EC27-DE9E-59198B5E819B}"/>
              </a:ext>
            </a:extLst>
          </p:cNvPr>
          <p:cNvSpPr/>
          <p:nvPr/>
        </p:nvSpPr>
        <p:spPr>
          <a:xfrm>
            <a:off x="0" y="4914404"/>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A486A4C0-3C11-AFC3-22F8-22F5C3739E7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1F23D46-CEFF-B899-FA40-D4D7E0E635F0}"/>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67D8EE55-4C08-A0FF-64D1-A09560CB5FF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3A3B0ABB-2300-E12A-3AE4-F6240FC3B4B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C5A28B85-5777-421E-854D-8B232FD76A1E}"/>
              </a:ext>
            </a:extLst>
          </p:cNvPr>
          <p:cNvSpPr txBox="1"/>
          <p:nvPr/>
        </p:nvSpPr>
        <p:spPr>
          <a:xfrm>
            <a:off x="1063190" y="271198"/>
            <a:ext cx="7707410"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Codebook 2a</a:t>
            </a:r>
          </a:p>
        </p:txBody>
      </p:sp>
      <p:sp>
        <p:nvSpPr>
          <p:cNvPr id="6" name="object 3">
            <a:extLst>
              <a:ext uri="{FF2B5EF4-FFF2-40B4-BE49-F238E27FC236}">
                <a16:creationId xmlns:a16="http://schemas.microsoft.com/office/drawing/2014/main" id="{CCA82190-E9B8-D636-10EB-89D30E97B537}"/>
              </a:ext>
            </a:extLst>
          </p:cNvPr>
          <p:cNvSpPr txBox="1"/>
          <p:nvPr/>
        </p:nvSpPr>
        <p:spPr>
          <a:xfrm>
            <a:off x="238769" y="979086"/>
            <a:ext cx="2060612" cy="312064"/>
          </a:xfrm>
          <a:prstGeom prst="rect">
            <a:avLst/>
          </a:prstGeom>
        </p:spPr>
        <p:txBody>
          <a:bodyPr vert="horz" wrap="square" lIns="0" tIns="42346" rIns="0" bIns="0" rtlCol="0">
            <a:spAutoFit/>
          </a:bodyPr>
          <a:lstStyle/>
          <a:p>
            <a:pPr marL="5413" marR="96472">
              <a:lnSpc>
                <a:spcPts val="2126"/>
              </a:lnSpc>
              <a:spcBef>
                <a:spcPts val="333"/>
              </a:spcBef>
              <a:tabLst>
                <a:tab pos="100611" algn="l"/>
              </a:tabLst>
            </a:pPr>
            <a:r>
              <a:rPr lang="en-GB" b="1" dirty="0">
                <a:solidFill>
                  <a:srgbClr val="FE0E67"/>
                </a:solidFill>
                <a:latin typeface="Arial MT"/>
                <a:cs typeface="Arial MT"/>
              </a:rPr>
              <a:t>Linear regression</a:t>
            </a:r>
            <a:endParaRPr b="1" dirty="0">
              <a:solidFill>
                <a:srgbClr val="FE0E67"/>
              </a:solidFill>
              <a:latin typeface="Arial MT"/>
              <a:cs typeface="Arial MT"/>
            </a:endParaRPr>
          </a:p>
        </p:txBody>
      </p:sp>
      <p:pic>
        <p:nvPicPr>
          <p:cNvPr id="4" name="Picture 3" descr="A close-up of a computer screen&#10;&#10;AI-generated content may be incorrect.">
            <a:extLst>
              <a:ext uri="{FF2B5EF4-FFF2-40B4-BE49-F238E27FC236}">
                <a16:creationId xmlns:a16="http://schemas.microsoft.com/office/drawing/2014/main" id="{B00471A3-A86D-6796-48E8-837B82EBEF8F}"/>
              </a:ext>
            </a:extLst>
          </p:cNvPr>
          <p:cNvPicPr>
            <a:picLocks noChangeAspect="1"/>
          </p:cNvPicPr>
          <p:nvPr/>
        </p:nvPicPr>
        <p:blipFill>
          <a:blip r:embed="rId6"/>
          <a:stretch>
            <a:fillRect/>
          </a:stretch>
        </p:blipFill>
        <p:spPr>
          <a:xfrm>
            <a:off x="605505" y="2008171"/>
            <a:ext cx="3802593" cy="961095"/>
          </a:xfrm>
          <a:prstGeom prst="rect">
            <a:avLst/>
          </a:prstGeom>
        </p:spPr>
      </p:pic>
      <p:sp>
        <p:nvSpPr>
          <p:cNvPr id="11" name="TextBox 10">
            <a:extLst>
              <a:ext uri="{FF2B5EF4-FFF2-40B4-BE49-F238E27FC236}">
                <a16:creationId xmlns:a16="http://schemas.microsoft.com/office/drawing/2014/main" id="{C9B9A72B-B866-642D-C3D5-2BEABD54DB39}"/>
              </a:ext>
            </a:extLst>
          </p:cNvPr>
          <p:cNvSpPr txBox="1"/>
          <p:nvPr/>
        </p:nvSpPr>
        <p:spPr>
          <a:xfrm>
            <a:off x="238769" y="1468842"/>
            <a:ext cx="5077690" cy="361637"/>
          </a:xfrm>
          <a:prstGeom prst="rect">
            <a:avLst/>
          </a:prstGeom>
          <a:noFill/>
        </p:spPr>
        <p:txBody>
          <a:bodyPr wrap="square">
            <a:spAutoFit/>
          </a:bodyPr>
          <a:lstStyle/>
          <a:p>
            <a:pPr marL="5413" marR="96472">
              <a:lnSpc>
                <a:spcPts val="2126"/>
              </a:lnSpc>
              <a:spcBef>
                <a:spcPts val="333"/>
              </a:spcBef>
              <a:tabLst>
                <a:tab pos="100611" algn="l"/>
              </a:tabLst>
            </a:pPr>
            <a:r>
              <a:rPr lang="en-GB" dirty="0">
                <a:latin typeface="Arial MT"/>
                <a:cs typeface="Arial MT"/>
              </a:rPr>
              <a:t>Can we generalise the model?</a:t>
            </a:r>
          </a:p>
        </p:txBody>
      </p:sp>
      <p:pic>
        <p:nvPicPr>
          <p:cNvPr id="13" name="Picture 12">
            <a:extLst>
              <a:ext uri="{FF2B5EF4-FFF2-40B4-BE49-F238E27FC236}">
                <a16:creationId xmlns:a16="http://schemas.microsoft.com/office/drawing/2014/main" id="{EABA9A42-3168-EA6F-5B55-4C6BFC7E2D51}"/>
              </a:ext>
            </a:extLst>
          </p:cNvPr>
          <p:cNvPicPr>
            <a:picLocks noChangeAspect="1"/>
          </p:cNvPicPr>
          <p:nvPr/>
        </p:nvPicPr>
        <p:blipFill>
          <a:blip r:embed="rId7"/>
          <a:srcRect r="32840"/>
          <a:stretch>
            <a:fillRect/>
          </a:stretch>
        </p:blipFill>
        <p:spPr>
          <a:xfrm>
            <a:off x="4608989" y="2045982"/>
            <a:ext cx="4722197" cy="756047"/>
          </a:xfrm>
          <a:prstGeom prst="rect">
            <a:avLst/>
          </a:prstGeom>
        </p:spPr>
      </p:pic>
      <p:pic>
        <p:nvPicPr>
          <p:cNvPr id="17" name="Picture 16">
            <a:extLst>
              <a:ext uri="{FF2B5EF4-FFF2-40B4-BE49-F238E27FC236}">
                <a16:creationId xmlns:a16="http://schemas.microsoft.com/office/drawing/2014/main" id="{A1DFA937-6969-86F4-8BDC-0BAA48C5CE32}"/>
              </a:ext>
            </a:extLst>
          </p:cNvPr>
          <p:cNvPicPr>
            <a:picLocks noChangeAspect="1"/>
          </p:cNvPicPr>
          <p:nvPr/>
        </p:nvPicPr>
        <p:blipFill>
          <a:blip r:embed="rId8"/>
          <a:stretch>
            <a:fillRect/>
          </a:stretch>
        </p:blipFill>
        <p:spPr>
          <a:xfrm>
            <a:off x="647222" y="3241070"/>
            <a:ext cx="8945818" cy="1027718"/>
          </a:xfrm>
          <a:prstGeom prst="rect">
            <a:avLst/>
          </a:prstGeom>
        </p:spPr>
      </p:pic>
    </p:spTree>
    <p:extLst>
      <p:ext uri="{BB962C8B-B14F-4D97-AF65-F5344CB8AC3E}">
        <p14:creationId xmlns:p14="http://schemas.microsoft.com/office/powerpoint/2010/main" val="30904939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F71E9-C28F-D389-789E-6D6544F79E1F}"/>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FC9BCF9-FB8F-D871-6357-89DAE69E3B09}"/>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15AFF5A0-A83C-9AD4-88B5-CACCB46328C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648B650-F129-1D73-A5A0-8EA99AED7094}"/>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BC852D7D-2233-6885-4076-546E287C9AE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F2AD5F48-FA19-EC6B-E725-E6442574A03D}"/>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BFB75E90-A871-FBF7-C46F-CF991211E10D}"/>
              </a:ext>
            </a:extLst>
          </p:cNvPr>
          <p:cNvSpPr txBox="1"/>
          <p:nvPr/>
        </p:nvSpPr>
        <p:spPr>
          <a:xfrm>
            <a:off x="2299382" y="2200142"/>
            <a:ext cx="5149811" cy="568785"/>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Session 2  Wrap-up</a:t>
            </a:r>
          </a:p>
        </p:txBody>
      </p:sp>
    </p:spTree>
    <p:extLst>
      <p:ext uri="{BB962C8B-B14F-4D97-AF65-F5344CB8AC3E}">
        <p14:creationId xmlns:p14="http://schemas.microsoft.com/office/powerpoint/2010/main" val="19596927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56D82-F8C4-1CFA-9F3A-C5D76D6BE7C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AFBF277-693A-D27F-3279-267EB8855B8C}"/>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A5F64783-81F3-E9E0-5F90-3E08EC1DAD7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D05F7860-EF66-9B18-45C1-B458B23AEC8E}"/>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8732E458-890D-B600-A450-51B4994D7D2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300C3592-8244-C7E9-933C-79E4ABDDD8A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91EDC942-918B-D11B-1757-EDB2532ADBDE}"/>
              </a:ext>
            </a:extLst>
          </p:cNvPr>
          <p:cNvSpPr txBox="1"/>
          <p:nvPr/>
        </p:nvSpPr>
        <p:spPr>
          <a:xfrm>
            <a:off x="0" y="431290"/>
            <a:ext cx="993470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Additional</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Resources</a:t>
            </a:r>
          </a:p>
        </p:txBody>
      </p:sp>
      <p:sp>
        <p:nvSpPr>
          <p:cNvPr id="13" name="object 2">
            <a:extLst>
              <a:ext uri="{FF2B5EF4-FFF2-40B4-BE49-F238E27FC236}">
                <a16:creationId xmlns:a16="http://schemas.microsoft.com/office/drawing/2014/main" id="{2F1D2063-E8B0-7387-F5F8-290C84BCC988}"/>
              </a:ext>
            </a:extLst>
          </p:cNvPr>
          <p:cNvSpPr txBox="1"/>
          <p:nvPr/>
        </p:nvSpPr>
        <p:spPr>
          <a:xfrm>
            <a:off x="586841" y="1592303"/>
            <a:ext cx="8906942" cy="2161187"/>
          </a:xfrm>
          <a:prstGeom prst="rect">
            <a:avLst/>
          </a:prstGeom>
        </p:spPr>
        <p:txBody>
          <a:bodyPr vert="horz" wrap="square" lIns="0" tIns="6686" rIns="0" bIns="0" rtlCol="0">
            <a:spAutoFit/>
          </a:bodyPr>
          <a:lstStyle/>
          <a:p>
            <a:pPr marL="349268" indent="-342900">
              <a:spcBef>
                <a:spcPts val="2400"/>
              </a:spcBef>
              <a:buFont typeface="Arial" panose="020B0604020202020204" pitchFamily="34" charset="0"/>
              <a:buChar char="•"/>
            </a:pPr>
            <a:r>
              <a:rPr lang="en-GB" sz="1600" spc="-5" dirty="0">
                <a:latin typeface="Arial"/>
                <a:cs typeface="Arial"/>
              </a:rPr>
              <a:t>Introduction to Machine Learning with Python: A Guide for Data Scientists by Sebastian Raschka and Vahid </a:t>
            </a:r>
            <a:r>
              <a:rPr lang="en-GB" sz="1600" spc="-5" dirty="0" err="1">
                <a:latin typeface="Arial"/>
                <a:cs typeface="Arial"/>
              </a:rPr>
              <a:t>Mirjalili</a:t>
            </a:r>
            <a:endParaRPr lang="en-GB" sz="1600" spc="-5" dirty="0">
              <a:latin typeface="Arial"/>
              <a:cs typeface="Arial"/>
            </a:endParaRPr>
          </a:p>
          <a:p>
            <a:pPr marL="349268" indent="-342900">
              <a:spcBef>
                <a:spcPts val="2400"/>
              </a:spcBef>
              <a:buFont typeface="Arial" panose="020B0604020202020204" pitchFamily="34" charset="0"/>
              <a:buChar char="•"/>
            </a:pPr>
            <a:r>
              <a:rPr lang="en-GB" sz="1600" spc="-5" dirty="0">
                <a:latin typeface="Arial"/>
                <a:cs typeface="Arial"/>
              </a:rPr>
              <a:t>Machine Learning with R by Brett Lantz</a:t>
            </a:r>
          </a:p>
          <a:p>
            <a:pPr marL="349268" indent="-342900">
              <a:spcBef>
                <a:spcPts val="2400"/>
              </a:spcBef>
              <a:buFont typeface="Arial" panose="020B0604020202020204" pitchFamily="34" charset="0"/>
              <a:buChar char="•"/>
            </a:pPr>
            <a:r>
              <a:rPr lang="en-GB" sz="1600" spc="-5" dirty="0">
                <a:latin typeface="Arial"/>
                <a:cs typeface="Arial"/>
              </a:rPr>
              <a:t>Artificial Unintelligence: How Computers Misunderstand the World by Meredith Broussard</a:t>
            </a:r>
          </a:p>
          <a:p>
            <a:pPr marL="349268" indent="-342900">
              <a:spcBef>
                <a:spcPts val="2400"/>
              </a:spcBef>
              <a:buFont typeface="Arial" panose="020B0604020202020204" pitchFamily="34" charset="0"/>
              <a:buChar char="•"/>
            </a:pPr>
            <a:r>
              <a:rPr lang="en-GB" sz="1600" spc="-5" dirty="0" err="1">
                <a:latin typeface="Arial"/>
                <a:cs typeface="Arial"/>
              </a:rPr>
              <a:t>TheAIMirror</a:t>
            </a:r>
            <a:r>
              <a:rPr lang="en-GB" sz="1600" spc="-5" dirty="0">
                <a:latin typeface="Arial"/>
                <a:cs typeface="Arial"/>
              </a:rPr>
              <a:t>: How to Reclaim Out Humanity in an Age of Machine Thinking by Shannon Ballor</a:t>
            </a:r>
            <a:endParaRPr sz="1600" dirty="0">
              <a:latin typeface="Arial MT"/>
              <a:cs typeface="Arial MT"/>
            </a:endParaRPr>
          </a:p>
        </p:txBody>
      </p:sp>
    </p:spTree>
    <p:extLst>
      <p:ext uri="{BB962C8B-B14F-4D97-AF65-F5344CB8AC3E}">
        <p14:creationId xmlns:p14="http://schemas.microsoft.com/office/powerpoint/2010/main" val="2488658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01C47-92F0-4651-E3DA-37BEB89C2C1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06FFAE9-AB35-1985-4013-93405A8C4200}"/>
              </a:ext>
            </a:extLst>
          </p:cNvPr>
          <p:cNvSpPr/>
          <p:nvPr/>
        </p:nvSpPr>
        <p:spPr>
          <a:xfrm>
            <a:off x="71546" y="4914503"/>
            <a:ext cx="10121387" cy="756047"/>
          </a:xfrm>
          <a:prstGeom prst="rect">
            <a:avLst/>
          </a:prstGeom>
          <a:solidFill>
            <a:srgbClr val="002E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88" dirty="0"/>
          </a:p>
        </p:txBody>
      </p:sp>
      <p:pic>
        <p:nvPicPr>
          <p:cNvPr id="8" name="Picture 7">
            <a:extLst>
              <a:ext uri="{FF2B5EF4-FFF2-40B4-BE49-F238E27FC236}">
                <a16:creationId xmlns:a16="http://schemas.microsoft.com/office/drawing/2014/main" id="{39976FB2-0567-9007-EE07-20F8BF9F0FF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608989" y="4463237"/>
            <a:ext cx="902333" cy="902333"/>
          </a:xfrm>
          <a:prstGeom prst="rect">
            <a:avLst/>
          </a:prstGeom>
        </p:spPr>
      </p:pic>
      <p:sp>
        <p:nvSpPr>
          <p:cNvPr id="9" name="Rectangle 8">
            <a:extLst>
              <a:ext uri="{FF2B5EF4-FFF2-40B4-BE49-F238E27FC236}">
                <a16:creationId xmlns:a16="http://schemas.microsoft.com/office/drawing/2014/main" id="{8B6C605C-3FCE-DB93-9090-C31B3458115E}"/>
              </a:ext>
            </a:extLst>
          </p:cNvPr>
          <p:cNvSpPr/>
          <p:nvPr/>
        </p:nvSpPr>
        <p:spPr>
          <a:xfrm>
            <a:off x="4182840" y="5292427"/>
            <a:ext cx="1714945" cy="321306"/>
          </a:xfrm>
          <a:prstGeom prst="rect">
            <a:avLst/>
          </a:prstGeom>
        </p:spPr>
        <p:txBody>
          <a:bodyPr wrap="square">
            <a:spAutoFit/>
          </a:bodyPr>
          <a:lstStyle/>
          <a:p>
            <a:r>
              <a:rPr lang="en-GB" sz="1488" dirty="0">
                <a:solidFill>
                  <a:srgbClr val="00CEC0"/>
                </a:solidFill>
                <a:latin typeface="Source Sans Pro" panose="020B0503030403020204" pitchFamily="34" charset="0"/>
              </a:rPr>
              <a:t>www.cdcs.ed.ac.uk</a:t>
            </a:r>
          </a:p>
        </p:txBody>
      </p:sp>
      <p:pic>
        <p:nvPicPr>
          <p:cNvPr id="15" name="Picture 14">
            <a:extLst>
              <a:ext uri="{FF2B5EF4-FFF2-40B4-BE49-F238E27FC236}">
                <a16:creationId xmlns:a16="http://schemas.microsoft.com/office/drawing/2014/main" id="{5151C1B6-F4DE-3F06-0ACC-CA01CC0A993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127178" y="-284790"/>
            <a:ext cx="1031250" cy="1031250"/>
          </a:xfrm>
          <a:prstGeom prst="rect">
            <a:avLst/>
          </a:prstGeom>
        </p:spPr>
      </p:pic>
      <p:pic>
        <p:nvPicPr>
          <p:cNvPr id="16" name="Picture 15">
            <a:extLst>
              <a:ext uri="{FF2B5EF4-FFF2-40B4-BE49-F238E27FC236}">
                <a16:creationId xmlns:a16="http://schemas.microsoft.com/office/drawing/2014/main" id="{C29E2340-F73D-4CC7-8CAC-E72001F5FF4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 y="100"/>
            <a:ext cx="2299383" cy="414606"/>
          </a:xfrm>
          <a:prstGeom prst="rect">
            <a:avLst/>
          </a:prstGeom>
        </p:spPr>
      </p:pic>
      <p:sp>
        <p:nvSpPr>
          <p:cNvPr id="19" name="TextBox 18">
            <a:extLst>
              <a:ext uri="{FF2B5EF4-FFF2-40B4-BE49-F238E27FC236}">
                <a16:creationId xmlns:a16="http://schemas.microsoft.com/office/drawing/2014/main" id="{236EF589-C889-5BD9-195F-2B1F0B5AC3C9}"/>
              </a:ext>
            </a:extLst>
          </p:cNvPr>
          <p:cNvSpPr txBox="1"/>
          <p:nvPr/>
        </p:nvSpPr>
        <p:spPr>
          <a:xfrm>
            <a:off x="0" y="431290"/>
            <a:ext cx="9934709" cy="630340"/>
          </a:xfrm>
          <a:prstGeom prst="rect">
            <a:avLst/>
          </a:prstGeom>
          <a:noFill/>
        </p:spPr>
        <p:txBody>
          <a:bodyPr wrap="square" lIns="75605" tIns="37802" rIns="75605" bIns="37802" rtlCol="0" anchor="t">
            <a:spAutoFit/>
          </a:bodyPr>
          <a:lstStyle/>
          <a:p>
            <a:pPr algn="ctr"/>
            <a:r>
              <a:rPr lang="en-GB" sz="3200" b="1" dirty="0">
                <a:solidFill>
                  <a:schemeClr val="tx2"/>
                </a:solidFill>
                <a:latin typeface="Verdana Pro Cond"/>
                <a:cs typeface="Calibri"/>
              </a:rPr>
              <a:t>Feedback</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for</a:t>
            </a:r>
            <a:r>
              <a:rPr lang="en-GB" sz="3600" b="1" dirty="0">
                <a:solidFill>
                  <a:srgbClr val="FE0E67"/>
                </a:solidFill>
                <a:latin typeface="Verdana Pro Cond"/>
                <a:cs typeface="Calibri"/>
              </a:rPr>
              <a:t> </a:t>
            </a:r>
            <a:r>
              <a:rPr lang="en-GB" sz="3200" b="1" dirty="0">
                <a:solidFill>
                  <a:schemeClr val="tx2"/>
                </a:solidFill>
                <a:latin typeface="Verdana Pro Cond"/>
                <a:cs typeface="Calibri"/>
              </a:rPr>
              <a:t>us</a:t>
            </a:r>
          </a:p>
        </p:txBody>
      </p:sp>
      <p:pic>
        <p:nvPicPr>
          <p:cNvPr id="1026" name="Picture 2">
            <a:extLst>
              <a:ext uri="{FF2B5EF4-FFF2-40B4-BE49-F238E27FC236}">
                <a16:creationId xmlns:a16="http://schemas.microsoft.com/office/drawing/2014/main" id="{C9159938-4D1E-9CF0-79C6-F214B61791D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3897" r="29661" b="21206"/>
          <a:stretch>
            <a:fillRect/>
          </a:stretch>
        </p:blipFill>
        <p:spPr bwMode="auto">
          <a:xfrm>
            <a:off x="3203490" y="56817"/>
            <a:ext cx="3673643" cy="44680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354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3372</TotalTime>
  <Words>3592</Words>
  <Application>Microsoft Macintosh PowerPoint</Application>
  <PresentationFormat>Custom</PresentationFormat>
  <Paragraphs>588</Paragraphs>
  <Slides>47</Slides>
  <Notes>47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47</vt:i4>
      </vt:variant>
    </vt:vector>
  </HeadingPairs>
  <TitlesOfParts>
    <vt:vector size="61" baseType="lpstr">
      <vt:lpstr>Arial MT</vt:lpstr>
      <vt:lpstr>Integral CF Bold</vt:lpstr>
      <vt:lpstr>Liberation Sans</vt:lpstr>
      <vt:lpstr>Aptos</vt:lpstr>
      <vt:lpstr>Aptos Display</vt:lpstr>
      <vt:lpstr>Arial</vt:lpstr>
      <vt:lpstr>Calibri</vt:lpstr>
      <vt:lpstr>Cambria</vt:lpstr>
      <vt:lpstr>Cambria Math</vt:lpstr>
      <vt:lpstr>Source Sans Pro</vt:lpstr>
      <vt:lpstr>Tahoma</vt:lpstr>
      <vt:lpstr>Times New Roman</vt:lpstr>
      <vt:lpstr>Verdana Pro Cond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Portfolio</dc:title>
  <dc:creator>Xandra Dave Cochran</dc:creator>
  <cp:lastModifiedBy>Joy Lan</cp:lastModifiedBy>
  <cp:revision>19</cp:revision>
  <dcterms:created xsi:type="dcterms:W3CDTF">2024-02-09T00:00:31Z</dcterms:created>
  <dcterms:modified xsi:type="dcterms:W3CDTF">2026-03-30T15:40:46Z</dcterms:modified>
</cp:coreProperties>
</file>