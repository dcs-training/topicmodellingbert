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40"/>
  </p:notesMasterIdLst>
  <p:handoutMasterIdLst>
    <p:handoutMasterId r:id="rId41"/>
  </p:handoutMasterIdLst>
  <p:sldIdLst>
    <p:sldId id="367" r:id="rId2"/>
    <p:sldId id="383" r:id="rId3"/>
    <p:sldId id="401" r:id="rId4"/>
    <p:sldId id="404" r:id="rId5"/>
    <p:sldId id="398" r:id="rId6"/>
    <p:sldId id="403" r:id="rId7"/>
    <p:sldId id="408" r:id="rId8"/>
    <p:sldId id="406" r:id="rId9"/>
    <p:sldId id="409" r:id="rId10"/>
    <p:sldId id="410" r:id="rId11"/>
    <p:sldId id="397" r:id="rId12"/>
    <p:sldId id="411" r:id="rId13"/>
    <p:sldId id="412" r:id="rId14"/>
    <p:sldId id="413" r:id="rId15"/>
    <p:sldId id="386" r:id="rId16"/>
    <p:sldId id="414" r:id="rId17"/>
    <p:sldId id="419" r:id="rId18"/>
    <p:sldId id="415" r:id="rId19"/>
    <p:sldId id="420" r:id="rId20"/>
    <p:sldId id="421" r:id="rId21"/>
    <p:sldId id="285" r:id="rId22"/>
    <p:sldId id="381" r:id="rId23"/>
    <p:sldId id="416" r:id="rId24"/>
    <p:sldId id="422" r:id="rId25"/>
    <p:sldId id="418" r:id="rId26"/>
    <p:sldId id="417" r:id="rId27"/>
    <p:sldId id="423" r:id="rId28"/>
    <p:sldId id="424" r:id="rId29"/>
    <p:sldId id="425" r:id="rId30"/>
    <p:sldId id="426" r:id="rId31"/>
    <p:sldId id="427" r:id="rId32"/>
    <p:sldId id="321" r:id="rId33"/>
    <p:sldId id="428" r:id="rId34"/>
    <p:sldId id="364" r:id="rId35"/>
    <p:sldId id="429" r:id="rId36"/>
    <p:sldId id="405" r:id="rId37"/>
    <p:sldId id="365" r:id="rId38"/>
    <p:sldId id="430" r:id="rId39"/>
  </p:sldIdLst>
  <p:sldSz cx="10080625" cy="567055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0E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01"/>
    <p:restoredTop sz="61800"/>
  </p:normalViewPr>
  <p:slideViewPr>
    <p:cSldViewPr snapToGrid="0">
      <p:cViewPr varScale="1">
        <p:scale>
          <a:sx n="94" d="100"/>
          <a:sy n="94" d="100"/>
        </p:scale>
        <p:origin x="24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04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7669F14-0200-2A68-F38F-B5283A4FC30D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GB" sz="1400" b="0" i="0" u="none" strike="noStrike" kern="1200" cap="none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9D76D9-764F-BA78-2445-EFADDA53B804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GB" sz="1400" b="0" i="0" u="none" strike="noStrike" kern="1200" cap="none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42CDD7-FE83-E926-3B1D-C14207481C84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GB" sz="1400" b="0" i="0" u="none" strike="noStrike" kern="1200" cap="none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AFF3D-EB16-51B4-6D69-837FB36358E8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89E4FBF7-1477-BD4B-ABDE-061EA0D99FEC}" type="slidenum">
              <a:t>‹#›</a:t>
            </a:fld>
            <a:endParaRPr lang="en-GB" sz="1400" b="0" i="0" u="none" strike="noStrike" kern="1200" cap="none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894686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E888CC-A1FE-8C34-87F1-665BDF36B0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79" cy="4008959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27A116-7EB9-9F1D-F175-687C0BB3E598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GB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1B4A7D7B-306B-8860-F8A5-557DE7EC6035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GB" sz="1400" kern="1200">
                <a:latin typeface="Liberation Sans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484F5-7CB5-4C8A-E879-B0805B9341C4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GB" sz="1400" kern="1200">
                <a:latin typeface="Liberation Sans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DD95DB-C0EB-89CE-E6EE-3841558E6E85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GB" sz="1400" kern="1200">
                <a:latin typeface="Liberation Sans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335E83-D6F0-3FCE-C2BE-929349E7AE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GB" sz="1400" kern="1200">
                <a:latin typeface="Liberation Sans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8E2BB4A0-B145-1246-A0C1-B534948BCD4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414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hangingPunct="0">
      <a:tabLst/>
      <a:defRPr lang="en-GB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10BA7-3C94-E335-F28B-B59AB9342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3AF693-1447-C985-9F6B-319D62ED8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CF93-67C9-D61E-8C90-3611C9097D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618F93-654A-E874-14DA-B73067BEE6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93792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6BD33-263A-C25A-F5DF-6BFC39193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6C446F-C0F2-F734-BFA2-745A4D942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08ACDD-A1F2-36A3-08A6-EE167706E0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57CCC-ABB9-E8CE-6455-06A9E619AB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38882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2589C-1B0A-751F-72FF-39912432C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1553F-5DBE-E6BC-F8D8-B5459AF60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C60EF3-42FF-BC3B-CCB0-759DD1EE4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686A3-7848-1BCC-89E7-FD37A7D8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57274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12478-1FDF-36DA-98B2-67D03BA61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9582C-AAFE-7CAF-5FBE-AA937C71E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F866C-2921-67BD-96F2-7886FB05B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FC304-6E03-BBFE-E109-9DF124A63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56096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4BAD4-0B0A-0211-AC71-8436D9675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C73D6-2DC2-DD46-8378-8A76F4B24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457F3-E8FE-24AC-3118-15FAC6D8A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2400" dirty="0"/>
              <a:t>doing this carefully</a:t>
            </a:r>
          </a:p>
          <a:p>
            <a:r>
              <a:rPr lang="en-GB" sz="2400" dirty="0"/>
              <a:t>your goal determines what you should do next</a:t>
            </a:r>
          </a:p>
          <a:p>
            <a:endParaRPr lang="en-GB" sz="2400" dirty="0"/>
          </a:p>
          <a:p>
            <a:r>
              <a:rPr lang="en-GB" sz="2400" dirty="0"/>
              <a:t>In many cases, the first and the second goal lead to the third goal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9014A-81BC-71CD-46C3-8B5FD2B531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59999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5C48B-0609-7987-C870-5630E40A3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9671D6-2EB4-E77E-1D38-10F2B451FF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0834AB-7523-DAFE-66C9-DCCC2177B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233D7E-68FE-32E9-BFC7-8751C6342A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85292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9FD09-0AA8-1208-BCBA-324D5A16E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F7C97-0425-1C34-444C-8DB2D872F0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949E03-6F4E-0844-7866-8ECDF1D0E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A68F-DACF-C495-F4B5-989F13FAD9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53528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499DB-4A96-81A3-1E7F-A4B844A54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0FE64-EF4B-0230-FBD2-E565C9905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40B66-F73F-5E23-ACD8-7E4C31266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6C620-0490-1BE3-4885-09E6630EA7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14472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D710B-7C7A-0D02-E822-E0418C40F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D343F-3B38-4E41-D6D4-7506C98EA3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B4BA8-7010-0ED3-CBEE-DCED9DE9E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A485F-9385-B6E5-1AF9-459B598F88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58867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3801C-C823-972D-63ED-3C79352E1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850C8-0538-B13A-72DA-A4BAD8256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F99A8D-89DD-93F9-5BCE-0866C346BC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89ACC-EC24-DEA4-1489-BDE3BC5A87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49052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FC364-0810-1A73-C7C4-57E0B2091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47EA63-0FE6-6F19-EAAF-856BCE60EF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2048E-2E35-5315-57D3-A8462056F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BD71F-CA41-ED34-2563-57C1F6AF3C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79570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DAD90-1A7E-E918-F6AB-392861990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8E5A4-A395-FDDF-F52B-EB1B2D1FB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35F7C-134A-543E-06A7-A2C630890C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Counts how many times each word appears Ignores order and context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779C2-5FE9-6F94-8B8B-219E79CF47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01720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BCD25-4C11-FE4A-DCB9-B3C275C7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3ECB1C-D015-AFE4-1DDC-885078714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C5581A-40E3-FF30-6CEA-EE1F61BCD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Counts how many times each word appears </a:t>
            </a:r>
          </a:p>
          <a:p>
            <a:r>
              <a:rPr lang="en-GB" dirty="0"/>
              <a:t>Ignores order and context </a:t>
            </a:r>
          </a:p>
          <a:p>
            <a:r>
              <a:rPr lang="en-GB" dirty="0"/>
              <a:t>All meanings of </a:t>
            </a:r>
            <a:r>
              <a:rPr lang="en-GB" i="1" dirty="0"/>
              <a:t>bank</a:t>
            </a:r>
            <a:r>
              <a:rPr lang="en-GB" dirty="0"/>
              <a:t> and current are treated the same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FE76E-7B6F-8C01-31C9-3E839649A8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36161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763D9-8476-7B91-B00B-2C5FCD8D4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62F81-0B9F-F91F-148A-38AECB38C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79CFB-1888-48A5-68EC-7EF6739E6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2000" dirty="0">
                <a:solidFill>
                  <a:srgbClr val="002060"/>
                </a:solidFill>
                <a:latin typeface="Source Sans Pro"/>
                <a:ea typeface="Source Sans Pro"/>
              </a:rPr>
              <a:t>Each word (more accurately, token) is represented as a vector of numbers</a:t>
            </a:r>
          </a:p>
          <a:p>
            <a:r>
              <a:rPr lang="en-GB" sz="2000" dirty="0">
                <a:solidFill>
                  <a:srgbClr val="002060"/>
                </a:solidFill>
                <a:latin typeface="Source Sans Pro"/>
                <a:ea typeface="Source Sans Pro"/>
              </a:rPr>
              <a:t>The context of words are encoded into the representation</a:t>
            </a:r>
          </a:p>
          <a:p>
            <a:endParaRPr lang="en-GB" sz="2000" dirty="0">
              <a:solidFill>
                <a:srgbClr val="002060"/>
              </a:solidFill>
              <a:latin typeface="Source Sans Pro"/>
              <a:ea typeface="Source Sans Pr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rgbClr val="002060"/>
                </a:solidFill>
                <a:latin typeface="Source Sans Pro"/>
                <a:ea typeface="Source Sans Pro"/>
              </a:rPr>
              <a:t>Seems random, but the idea is to train these embeddings to represent </a:t>
            </a:r>
            <a:r>
              <a:rPr lang="en-GB" sz="2000" i="1" dirty="0">
                <a:solidFill>
                  <a:srgbClr val="002060"/>
                </a:solidFill>
                <a:latin typeface="Source Sans Pro"/>
                <a:ea typeface="Source Sans Pro"/>
              </a:rPr>
              <a:t>meaning</a:t>
            </a:r>
            <a:r>
              <a:rPr lang="en-GB" sz="2000" dirty="0">
                <a:solidFill>
                  <a:srgbClr val="002060"/>
                </a:solidFill>
                <a:latin typeface="Source Sans Pro"/>
                <a:ea typeface="Source Sans Pro"/>
              </a:rPr>
              <a:t> as a </a:t>
            </a:r>
            <a:r>
              <a:rPr lang="en-GB" sz="2000" i="1" dirty="0">
                <a:solidFill>
                  <a:srgbClr val="002060"/>
                </a:solidFill>
                <a:latin typeface="Source Sans Pro"/>
                <a:ea typeface="Source Sans Pro"/>
              </a:rPr>
              <a:t>high-dimensional space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rgbClr val="002060"/>
                </a:solidFill>
                <a:latin typeface="Source Sans Pro"/>
                <a:ea typeface="Source Sans Pro"/>
              </a:rPr>
              <a:t>This means semantically related words will be closer together than unrelated words – can be measured with cosine distance</a:t>
            </a:r>
            <a:endParaRPr lang="en-GB" sz="2400" dirty="0">
              <a:solidFill>
                <a:srgbClr val="002060"/>
              </a:solidFill>
              <a:latin typeface="Source Sans Pro"/>
              <a:ea typeface="Source Sans Pro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7B58F5-6A8E-06CC-CB40-DB39D5309F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13337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4938B-4835-9FA2-1B29-D57E9E97A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714CAB-796F-032D-ACC4-1C5BB77DB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DCAA61-85BF-4EB0-E2AB-17A3AA434B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To encode (to let computer understand human languages)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331C5-96D7-B8BD-9B6B-173F0511B2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53723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39FE1-B3A9-0355-60C0-FC8E6C505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10F578-76BD-B882-2E7A-9A0C24157B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2995D2-C959-078E-61B7-EEE778374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To encode (to let computer understand human languages)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0F1CD-EE9A-6118-A372-B8480CC32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37817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C8960-AD40-83B0-2933-115853764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671ECB-8F2C-DB9D-4C1A-C41EF65A8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B151F2-C4F6-9EBF-E5E1-B8BC9FC6A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To encode (to let computer understand human languages)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FB0D3-138D-064B-7893-4F5577C7E6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949560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8E1D8-B031-E6EE-8175-846584EB9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BB812-AF68-8ACE-C313-AC528F6207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BCDE9-E4C6-3C29-B4EF-E202BAFFD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To encode (to let computer understand human languages)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D6131-16BC-FC7A-FA3D-D345259BB1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70331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218CE-7273-637A-9D55-61AB5C952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942FDC-0275-0866-C530-6558CE8060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7D9A0A-8C7F-E6A6-7E54-032C8447F0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Embeddings are high-dimensional (e.g. 768 dims) </a:t>
            </a:r>
          </a:p>
          <a:p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UMAP reduces them → easier clustering </a:t>
            </a:r>
          </a:p>
          <a:p>
            <a:endParaRPr lang="en-GB" sz="2000" b="0" i="0" u="none" strike="noStrike" kern="1200" cap="none" dirty="0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</a:endParaRPr>
          </a:p>
          <a:p>
            <a:pPr rtl="0"/>
            <a:endParaRPr lang="en-GB" dirty="0">
              <a:highlight>
                <a:scrgbClr r="0" g="0" b="0">
                  <a:alpha val="0"/>
                </a:scrgbClr>
              </a:highlight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379E3-6BE3-D610-A2F2-9ACFEE177B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92463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1CAAF-7BF6-8B2F-4229-3AD2855D9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3403-DDF5-BB63-8CF5-0A6C08E50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63213A-5B39-CB52-728D-801686B508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highlight>
                <a:scrgbClr r="0" g="0" b="0">
                  <a:alpha val="0"/>
                </a:scrgbClr>
              </a:highlight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7E266A-F432-66B3-EC8A-6824907276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07905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44C0DE-5D74-F9A1-3D57-B5E618208B3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91AEF84-A490-024A-83F5-8587B043CF37}" type="slidenum">
              <a:t>21</a:t>
            </a:fld>
            <a:endParaRPr lang="en-GB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D5495B-9A56-F70A-11FB-9EA539FC573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59D06F-68E4-B2B6-85E0-4C27C843478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54482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D5955-472C-48BC-9F09-39B6FFF50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06159C-FA02-ACEF-D1A2-2869F5C787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B1FDE3-B4D0-47D7-F035-9F6288405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6BE50-00D6-FCE6-CFB9-ED300D15FF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258561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C70B2-6F87-7867-E65E-0C42512A6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63C23-D7F1-2288-9665-722BDAC61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A9B972-FDB7-87EA-C0AE-CA21C6BFC8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3F5AEB-E1D8-03AC-E967-CDCD5FDE74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12882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8FF50-F357-1B5C-3AD5-17EB40379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03EC02-B690-B575-50BE-7A101898D1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6982EE-BD38-E3A4-C5C4-0FB3431E4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23284-04E6-9B66-B381-802851A06C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51351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18681-CDB5-CABA-7747-901E26741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CB4A30-58EE-453E-9A8D-CBE37591C5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F51AA2-810D-15D5-3EC9-80457D46BD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F6E00-1886-39A8-6BB5-FF83CB9828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578246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553F8-73D8-1283-DB41-547AC672E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AFE751-6A25-27F1-E8DB-6CB27883B3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92EB19-D94B-E5F0-9414-342C87FEFA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CCC23-507A-25FF-9B08-E60934F7A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77460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97259-09FC-8C09-9B06-9710152BD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BA4E20-F014-84F3-7CE9-6222383F807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91AEF84-A490-024A-83F5-8587B043CF37}" type="slidenum">
              <a:t>27</a:t>
            </a:fld>
            <a:endParaRPr lang="en-GB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C272C-6ABC-192D-4D0A-EE1C1DE48F0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AD74A-EA30-69ED-5877-6A1893D726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6443858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6C26F-4EF8-34DC-A73F-82FDE365E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83B6D-E134-47FE-A821-A55F5FD30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C0D993-B15C-1277-1622-FEA6508EB6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E2DAEA-4395-3D57-B507-E3095DBA60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64539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38D66-4832-9B1C-5F41-000ACA58D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81FD9D-8CDF-3A99-36B0-3B4A7ED39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E4B441-4AE3-67BF-1A1C-46C67D239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2000" b="0" i="0" u="none" strike="noStrike" kern="1200" cap="none" dirty="0">
              <a:ln>
                <a:noFill/>
              </a:ln>
              <a:effectLst/>
              <a:highlight>
                <a:scrgbClr r="0" g="0" b="0">
                  <a:alpha val="0"/>
                </a:scrgbClr>
              </a:highlight>
              <a:latin typeface="Liberation Sans" pitchFamily="18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AF4C9-A713-39A9-FA90-457BDBBB3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019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501CC-BA35-6018-2E95-7F6F2702F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482BC-42A6-725C-146F-C05DA5E627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9F843-92D3-CD63-D8BD-528D046132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2000" b="0" i="0" u="none" strike="noStrike" kern="1200" cap="none" dirty="0">
              <a:ln>
                <a:noFill/>
              </a:ln>
              <a:effectLst/>
              <a:highlight>
                <a:scrgbClr r="0" g="0" b="0">
                  <a:alpha val="0"/>
                </a:scrgbClr>
              </a:highlight>
              <a:latin typeface="Liberation Sans" pitchFamily="18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04128-2A37-1315-2DBC-AD958CE375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701042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1E04-61DA-8036-685D-35F3DCB4D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77212A-B343-5CA6-E0AB-D0C0FCC81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819957-2BA6-8688-E7B5-E40AA0A87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2000" b="0" i="0" u="none" strike="noStrike" kern="1200" cap="none" dirty="0">
              <a:ln>
                <a:noFill/>
              </a:ln>
              <a:effectLst/>
              <a:highlight>
                <a:scrgbClr r="0" g="0" b="0">
                  <a:alpha val="0"/>
                </a:scrgbClr>
              </a:highlight>
              <a:latin typeface="Liberation Sans" pitchFamily="18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D8BC-CEEE-9059-DC6D-C7F950100B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23919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128086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669FC-FAAF-AFB7-D1AF-9E64CDAD5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806D52-46B1-8CD6-EED1-C47EB91DCF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6D9975-ADFF-1337-4A91-D23681BEF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2000" b="0" i="0" u="none" strike="noStrike" kern="1200" cap="none" dirty="0">
              <a:ln>
                <a:noFill/>
              </a:ln>
              <a:effectLst/>
              <a:highlight>
                <a:scrgbClr r="0" g="0" b="0">
                  <a:alpha val="0"/>
                </a:scrgbClr>
              </a:highlight>
              <a:latin typeface="Liberation Sans" pitchFamily="18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0F7F3-6268-313D-A752-7E3B22F6E7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71506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40807-A810-EB76-6552-704B9917F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44DB4C-A616-B4BE-A8B8-38C019DE66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897A6F-B8A5-BD3B-58F4-3BF0B7FEE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4138E-E0E8-E41F-D14A-BF490084F7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5843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FFE51-05D8-D3D3-8E9D-0F1D98E99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BFE30-7384-F5A4-01BB-B831D8868E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CB5AD-62A6-7CB7-5F88-8036BE126A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29C1BA-4A85-321E-4EA8-AA40479061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943642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9730A-E26B-1A1A-567D-ACDCC1E46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0D9F2B-418D-5AC6-DBA8-A6732058D1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40804B-0D57-FED5-710C-0635614B28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2AF71-75F5-D0F0-14D3-A9E3DABEEA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38357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9AF3-C8BE-54AF-1F9A-70BD55BDF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488AE-A838-FFB8-0CC6-82144D934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07F44-0CEB-D3DD-2848-6941E83146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7AF1C-CD36-44FE-2D81-0A9A117E22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8278915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87B94-0232-3755-5D1E-1B70F4BB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A3ABCE-5979-F0E1-23E2-50798D37B1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CF284-479D-7EAB-1EA8-CA11AA2C71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E9E84B-7266-6936-B1E0-1DEBE91DDF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4644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83E72-F8A2-1CBA-146D-E9512F3767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78" y="928028"/>
            <a:ext cx="7560469" cy="1974191"/>
          </a:xfrm>
        </p:spPr>
        <p:txBody>
          <a:bodyPr anchor="b"/>
          <a:lstStyle>
            <a:lvl1pPr algn="ctr">
              <a:defRPr sz="496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44523C-77F6-A768-F211-3D7293603E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78" y="2978352"/>
            <a:ext cx="7560469" cy="1369070"/>
          </a:xfrm>
        </p:spPr>
        <p:txBody>
          <a:bodyPr/>
          <a:lstStyle>
            <a:lvl1pPr marL="0" indent="0" algn="ctr">
              <a:buNone/>
              <a:defRPr sz="1984"/>
            </a:lvl1pPr>
            <a:lvl2pPr marL="378013" indent="0" algn="ctr">
              <a:buNone/>
              <a:defRPr sz="1654"/>
            </a:lvl2pPr>
            <a:lvl3pPr marL="756026" indent="0" algn="ctr">
              <a:buNone/>
              <a:defRPr sz="1488"/>
            </a:lvl3pPr>
            <a:lvl4pPr marL="1134039" indent="0" algn="ctr">
              <a:buNone/>
              <a:defRPr sz="1323"/>
            </a:lvl4pPr>
            <a:lvl5pPr marL="1512052" indent="0" algn="ctr">
              <a:buNone/>
              <a:defRPr sz="1323"/>
            </a:lvl5pPr>
            <a:lvl6pPr marL="1890065" indent="0" algn="ctr">
              <a:buNone/>
              <a:defRPr sz="1323"/>
            </a:lvl6pPr>
            <a:lvl7pPr marL="2268078" indent="0" algn="ctr">
              <a:buNone/>
              <a:defRPr sz="1323"/>
            </a:lvl7pPr>
            <a:lvl8pPr marL="2646091" indent="0" algn="ctr">
              <a:buNone/>
              <a:defRPr sz="1323"/>
            </a:lvl8pPr>
            <a:lvl9pPr marL="3024104" indent="0" algn="ctr">
              <a:buNone/>
              <a:defRPr sz="1323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54548-994D-9BC4-DC79-6D92E17A0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A6934-29C6-83CA-857A-FC9F87DB3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FD47-51E7-387D-952F-D0FCA976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A0BED-971D-5BA2-B20A-198319C99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508AF-AD71-07DF-3AE6-B18648C53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7632A-45C8-7A11-F41B-90FEC34FE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CD5A7-3AF5-C447-4A93-6B5DDA829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2CE21-C1AF-6FD1-25B5-A14C064F6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933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4A5D6-D07D-A977-57BB-1A7D32330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793" y="1413700"/>
            <a:ext cx="8694539" cy="2358791"/>
          </a:xfrm>
        </p:spPr>
        <p:txBody>
          <a:bodyPr anchor="b"/>
          <a:lstStyle>
            <a:lvl1pPr>
              <a:defRPr sz="496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58A0BD-5C82-A8A1-6BB9-0C51BF857C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793" y="3794807"/>
            <a:ext cx="8694539" cy="1240432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8013" indent="0">
              <a:buNone/>
              <a:defRPr sz="1654">
                <a:solidFill>
                  <a:schemeClr val="tx1">
                    <a:tint val="82000"/>
                  </a:schemeClr>
                </a:solidFill>
              </a:defRPr>
            </a:lvl2pPr>
            <a:lvl3pPr marL="756026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403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205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90065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807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609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4104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D95A6F-C6BB-F3E7-0D8D-93FA8C051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36DD3-38BA-5283-E431-2D5F20798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CCC18-2C9D-71DD-54FF-E0E3B8D02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222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C8B86-8D63-810A-9BD4-16384DFF4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1C782-66ED-0AF0-9605-F21050703A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043" y="1509521"/>
            <a:ext cx="4284266" cy="35979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B763A9-50B6-B27B-84FE-2ECF1F0084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03316" y="1509521"/>
            <a:ext cx="4284266" cy="35979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378C8-97AB-667F-AECC-3C75C6C9B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ED5E19-C157-5E57-FDC2-ADC35BC42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BACE16-C70C-3DFC-CAAA-04CA1122F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903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747A-8578-06D8-3212-3BADACE84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356" y="301905"/>
            <a:ext cx="8694539" cy="1096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CD2617-5D50-299B-2885-AC36EBF56B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357" y="1390073"/>
            <a:ext cx="4264576" cy="681253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8013" indent="0">
              <a:buNone/>
              <a:defRPr sz="1654" b="1"/>
            </a:lvl2pPr>
            <a:lvl3pPr marL="756026" indent="0">
              <a:buNone/>
              <a:defRPr sz="1488" b="1"/>
            </a:lvl3pPr>
            <a:lvl4pPr marL="1134039" indent="0">
              <a:buNone/>
              <a:defRPr sz="1323" b="1"/>
            </a:lvl4pPr>
            <a:lvl5pPr marL="1512052" indent="0">
              <a:buNone/>
              <a:defRPr sz="1323" b="1"/>
            </a:lvl5pPr>
            <a:lvl6pPr marL="1890065" indent="0">
              <a:buNone/>
              <a:defRPr sz="1323" b="1"/>
            </a:lvl6pPr>
            <a:lvl7pPr marL="2268078" indent="0">
              <a:buNone/>
              <a:defRPr sz="1323" b="1"/>
            </a:lvl7pPr>
            <a:lvl8pPr marL="2646091" indent="0">
              <a:buNone/>
              <a:defRPr sz="1323" b="1"/>
            </a:lvl8pPr>
            <a:lvl9pPr marL="3024104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E243DB-8FE2-6420-A86B-8D21D63D07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4357" y="2071326"/>
            <a:ext cx="4264576" cy="304660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A511-C32C-76D5-E000-B842E607DE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316" y="1390073"/>
            <a:ext cx="4285579" cy="681253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8013" indent="0">
              <a:buNone/>
              <a:defRPr sz="1654" b="1"/>
            </a:lvl2pPr>
            <a:lvl3pPr marL="756026" indent="0">
              <a:buNone/>
              <a:defRPr sz="1488" b="1"/>
            </a:lvl3pPr>
            <a:lvl4pPr marL="1134039" indent="0">
              <a:buNone/>
              <a:defRPr sz="1323" b="1"/>
            </a:lvl4pPr>
            <a:lvl5pPr marL="1512052" indent="0">
              <a:buNone/>
              <a:defRPr sz="1323" b="1"/>
            </a:lvl5pPr>
            <a:lvl6pPr marL="1890065" indent="0">
              <a:buNone/>
              <a:defRPr sz="1323" b="1"/>
            </a:lvl6pPr>
            <a:lvl7pPr marL="2268078" indent="0">
              <a:buNone/>
              <a:defRPr sz="1323" b="1"/>
            </a:lvl7pPr>
            <a:lvl8pPr marL="2646091" indent="0">
              <a:buNone/>
              <a:defRPr sz="1323" b="1"/>
            </a:lvl8pPr>
            <a:lvl9pPr marL="3024104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D0C36-1E26-B46C-64DB-94C68CD794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316" y="2071326"/>
            <a:ext cx="4285579" cy="304660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410892-491F-AAB4-3612-3053359C9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A9CEA5-D2EA-3F7C-05DC-9D41A9F39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3EAB44-9BE1-ED5F-5143-14D2BB22F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024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262C2-3402-CE24-1023-B61BB418E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E97330-CD82-F14C-0394-4140A82B4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0414F9-D82C-12AC-EB0A-65FE1940F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2E8161-93B4-8496-6FA0-C52ED628D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277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27551D-0F7D-35B5-541F-6CB2695AB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71D576-A6FF-83B5-4FF8-770106E18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4AE8B9-6B2A-690A-A603-91C6011B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70063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8796D-D254-281F-C79A-A8797C674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356" y="378037"/>
            <a:ext cx="3251264" cy="1323128"/>
          </a:xfrm>
        </p:spPr>
        <p:txBody>
          <a:bodyPr anchor="b"/>
          <a:lstStyle>
            <a:lvl1pPr>
              <a:defRPr sz="2646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237DE-BC77-A390-89D5-2A8D01CC7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5579" y="816455"/>
            <a:ext cx="5103316" cy="4029766"/>
          </a:xfrm>
        </p:spPr>
        <p:txBody>
          <a:bodyPr/>
          <a:lstStyle>
            <a:lvl1pPr>
              <a:defRPr sz="2646"/>
            </a:lvl1pPr>
            <a:lvl2pPr>
              <a:defRPr sz="2315"/>
            </a:lvl2pPr>
            <a:lvl3pPr>
              <a:defRPr sz="1984"/>
            </a:lvl3pPr>
            <a:lvl4pPr>
              <a:defRPr sz="1654"/>
            </a:lvl4pPr>
            <a:lvl5pPr>
              <a:defRPr sz="1654"/>
            </a:lvl5pPr>
            <a:lvl6pPr>
              <a:defRPr sz="1654"/>
            </a:lvl6pPr>
            <a:lvl7pPr>
              <a:defRPr sz="1654"/>
            </a:lvl7pPr>
            <a:lvl8pPr>
              <a:defRPr sz="1654"/>
            </a:lvl8pPr>
            <a:lvl9pPr>
              <a:defRPr sz="1654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CF3131-5B52-74E3-4305-0B3113F196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4356" y="1701165"/>
            <a:ext cx="3251264" cy="3151619"/>
          </a:xfrm>
        </p:spPr>
        <p:txBody>
          <a:bodyPr/>
          <a:lstStyle>
            <a:lvl1pPr marL="0" indent="0">
              <a:buNone/>
              <a:defRPr sz="1323"/>
            </a:lvl1pPr>
            <a:lvl2pPr marL="378013" indent="0">
              <a:buNone/>
              <a:defRPr sz="1158"/>
            </a:lvl2pPr>
            <a:lvl3pPr marL="756026" indent="0">
              <a:buNone/>
              <a:defRPr sz="992"/>
            </a:lvl3pPr>
            <a:lvl4pPr marL="1134039" indent="0">
              <a:buNone/>
              <a:defRPr sz="827"/>
            </a:lvl4pPr>
            <a:lvl5pPr marL="1512052" indent="0">
              <a:buNone/>
              <a:defRPr sz="827"/>
            </a:lvl5pPr>
            <a:lvl6pPr marL="1890065" indent="0">
              <a:buNone/>
              <a:defRPr sz="827"/>
            </a:lvl6pPr>
            <a:lvl7pPr marL="2268078" indent="0">
              <a:buNone/>
              <a:defRPr sz="827"/>
            </a:lvl7pPr>
            <a:lvl8pPr marL="2646091" indent="0">
              <a:buNone/>
              <a:defRPr sz="827"/>
            </a:lvl8pPr>
            <a:lvl9pPr marL="3024104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DAA8D-B86B-FA76-ADB1-61608FE43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F4154-8088-4B1E-ADAD-A9B7784F7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531825-E3BF-C013-333C-2036FD33B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39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2F927-5B9F-68A5-C764-FFDF61138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356" y="378037"/>
            <a:ext cx="3251264" cy="1323128"/>
          </a:xfrm>
        </p:spPr>
        <p:txBody>
          <a:bodyPr anchor="b"/>
          <a:lstStyle>
            <a:lvl1pPr>
              <a:defRPr sz="2646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865903-CD88-A779-9EFC-5853DAF9BD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5579" y="816455"/>
            <a:ext cx="5103316" cy="4029766"/>
          </a:xfrm>
        </p:spPr>
        <p:txBody>
          <a:bodyPr/>
          <a:lstStyle>
            <a:lvl1pPr marL="0" indent="0">
              <a:buNone/>
              <a:defRPr sz="2646"/>
            </a:lvl1pPr>
            <a:lvl2pPr marL="378013" indent="0">
              <a:buNone/>
              <a:defRPr sz="2315"/>
            </a:lvl2pPr>
            <a:lvl3pPr marL="756026" indent="0">
              <a:buNone/>
              <a:defRPr sz="1984"/>
            </a:lvl3pPr>
            <a:lvl4pPr marL="1134039" indent="0">
              <a:buNone/>
              <a:defRPr sz="1654"/>
            </a:lvl4pPr>
            <a:lvl5pPr marL="1512052" indent="0">
              <a:buNone/>
              <a:defRPr sz="1654"/>
            </a:lvl5pPr>
            <a:lvl6pPr marL="1890065" indent="0">
              <a:buNone/>
              <a:defRPr sz="1654"/>
            </a:lvl6pPr>
            <a:lvl7pPr marL="2268078" indent="0">
              <a:buNone/>
              <a:defRPr sz="1654"/>
            </a:lvl7pPr>
            <a:lvl8pPr marL="2646091" indent="0">
              <a:buNone/>
              <a:defRPr sz="1654"/>
            </a:lvl8pPr>
            <a:lvl9pPr marL="3024104" indent="0">
              <a:buNone/>
              <a:defRPr sz="1654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8FFFA3-0DB8-663D-C8D4-9A81AEA0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4356" y="1701165"/>
            <a:ext cx="3251264" cy="3151619"/>
          </a:xfrm>
        </p:spPr>
        <p:txBody>
          <a:bodyPr/>
          <a:lstStyle>
            <a:lvl1pPr marL="0" indent="0">
              <a:buNone/>
              <a:defRPr sz="1323"/>
            </a:lvl1pPr>
            <a:lvl2pPr marL="378013" indent="0">
              <a:buNone/>
              <a:defRPr sz="1158"/>
            </a:lvl2pPr>
            <a:lvl3pPr marL="756026" indent="0">
              <a:buNone/>
              <a:defRPr sz="992"/>
            </a:lvl3pPr>
            <a:lvl4pPr marL="1134039" indent="0">
              <a:buNone/>
              <a:defRPr sz="827"/>
            </a:lvl4pPr>
            <a:lvl5pPr marL="1512052" indent="0">
              <a:buNone/>
              <a:defRPr sz="827"/>
            </a:lvl5pPr>
            <a:lvl6pPr marL="1890065" indent="0">
              <a:buNone/>
              <a:defRPr sz="827"/>
            </a:lvl6pPr>
            <a:lvl7pPr marL="2268078" indent="0">
              <a:buNone/>
              <a:defRPr sz="827"/>
            </a:lvl7pPr>
            <a:lvl8pPr marL="2646091" indent="0">
              <a:buNone/>
              <a:defRPr sz="827"/>
            </a:lvl8pPr>
            <a:lvl9pPr marL="3024104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5FAF7-B202-777C-7C5A-42210BC6A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A3F6A-45CB-37D3-47E0-E92B189F6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7B4A30-41A2-10E0-D083-57D7798B8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539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C8C98-0826-E9D0-EFC9-12D088162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2DE641-33C0-74EA-40BB-DDE2774A70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D30ED9-BD1D-41F6-C1FC-13F7D184E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69753-BC12-15D3-57B9-6D731A1A3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4FB002-4F2C-9B26-8343-31A1C1746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799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95A63D-3714-2EBB-C187-A81A5992BA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13947" y="301904"/>
            <a:ext cx="2173635" cy="480552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4AAE00-55BC-E47E-5F0C-33388E438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043" y="301904"/>
            <a:ext cx="6394896" cy="480552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B8E59-673D-0444-E00D-E1E095947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3A866-3C2A-5245-AB24-5AA56676294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CA678C-F059-71C9-075D-940207341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A2A33-5234-1264-986B-8D0DBB94C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856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FABB53-9ABB-C1B5-F449-E6FB3BDF8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043" y="301905"/>
            <a:ext cx="8694539" cy="10960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C37447-5D0C-A75C-F9AE-DCA6425F2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043" y="1509521"/>
            <a:ext cx="8694539" cy="3597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64D8D-CA4E-D63C-2336-E4F1BF8EB0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3043" y="5255760"/>
            <a:ext cx="2268141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13A866-3C2A-5245-AB24-5AA56676294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7C60C-A108-918D-A621-27131E5B7C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9207" y="5255760"/>
            <a:ext cx="3402211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C77E6-2825-BEE2-9F8B-CFD189B109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19441" y="5255760"/>
            <a:ext cx="2268141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6E1D0E-71CE-DE43-BC35-5E286F2299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674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756026" rtl="0" eaLnBrk="1" latinLnBrk="0" hangingPunct="1">
        <a:lnSpc>
          <a:spcPct val="90000"/>
        </a:lnSpc>
        <a:spcBef>
          <a:spcPct val="0"/>
        </a:spcBef>
        <a:buNone/>
        <a:defRPr sz="363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9006" indent="-189006" algn="l" defTabSz="756026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7019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5032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3pPr>
      <a:lvl4pPr marL="1323045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1058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9071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7084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5097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3110" indent="-189006" algn="l" defTabSz="756026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8013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6026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4039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2052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90065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8078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6091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4104" algn="l" defTabSz="756026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66EDF-72D1-6952-6BBB-454D1A553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0C6CEEC-702C-0376-ABFD-73DD99375889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069DE78-5E1E-F0F4-3F83-3A334E4625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D68912C-E992-5713-8460-5E0292432BFC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14B45F-D864-B3B3-EA0B-D52568A7E7C2}"/>
              </a:ext>
            </a:extLst>
          </p:cNvPr>
          <p:cNvSpPr txBox="1"/>
          <p:nvPr/>
        </p:nvSpPr>
        <p:spPr>
          <a:xfrm>
            <a:off x="5746140" y="1320550"/>
            <a:ext cx="1076016" cy="992234"/>
          </a:xfrm>
          <a:prstGeom prst="rect">
            <a:avLst/>
          </a:prstGeom>
          <a:noFill/>
        </p:spPr>
        <p:txBody>
          <a:bodyPr wrap="none" lIns="75605" tIns="37802" rIns="75605" bIns="37802" rtlCol="0" anchor="t">
            <a:spAutoFit/>
          </a:bodyPr>
          <a:lstStyle/>
          <a:p>
            <a:endParaRPr lang="en-GB" sz="1488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 sz="1488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 sz="1488" dirty="0">
                <a:solidFill>
                  <a:srgbClr val="002E5F"/>
                </a:solidFill>
              </a:rPr>
              <a:t>	</a:t>
            </a:r>
            <a:endParaRPr lang="en-GB" sz="1488" i="1" dirty="0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 sz="1488" dirty="0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F40F38-7CC3-2E20-11C0-E0F069C0983D}"/>
              </a:ext>
            </a:extLst>
          </p:cNvPr>
          <p:cNvSpPr txBox="1"/>
          <p:nvPr/>
        </p:nvSpPr>
        <p:spPr>
          <a:xfrm>
            <a:off x="194276" y="1625922"/>
            <a:ext cx="184731" cy="5502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488" dirty="0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 sz="1488" dirty="0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34A53B-0602-AD3C-9A4E-778E54FDD486}"/>
              </a:ext>
            </a:extLst>
          </p:cNvPr>
          <p:cNvSpPr txBox="1"/>
          <p:nvPr/>
        </p:nvSpPr>
        <p:spPr>
          <a:xfrm>
            <a:off x="926628" y="2295341"/>
            <a:ext cx="7707410" cy="1966732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3200" b="1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April 3th 2026</a:t>
            </a:r>
          </a:p>
          <a:p>
            <a:pPr algn="ctr">
              <a:lnSpc>
                <a:spcPct val="150000"/>
              </a:lnSpc>
            </a:pPr>
            <a:r>
              <a:rPr lang="en-GB" sz="3200" b="1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Session 1</a:t>
            </a:r>
          </a:p>
          <a:p>
            <a:pPr algn="ctr">
              <a:lnSpc>
                <a:spcPct val="150000"/>
              </a:lnSpc>
            </a:pPr>
            <a:r>
              <a:rPr lang="en-GB" sz="2000" b="1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Joy Lan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3B2ED6-CE7D-A6D4-6638-1B4D43D3C0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B76D1CB-4E15-AA1E-1038-FF872CB384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A5C524-EAEC-CBED-74D9-432AB39150DA}"/>
              </a:ext>
            </a:extLst>
          </p:cNvPr>
          <p:cNvSpPr txBox="1"/>
          <p:nvPr/>
        </p:nvSpPr>
        <p:spPr>
          <a:xfrm>
            <a:off x="922367" y="609869"/>
            <a:ext cx="7707410" cy="69189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4000" b="1" dirty="0">
                <a:solidFill>
                  <a:schemeClr val="tx2"/>
                </a:solidFill>
                <a:latin typeface="Verdana Pro Cond"/>
                <a:cs typeface="Calibri"/>
              </a:rPr>
              <a:t>Topic Modelling with BERT</a:t>
            </a:r>
            <a:endParaRPr lang="en-GB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3379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5A39E-357E-38D9-5AFD-58DF87A5B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F4B2F3C-7B18-4EA1-8F03-EDC52FFCE881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9AB426-C41B-C90A-0270-5D01285A53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256111D-7ABE-85DA-1D9D-DBC2C2E1A717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8A0B71-6BA8-8D44-19F5-38FFC9C3EA81}"/>
              </a:ext>
            </a:extLst>
          </p:cNvPr>
          <p:cNvSpPr txBox="1"/>
          <p:nvPr/>
        </p:nvSpPr>
        <p:spPr>
          <a:xfrm>
            <a:off x="5746140" y="1320550"/>
            <a:ext cx="1076016" cy="992234"/>
          </a:xfrm>
          <a:prstGeom prst="rect">
            <a:avLst/>
          </a:prstGeom>
          <a:noFill/>
        </p:spPr>
        <p:txBody>
          <a:bodyPr wrap="none" lIns="75605" tIns="37802" rIns="75605" bIns="37802" rtlCol="0" anchor="t">
            <a:spAutoFit/>
          </a:bodyPr>
          <a:lstStyle/>
          <a:p>
            <a:endParaRPr lang="en-GB" sz="1488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 sz="1488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 sz="1488" dirty="0">
                <a:solidFill>
                  <a:srgbClr val="002E5F"/>
                </a:solidFill>
              </a:rPr>
              <a:t>	</a:t>
            </a:r>
            <a:endParaRPr lang="en-GB" sz="1488" i="1" dirty="0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 sz="1488" dirty="0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C507FE-E273-6488-6049-B114218B9E97}"/>
              </a:ext>
            </a:extLst>
          </p:cNvPr>
          <p:cNvSpPr txBox="1"/>
          <p:nvPr/>
        </p:nvSpPr>
        <p:spPr>
          <a:xfrm>
            <a:off x="194276" y="1625922"/>
            <a:ext cx="184731" cy="5502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488" dirty="0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 sz="1488" dirty="0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C587F6-EB14-5E8C-7F7F-E4C0B76B9775}"/>
              </a:ext>
            </a:extLst>
          </p:cNvPr>
          <p:cNvSpPr txBox="1"/>
          <p:nvPr/>
        </p:nvSpPr>
        <p:spPr>
          <a:xfrm>
            <a:off x="643247" y="1426869"/>
            <a:ext cx="4055759" cy="3092553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r>
              <a:rPr lang="en-GB" sz="2800" b="1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W1</a:t>
            </a:r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: Lead by </a:t>
            </a:r>
            <a:r>
              <a:rPr lang="en-GB" sz="2800" b="1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Joy Lan</a:t>
            </a:r>
          </a:p>
          <a:p>
            <a:endParaRPr lang="en-GB" sz="2800" b="1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What is topic modelling</a:t>
            </a:r>
          </a:p>
          <a:p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What is BERT</a:t>
            </a:r>
          </a:p>
          <a:p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How does BERT work</a:t>
            </a:r>
          </a:p>
          <a:p>
            <a:endParaRPr lang="en-GB" sz="2800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GB" sz="2800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278514A-BA35-7EE7-AB01-79757B3A9FE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2AA4C86-D109-7D8E-EBFA-EBD33B89B0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9A9B21F-AF03-FCCC-BA53-67A12F97B4CE}"/>
              </a:ext>
            </a:extLst>
          </p:cNvPr>
          <p:cNvSpPr txBox="1"/>
          <p:nvPr/>
        </p:nvSpPr>
        <p:spPr>
          <a:xfrm>
            <a:off x="922367" y="240903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Course plan</a:t>
            </a:r>
            <a:endParaRPr lang="en-GB" sz="1400"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3F26E-9896-358F-490A-6655BEA25766}"/>
              </a:ext>
            </a:extLst>
          </p:cNvPr>
          <p:cNvSpPr txBox="1"/>
          <p:nvPr/>
        </p:nvSpPr>
        <p:spPr>
          <a:xfrm>
            <a:off x="5040312" y="1520750"/>
            <a:ext cx="4714607" cy="2230778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r>
              <a:rPr lang="en-GB" sz="2800" b="1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W2</a:t>
            </a:r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: Lead by </a:t>
            </a:r>
            <a:r>
              <a:rPr lang="en-GB" sz="2800" b="1" dirty="0"/>
              <a:t>Aybuke Atalay</a:t>
            </a:r>
            <a:endParaRPr lang="en-GB" sz="2800" b="1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GB" sz="2800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Interpretation</a:t>
            </a:r>
          </a:p>
          <a:p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Visualisation</a:t>
            </a:r>
          </a:p>
          <a:p>
            <a:r>
              <a:rPr lang="en-GB" sz="2800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Fine-tuning</a:t>
            </a:r>
          </a:p>
        </p:txBody>
      </p:sp>
    </p:spTree>
    <p:extLst>
      <p:ext uri="{BB962C8B-B14F-4D97-AF65-F5344CB8AC3E}">
        <p14:creationId xmlns:p14="http://schemas.microsoft.com/office/powerpoint/2010/main" val="1379627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C481-FD81-2A32-DCA2-D43EDB9A5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C07FDA9-6894-E4A4-FE19-37F2327078AC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51D6CC1-2F70-3A39-2829-449D037539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829B5F0-D0D8-99E3-A163-DECB578C6E23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D0D906C-5DAD-A405-AE9F-2974442CC04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CCA785-826C-8192-2A4F-9A06846DB4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EEB77CE1-300E-D7F3-AB11-0C988F53D5B6}"/>
              </a:ext>
            </a:extLst>
          </p:cNvPr>
          <p:cNvSpPr txBox="1"/>
          <p:nvPr/>
        </p:nvSpPr>
        <p:spPr>
          <a:xfrm>
            <a:off x="524461" y="2502626"/>
            <a:ext cx="9031701" cy="1299413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/>
              <a:t>Every day we generate more text than any person can read.</a:t>
            </a:r>
          </a:p>
          <a:p>
            <a:endParaRPr lang="en-GB" sz="2800" dirty="0"/>
          </a:p>
          <a:p>
            <a:r>
              <a:rPr lang="en-GB" sz="2800" dirty="0"/>
              <a:t>Journals, policy documents, reports, news, social media…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B5AE5E-097C-F458-79DC-79E3ECA2E4F9}"/>
              </a:ext>
            </a:extLst>
          </p:cNvPr>
          <p:cNvSpPr txBox="1"/>
          <p:nvPr/>
        </p:nvSpPr>
        <p:spPr>
          <a:xfrm>
            <a:off x="192508" y="1197627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Billions of texts. What are they saying?</a:t>
            </a:r>
          </a:p>
        </p:txBody>
      </p:sp>
    </p:spTree>
    <p:extLst>
      <p:ext uri="{BB962C8B-B14F-4D97-AF65-F5344CB8AC3E}">
        <p14:creationId xmlns:p14="http://schemas.microsoft.com/office/powerpoint/2010/main" val="1743855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4D17E-6EF9-844C-DE38-D8CE8D7A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A71E76F-29A6-C949-8BA6-A112DACAFFAF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50EDB6-7DAD-9C51-D669-D9203C288AC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1FB2A96-D8EC-FD9F-0B91-422BF45EC7D9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ACA0761-9A4E-7BC4-51F0-267E6B6CAA2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DE51364-FD13-2A87-C040-F50DBB504D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0CB3A6A1-1C62-8D77-8558-A3E7B8390CD3}"/>
              </a:ext>
            </a:extLst>
          </p:cNvPr>
          <p:cNvSpPr txBox="1"/>
          <p:nvPr/>
        </p:nvSpPr>
        <p:spPr>
          <a:xfrm>
            <a:off x="1092700" y="1447040"/>
            <a:ext cx="7895224" cy="2161187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/>
              <a:t>We want to (quickly) discover what people are talking about?</a:t>
            </a:r>
          </a:p>
          <a:p>
            <a:endParaRPr lang="en-GB" sz="2800" dirty="0"/>
          </a:p>
          <a:p>
            <a:r>
              <a:rPr lang="en-GB" sz="2800" dirty="0">
                <a:solidFill>
                  <a:srgbClr val="FE0E67"/>
                </a:solidFill>
              </a:rPr>
              <a:t>Where do you start? </a:t>
            </a:r>
          </a:p>
          <a:p>
            <a:r>
              <a:rPr lang="en-GB" sz="2800" dirty="0">
                <a:solidFill>
                  <a:srgbClr val="FE0E67"/>
                </a:solidFill>
              </a:rPr>
              <a:t>How can we make sense of the text?</a:t>
            </a:r>
          </a:p>
        </p:txBody>
      </p:sp>
    </p:spTree>
    <p:extLst>
      <p:ext uri="{BB962C8B-B14F-4D97-AF65-F5344CB8AC3E}">
        <p14:creationId xmlns:p14="http://schemas.microsoft.com/office/powerpoint/2010/main" val="3308178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C254E-95C4-4F1F-AC81-ABA506431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58EB58-108D-1D06-8771-8EDA1C1A5025}"/>
              </a:ext>
            </a:extLst>
          </p:cNvPr>
          <p:cNvSpPr/>
          <p:nvPr/>
        </p:nvSpPr>
        <p:spPr>
          <a:xfrm>
            <a:off x="0" y="4914503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5E95CF-C3C1-1B43-0F9E-1BBD6C6B77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735F343-73C8-DF85-EAA6-57F5A33A96E9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656EB4C-8BB4-E1C1-F61F-0C032F1FE85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5A0B79B-5B30-32AF-935E-74CFB1C31A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F43E239-3A7B-E05C-E8F1-7FD316F2B86F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Know your data, know your goal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D2F1A784-9B45-ABE6-B90B-E727171ECC64}"/>
              </a:ext>
            </a:extLst>
          </p:cNvPr>
          <p:cNvSpPr txBox="1"/>
          <p:nvPr/>
        </p:nvSpPr>
        <p:spPr>
          <a:xfrm>
            <a:off x="545715" y="1496967"/>
            <a:ext cx="9295446" cy="2961406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400" b="1" dirty="0"/>
              <a:t>Q1. What do you know about your data?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Metadata: source, timeframe, language, how it was collected?..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Content: general topic, coherence, length, etc.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r>
              <a:rPr lang="en-GB" sz="2400" b="1" dirty="0"/>
              <a:t>Q2. What is your analytical goal?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Exploring patterns in a collection of documents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Classify documents into categories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/>
              <a:t>Analysing meaning, framing and discourse in texts</a:t>
            </a:r>
          </a:p>
        </p:txBody>
      </p:sp>
    </p:spTree>
    <p:extLst>
      <p:ext uri="{BB962C8B-B14F-4D97-AF65-F5344CB8AC3E}">
        <p14:creationId xmlns:p14="http://schemas.microsoft.com/office/powerpoint/2010/main" val="3512553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8397C-39BB-28EA-7CF2-B49DD7059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A80D9E6-CD45-5D43-1F0C-78ED3B682878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8E28C683-CA9A-3042-AA39-D7055EBFF7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5749C44-8D81-03F9-9A64-51407BE40EF7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 descr="A logo with text on it&#10;&#10;AI-generated content may be incorrect.">
            <a:extLst>
              <a:ext uri="{FF2B5EF4-FFF2-40B4-BE49-F238E27FC236}">
                <a16:creationId xmlns:a16="http://schemas.microsoft.com/office/drawing/2014/main" id="{4EA48FC3-B5A3-95A8-E53F-823BA0342E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8BEE8720-2BC4-4743-3CD6-1F81A8E3A7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F5E989-8AE4-3D45-FC35-3F4C6467A958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Supervised &amp; Unsupervised learning in NLP</a:t>
            </a: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E4B6BED2-4F74-4671-D9E6-66C91965D698}"/>
              </a:ext>
            </a:extLst>
          </p:cNvPr>
          <p:cNvSpPr txBox="1"/>
          <p:nvPr/>
        </p:nvSpPr>
        <p:spPr>
          <a:xfrm>
            <a:off x="577677" y="1394655"/>
            <a:ext cx="9263484" cy="148407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400" dirty="0">
                <a:solidFill>
                  <a:srgbClr val="FE0E67"/>
                </a:solidFill>
              </a:rPr>
              <a:t>Supervised learning </a:t>
            </a:r>
            <a:r>
              <a:rPr lang="en-GB" sz="2400" dirty="0"/>
              <a:t>such as </a:t>
            </a:r>
            <a:r>
              <a:rPr lang="en-GB" sz="2400" dirty="0">
                <a:solidFill>
                  <a:srgbClr val="FE0E67"/>
                </a:solidFill>
              </a:rPr>
              <a:t>text classification</a:t>
            </a:r>
            <a:r>
              <a:rPr lang="en-GB" sz="2400" dirty="0"/>
              <a:t>, can be used to:</a:t>
            </a:r>
            <a:endParaRPr lang="en-US" sz="2400" dirty="0"/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US" sz="2400" dirty="0"/>
              <a:t>Train a model that can later detect or predict a “defined label”.</a:t>
            </a:r>
            <a:endParaRPr lang="en-GB" sz="2400" dirty="0"/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US" sz="2400" dirty="0"/>
              <a:t>Validate and test coding scheme.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endParaRPr lang="en-GB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52848D-05C5-71A3-A4C8-01364E3D058F}"/>
              </a:ext>
            </a:extLst>
          </p:cNvPr>
          <p:cNvSpPr txBox="1"/>
          <p:nvPr/>
        </p:nvSpPr>
        <p:spPr>
          <a:xfrm>
            <a:off x="4182839" y="2675184"/>
            <a:ext cx="546709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en-GB" sz="2400" dirty="0"/>
              <a:t>You’ll get: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dirty="0"/>
              <a:t>A trained model that can assign predicted label(s) to new data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dirty="0"/>
              <a:t>Evaluation metrics that help you assess the model performance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7AFCAB-C878-3A39-B024-4BD78DBFD27C}"/>
              </a:ext>
            </a:extLst>
          </p:cNvPr>
          <p:cNvSpPr txBox="1"/>
          <p:nvPr/>
        </p:nvSpPr>
        <p:spPr>
          <a:xfrm>
            <a:off x="430689" y="2675184"/>
            <a:ext cx="508063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en-GB" sz="2400" dirty="0"/>
              <a:t>You’ll need: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dirty="0"/>
              <a:t>A defined label set 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b="1" dirty="0"/>
              <a:t>Labelled</a:t>
            </a:r>
            <a:r>
              <a:rPr lang="en-GB" sz="2400" dirty="0"/>
              <a:t> documents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dirty="0"/>
              <a:t>Model configurations</a:t>
            </a:r>
          </a:p>
        </p:txBody>
      </p:sp>
    </p:spTree>
    <p:extLst>
      <p:ext uri="{BB962C8B-B14F-4D97-AF65-F5344CB8AC3E}">
        <p14:creationId xmlns:p14="http://schemas.microsoft.com/office/powerpoint/2010/main" val="2649567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FD44B-92A6-2C8D-5527-D7CBD4B1F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78524A-140D-F8A0-D06E-F7D43B9CA3BC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B5ABC0E4-4830-7085-D1FE-EC0DD1D5E11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71776FE-C4F9-12D1-3204-460130FF1C65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 descr="A logo with text on it&#10;&#10;AI-generated content may be incorrect.">
            <a:extLst>
              <a:ext uri="{FF2B5EF4-FFF2-40B4-BE49-F238E27FC236}">
                <a16:creationId xmlns:a16="http://schemas.microsoft.com/office/drawing/2014/main" id="{51196791-A758-A70F-83C5-69058769E29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F985D31F-FF6F-A60F-F1BB-CC3A857081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8AD4C08-9F9C-7F8B-707C-66E9942824A3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Supervised &amp; Unsupervised learning in NLP</a:t>
            </a: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B9CC04C1-BEB1-B329-B02F-6861D778A4BB}"/>
              </a:ext>
            </a:extLst>
          </p:cNvPr>
          <p:cNvSpPr txBox="1"/>
          <p:nvPr/>
        </p:nvSpPr>
        <p:spPr>
          <a:xfrm>
            <a:off x="577677" y="1394655"/>
            <a:ext cx="9263484" cy="148407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400" dirty="0">
                <a:solidFill>
                  <a:srgbClr val="FE0E67"/>
                </a:solidFill>
              </a:rPr>
              <a:t>Unsupervised learning </a:t>
            </a:r>
            <a:r>
              <a:rPr lang="en-GB" sz="2400" dirty="0"/>
              <a:t>, such as </a:t>
            </a:r>
            <a:r>
              <a:rPr lang="en-GB" sz="2400" dirty="0">
                <a:solidFill>
                  <a:srgbClr val="FE0E67"/>
                </a:solidFill>
              </a:rPr>
              <a:t>topic modelling </a:t>
            </a:r>
            <a:r>
              <a:rPr lang="en-GB" sz="2400" dirty="0"/>
              <a:t>can be used to:</a:t>
            </a:r>
            <a:endParaRPr lang="en-US" sz="2400" dirty="0"/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US" sz="2400" dirty="0"/>
              <a:t>Train a model that can later detect or predict a “defined label”.</a:t>
            </a:r>
            <a:endParaRPr lang="en-GB" sz="2400" dirty="0"/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US" sz="2400" dirty="0"/>
              <a:t>Validate and test coding scheme.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endParaRPr lang="en-GB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855408-F7FC-56A8-E31F-FD2FFD399798}"/>
              </a:ext>
            </a:extLst>
          </p:cNvPr>
          <p:cNvSpPr txBox="1"/>
          <p:nvPr/>
        </p:nvSpPr>
        <p:spPr>
          <a:xfrm>
            <a:off x="4469130" y="2675184"/>
            <a:ext cx="5180806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en-GB" sz="2400" dirty="0"/>
              <a:t>You’ll get:</a:t>
            </a:r>
          </a:p>
          <a:p>
            <a:pPr marL="285750" lvl="0" indent="-285750" defTabSz="756026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GB" sz="2400" dirty="0"/>
              <a:t>Topics/clusters described by keywords/representative texts</a:t>
            </a:r>
          </a:p>
          <a:p>
            <a:pPr marL="285750" lvl="0" indent="-285750" defTabSz="756026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GB" sz="2400" dirty="0"/>
              <a:t>Topic–document relationships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4CAC00-F61E-3548-446A-9BA1DCA54FDD}"/>
              </a:ext>
            </a:extLst>
          </p:cNvPr>
          <p:cNvSpPr txBox="1"/>
          <p:nvPr/>
        </p:nvSpPr>
        <p:spPr>
          <a:xfrm>
            <a:off x="430689" y="2675184"/>
            <a:ext cx="508063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en-GB" sz="2400" dirty="0"/>
              <a:t>You’ll need: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dirty="0"/>
              <a:t>An optional label set 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b="1" dirty="0"/>
              <a:t>(Unlabelled)</a:t>
            </a:r>
            <a:r>
              <a:rPr lang="en-GB" sz="2400" dirty="0"/>
              <a:t> documents</a:t>
            </a:r>
          </a:p>
          <a:p>
            <a:pPr marL="342900" indent="-342900" fontAlgn="t">
              <a:buFont typeface="Arial" panose="020B0604020202020204" pitchFamily="34" charset="0"/>
              <a:buChar char="•"/>
            </a:pPr>
            <a:r>
              <a:rPr lang="en-GB" sz="2400" dirty="0"/>
              <a:t>Model configurations</a:t>
            </a:r>
          </a:p>
        </p:txBody>
      </p:sp>
    </p:spTree>
    <p:extLst>
      <p:ext uri="{BB962C8B-B14F-4D97-AF65-F5344CB8AC3E}">
        <p14:creationId xmlns:p14="http://schemas.microsoft.com/office/powerpoint/2010/main" val="2443380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EA095-2DC6-67EE-11C3-94B9DB21F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1CBA18E-7C8A-FA76-1392-59994425E656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067B83EB-9896-C212-5EDA-620B066D6E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F85830C-52A2-AD56-7D7B-2B4264164510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 descr="A logo with text on it&#10;&#10;AI-generated content may be incorrect.">
            <a:extLst>
              <a:ext uri="{FF2B5EF4-FFF2-40B4-BE49-F238E27FC236}">
                <a16:creationId xmlns:a16="http://schemas.microsoft.com/office/drawing/2014/main" id="{58936955-CEC1-ED58-A3CF-B1B791E4B90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CFF893E6-2719-8E9B-C1A4-C41742EFA4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28801A-869F-7054-6E30-823269830BFB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When do you use topic modelling in NLP?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3CCB5F-584D-681C-97E6-1E97922EF3A2}"/>
              </a:ext>
            </a:extLst>
          </p:cNvPr>
          <p:cNvGraphicFramePr>
            <a:graphicFrameLocks noGrp="1"/>
          </p:cNvGraphicFramePr>
          <p:nvPr/>
        </p:nvGraphicFramePr>
        <p:xfrm>
          <a:off x="240617" y="1424049"/>
          <a:ext cx="9639075" cy="3144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9655">
                  <a:extLst>
                    <a:ext uri="{9D8B030D-6E8A-4147-A177-3AD203B41FA5}">
                      <a16:colId xmlns:a16="http://schemas.microsoft.com/office/drawing/2014/main" val="2227234065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488205175"/>
                    </a:ext>
                  </a:extLst>
                </a:gridCol>
                <a:gridCol w="2693074">
                  <a:extLst>
                    <a:ext uri="{9D8B030D-6E8A-4147-A177-3AD203B41FA5}">
                      <a16:colId xmlns:a16="http://schemas.microsoft.com/office/drawing/2014/main" val="2862709746"/>
                    </a:ext>
                  </a:extLst>
                </a:gridCol>
                <a:gridCol w="1433156">
                  <a:extLst>
                    <a:ext uri="{9D8B030D-6E8A-4147-A177-3AD203B41FA5}">
                      <a16:colId xmlns:a16="http://schemas.microsoft.com/office/drawing/2014/main" val="3669766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Input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Output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Choice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8284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Detection and prediction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Validate and test coding scheme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dirty="0"/>
                        <a:t>A defined label set 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b="1" dirty="0"/>
                        <a:t>Labelled</a:t>
                      </a:r>
                      <a:r>
                        <a:rPr lang="en-GB" sz="1600" dirty="0"/>
                        <a:t> documents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dirty="0"/>
                        <a:t>Model configurations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dirty="0"/>
                        <a:t>Predicted label(s) for new documents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dirty="0"/>
                        <a:t>Evaluation metrics on 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supervised learning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722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marR="0" lvl="0" indent="-28575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Discover themes/patterns</a:t>
                      </a:r>
                    </a:p>
                    <a:p>
                      <a:pPr marL="285750" marR="0" lvl="0" indent="-28575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Generate candidate codes for qualitative analysis</a:t>
                      </a:r>
                    </a:p>
                    <a:p>
                      <a:pPr marL="285750" marR="0" lvl="0" indent="-28575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Support sense-making and sampling for close reading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b="0" dirty="0">
                          <a:solidFill>
                            <a:schemeClr val="tx1"/>
                          </a:solidFill>
                        </a:rPr>
                        <a:t>A defined label set (opt.)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Unlabelled</a:t>
                      </a: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 documents</a:t>
                      </a:r>
                    </a:p>
                    <a:p>
                      <a:pPr marL="285750" marR="0" lvl="0" indent="-28575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600" dirty="0"/>
                        <a:t>Model configurations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Topics/clusters described by keywords/representative texts</a:t>
                      </a:r>
                    </a:p>
                    <a:p>
                      <a:pPr marL="285750" marR="0" lvl="0" indent="-28575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Topic–document relationships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unsupervised learning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7560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E0E67"/>
                          </a:solidFill>
                        </a:rPr>
                        <a:t>Topic modelling</a:t>
                      </a:r>
                      <a:endParaRPr lang="en-GB" sz="1600" dirty="0">
                        <a:solidFill>
                          <a:srgbClr val="FE0E67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6896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3354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86B56-0850-38EB-6160-BA5249D5A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688A028-3AED-A982-6694-4147854AAD8A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6C852824-CF92-1412-94E6-1E91F2821A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60B7504-5B3C-DE50-9CC7-3E2C66DFD367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 descr="A logo with text on it&#10;&#10;AI-generated content may be incorrect.">
            <a:extLst>
              <a:ext uri="{FF2B5EF4-FFF2-40B4-BE49-F238E27FC236}">
                <a16:creationId xmlns:a16="http://schemas.microsoft.com/office/drawing/2014/main" id="{441F3D2F-940E-219F-16D4-B643E1C0691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92735AF5-B6CB-1E7E-1DCF-BAF8FC376E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2" name="object 3">
            <a:extLst>
              <a:ext uri="{FF2B5EF4-FFF2-40B4-BE49-F238E27FC236}">
                <a16:creationId xmlns:a16="http://schemas.microsoft.com/office/drawing/2014/main" id="{00EF0303-6960-7B30-F20A-CB48F0AA40DD}"/>
              </a:ext>
            </a:extLst>
          </p:cNvPr>
          <p:cNvSpPr txBox="1"/>
          <p:nvPr/>
        </p:nvSpPr>
        <p:spPr>
          <a:xfrm>
            <a:off x="1149690" y="2004673"/>
            <a:ext cx="8489086" cy="991636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3200" b="1" dirty="0"/>
              <a:t>Machine learning methods cannot replace human interpretation. </a:t>
            </a:r>
          </a:p>
        </p:txBody>
      </p:sp>
    </p:spTree>
    <p:extLst>
      <p:ext uri="{BB962C8B-B14F-4D97-AF65-F5344CB8AC3E}">
        <p14:creationId xmlns:p14="http://schemas.microsoft.com/office/powerpoint/2010/main" val="333164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D5E8A-AFCD-A6AD-BFB2-18E59216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B741CD8-A03B-C3AC-1EFF-C3EE527852EC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E378C0-AD9B-3573-9100-622F6629200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0025F2A-A673-938E-D430-AE0F20C0CF69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DF0F3E1-ADA4-4D9C-7CA3-15796357611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E289F57-5FDB-A4BA-A067-04C76CAE01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2204ECA-DD87-37B2-7DED-890608697F1A}"/>
              </a:ext>
            </a:extLst>
          </p:cNvPr>
          <p:cNvSpPr txBox="1"/>
          <p:nvPr/>
        </p:nvSpPr>
        <p:spPr>
          <a:xfrm>
            <a:off x="259306" y="2261646"/>
            <a:ext cx="9562012" cy="630340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600" b="1" dirty="0">
                <a:solidFill>
                  <a:schemeClr val="tx2"/>
                </a:solidFill>
                <a:latin typeface="Verdana Pro Cond"/>
                <a:cs typeface="Calibri"/>
              </a:rPr>
              <a:t>How does topic modelling work?</a:t>
            </a:r>
          </a:p>
        </p:txBody>
      </p:sp>
    </p:spTree>
    <p:extLst>
      <p:ext uri="{BB962C8B-B14F-4D97-AF65-F5344CB8AC3E}">
        <p14:creationId xmlns:p14="http://schemas.microsoft.com/office/powerpoint/2010/main" val="3215878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5EFA8-E6AF-F1BE-F8B0-83079C3BD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A633545-6254-FB0C-07C9-CB1EE3A0D511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38E09B-68CB-BF9E-DBCB-F1F0805E3C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2DB387F-EFF2-E394-CC42-DA8433EE8577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DCBC0CC-931E-5A1D-2E58-74D1BC855FF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575CBD8-EA6D-5DEF-5BE9-BB06647938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65CE860B-A859-5393-B698-302D1A43E281}"/>
              </a:ext>
            </a:extLst>
          </p:cNvPr>
          <p:cNvSpPr txBox="1"/>
          <p:nvPr/>
        </p:nvSpPr>
        <p:spPr>
          <a:xfrm>
            <a:off x="577608" y="1444028"/>
            <a:ext cx="9263484" cy="3022962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/>
              <a:t>a statistical method to discover topics in a set of documents</a:t>
            </a:r>
          </a:p>
          <a:p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GB" sz="2800" dirty="0"/>
              <a:t>Cleaning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/>
              <a:t>Tokenisation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/>
              <a:t>Representation (turn text into numbers)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/>
              <a:t>Train model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/>
              <a:t>Evaluation + visualisation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D58DE2-4854-0E30-6A6B-C57F62353077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Topic modelling: technical workflow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71F6E2E2-CFED-7693-45C1-1240363AB1C1}"/>
              </a:ext>
            </a:extLst>
          </p:cNvPr>
          <p:cNvSpPr txBox="1"/>
          <p:nvPr/>
        </p:nvSpPr>
        <p:spPr>
          <a:xfrm>
            <a:off x="6713328" y="2293405"/>
            <a:ext cx="2882412" cy="437638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 err="1">
                <a:solidFill>
                  <a:srgbClr val="FE0E67"/>
                </a:solidFill>
              </a:rPr>
              <a:t>BERTopic</a:t>
            </a:r>
            <a:r>
              <a:rPr lang="en-GB" sz="2800" dirty="0">
                <a:solidFill>
                  <a:srgbClr val="FE0E67"/>
                </a:solidFill>
              </a:rPr>
              <a:t> </a:t>
            </a:r>
            <a:r>
              <a:rPr lang="en-GB" sz="2800" dirty="0" err="1">
                <a:solidFill>
                  <a:srgbClr val="FE0E67"/>
                </a:solidFill>
              </a:rPr>
              <a:t>v.s</a:t>
            </a:r>
            <a:r>
              <a:rPr lang="en-GB" sz="2800" dirty="0">
                <a:solidFill>
                  <a:srgbClr val="FE0E67"/>
                </a:solidFill>
              </a:rPr>
              <a:t> LDA</a:t>
            </a:r>
          </a:p>
        </p:txBody>
      </p:sp>
      <p:sp>
        <p:nvSpPr>
          <p:cNvPr id="10" name="Bent Up Arrow 9">
            <a:extLst>
              <a:ext uri="{FF2B5EF4-FFF2-40B4-BE49-F238E27FC236}">
                <a16:creationId xmlns:a16="http://schemas.microsoft.com/office/drawing/2014/main" id="{BD747AA2-C9D6-672B-2825-B6DE3206BB87}"/>
              </a:ext>
            </a:extLst>
          </p:cNvPr>
          <p:cNvSpPr/>
          <p:nvPr/>
        </p:nvSpPr>
        <p:spPr>
          <a:xfrm rot="5400000" flipV="1">
            <a:off x="7529211" y="2907033"/>
            <a:ext cx="565048" cy="629996"/>
          </a:xfrm>
          <a:prstGeom prst="bentUpArrow">
            <a:avLst>
              <a:gd name="adj1" fmla="val 12610"/>
              <a:gd name="adj2" fmla="val 2500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135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2543-3800-DE7E-EA59-3306F4CEE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5E5C7E6-65FE-F1FB-0D3A-1B34E4C49D59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8BD79A-6BC2-2C90-4B2A-272954ADD75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A09B92C-4C4A-056F-70C5-6722844EFFE6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38E99EE-2D2F-8EAD-EBC4-17E39BFDCA5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2567A9C-4FF2-F02D-151C-F1A66E1F82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FE7AA3DB-799B-84C4-D1B3-B6312E003137}"/>
              </a:ext>
            </a:extLst>
          </p:cNvPr>
          <p:cNvSpPr txBox="1"/>
          <p:nvPr/>
        </p:nvSpPr>
        <p:spPr>
          <a:xfrm>
            <a:off x="629841" y="1618252"/>
            <a:ext cx="5908119" cy="2123293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 err="1"/>
              <a:t>BoW</a:t>
            </a:r>
            <a:r>
              <a:rPr lang="en-GB" sz="2400" dirty="0"/>
              <a:t>:  What words are there?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TF-IDF: Which words matter most?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BERT: What does the word mean here?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3DDF7C-F688-9C10-444F-209E17ADAFEB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Text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18282792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421F6-E162-12CC-EE24-9C879800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4B786B9-DBD4-7D5C-AFE3-71F6658C95EA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7C5039-0747-9936-2226-19C17B4075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B4AFD3A-4A32-18F6-6051-D6EE1E6C42F2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8584DB-1997-B4C1-BF66-4A072CD62AD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0F7B7F8-F7FF-D344-441E-C63BE7402E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0AE72116-29FA-53E2-C76E-58C01FE68455}"/>
              </a:ext>
            </a:extLst>
          </p:cNvPr>
          <p:cNvSpPr txBox="1"/>
          <p:nvPr/>
        </p:nvSpPr>
        <p:spPr>
          <a:xfrm>
            <a:off x="496319" y="1450038"/>
            <a:ext cx="6081326" cy="3207628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000" b="1" dirty="0"/>
              <a:t>Corpus containing 2 texts:</a:t>
            </a:r>
          </a:p>
          <a:p>
            <a:endParaRPr lang="en-GB" sz="2400" b="1" dirty="0"/>
          </a:p>
          <a:p>
            <a:r>
              <a:rPr lang="en-GB" sz="2000" b="1" dirty="0"/>
              <a:t>Text 1:</a:t>
            </a:r>
            <a:br>
              <a:rPr lang="en-GB" sz="2000" dirty="0"/>
            </a:br>
            <a:r>
              <a:rPr lang="en-GB" sz="2000" dirty="0"/>
              <a:t>I went to the </a:t>
            </a:r>
            <a:r>
              <a:rPr lang="en-GB" sz="2000" b="1" dirty="0"/>
              <a:t>bank</a:t>
            </a:r>
            <a:r>
              <a:rPr lang="en-GB" sz="2000" dirty="0"/>
              <a:t> to check my </a:t>
            </a:r>
            <a:r>
              <a:rPr lang="en-GB" sz="2000" b="1" dirty="0"/>
              <a:t>interest</a:t>
            </a:r>
            <a:r>
              <a:rPr lang="en-GB" sz="2000" dirty="0"/>
              <a:t> and a </a:t>
            </a:r>
            <a:r>
              <a:rPr lang="en-GB" sz="2000" b="1" dirty="0"/>
              <a:t>charge</a:t>
            </a:r>
            <a:r>
              <a:rPr lang="en-GB" sz="2000" dirty="0"/>
              <a:t> on my account, but the </a:t>
            </a:r>
            <a:r>
              <a:rPr lang="en-GB" sz="2000" b="1" dirty="0"/>
              <a:t>current</a:t>
            </a:r>
            <a:r>
              <a:rPr lang="en-GB" sz="2000" dirty="0"/>
              <a:t> balance looked wrong.</a:t>
            </a:r>
            <a:br>
              <a:rPr lang="en-GB" sz="2000" dirty="0"/>
            </a:br>
            <a:endParaRPr lang="en-GB" sz="2000" dirty="0"/>
          </a:p>
          <a:p>
            <a:r>
              <a:rPr lang="en-GB" sz="2000" b="1" dirty="0"/>
              <a:t>Text 2 :</a:t>
            </a:r>
            <a:br>
              <a:rPr lang="en-GB" sz="2000" dirty="0"/>
            </a:br>
            <a:r>
              <a:rPr lang="en-GB" sz="2000" dirty="0"/>
              <a:t>The </a:t>
            </a:r>
            <a:r>
              <a:rPr lang="en-GB" sz="2000" b="1" dirty="0"/>
              <a:t>current</a:t>
            </a:r>
            <a:r>
              <a:rPr lang="en-GB" sz="2000" dirty="0"/>
              <a:t> in the </a:t>
            </a:r>
            <a:r>
              <a:rPr lang="en-GB" sz="2000" b="1" dirty="0"/>
              <a:t>stream</a:t>
            </a:r>
            <a:r>
              <a:rPr lang="en-GB" sz="2000" dirty="0"/>
              <a:t> created a steady </a:t>
            </a:r>
            <a:r>
              <a:rPr lang="en-GB" sz="2000" b="1" dirty="0"/>
              <a:t>flow</a:t>
            </a:r>
            <a:r>
              <a:rPr lang="en-GB" sz="2000" dirty="0"/>
              <a:t> of water, while the </a:t>
            </a:r>
            <a:r>
              <a:rPr lang="en-GB" sz="2000" b="1" dirty="0"/>
              <a:t>battery</a:t>
            </a:r>
            <a:r>
              <a:rPr lang="en-GB" sz="2000" dirty="0"/>
              <a:t> powered a </a:t>
            </a:r>
            <a:r>
              <a:rPr lang="en-GB" sz="2000" b="1" dirty="0"/>
              <a:t>light</a:t>
            </a:r>
            <a:r>
              <a:rPr lang="en-GB" sz="2000" dirty="0"/>
              <a:t> in the open </a:t>
            </a:r>
            <a:r>
              <a:rPr lang="en-GB" sz="2000" b="1" dirty="0"/>
              <a:t>field</a:t>
            </a:r>
            <a:r>
              <a:rPr lang="en-GB" sz="2000" dirty="0"/>
              <a:t> near the </a:t>
            </a:r>
            <a:r>
              <a:rPr lang="en-GB" sz="2000" b="1" dirty="0"/>
              <a:t>bank</a:t>
            </a:r>
            <a:r>
              <a:rPr lang="en-GB" sz="200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249D8D-7619-85CF-2B07-7940564D6109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Text Representation - </a:t>
            </a:r>
            <a:r>
              <a:rPr lang="en-GB" sz="3200" b="1" dirty="0" err="1">
                <a:solidFill>
                  <a:schemeClr val="tx2"/>
                </a:solidFill>
                <a:latin typeface="Verdana Pro Cond"/>
                <a:cs typeface="Calibri"/>
              </a:rPr>
              <a:t>BoW</a:t>
            </a:r>
            <a:endParaRPr lang="en-GB" sz="3200" b="1" dirty="0">
              <a:solidFill>
                <a:schemeClr val="tx2"/>
              </a:solidFill>
              <a:latin typeface="Verdana Pro Cond"/>
              <a:cs typeface="Calibri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075C9BB-E168-CEA3-4E25-12EEBF8A50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059835"/>
              </p:ext>
            </p:extLst>
          </p:nvPr>
        </p:nvGraphicFramePr>
        <p:xfrm>
          <a:off x="6775061" y="1504195"/>
          <a:ext cx="3026415" cy="3200400"/>
        </p:xfrm>
        <a:graphic>
          <a:graphicData uri="http://schemas.openxmlformats.org/drawingml/2006/table">
            <a:tbl>
              <a:tblPr/>
              <a:tblGrid>
                <a:gridCol w="1008805">
                  <a:extLst>
                    <a:ext uri="{9D8B030D-6E8A-4147-A177-3AD203B41FA5}">
                      <a16:colId xmlns:a16="http://schemas.microsoft.com/office/drawing/2014/main" val="1305334554"/>
                    </a:ext>
                  </a:extLst>
                </a:gridCol>
                <a:gridCol w="1008805">
                  <a:extLst>
                    <a:ext uri="{9D8B030D-6E8A-4147-A177-3AD203B41FA5}">
                      <a16:colId xmlns:a16="http://schemas.microsoft.com/office/drawing/2014/main" val="3842602155"/>
                    </a:ext>
                  </a:extLst>
                </a:gridCol>
                <a:gridCol w="1008805">
                  <a:extLst>
                    <a:ext uri="{9D8B030D-6E8A-4147-A177-3AD203B41FA5}">
                      <a16:colId xmlns:a16="http://schemas.microsoft.com/office/drawing/2014/main" val="3165528772"/>
                    </a:ext>
                  </a:extLst>
                </a:gridCol>
              </a:tblGrid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Word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T1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T2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3398150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>
                          <a:solidFill>
                            <a:srgbClr val="FE0E67"/>
                          </a:solidFill>
                        </a:rPr>
                        <a:t>bank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686589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interest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7776998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charge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7175335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>
                          <a:solidFill>
                            <a:srgbClr val="FE0E67"/>
                          </a:solidFill>
                        </a:rPr>
                        <a:t>current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8200697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battery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4754091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light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3407542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stream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0711824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field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4731340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87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9637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5F73-13A0-3E14-FF59-BD928F3BB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084877-05D6-BF9D-DE06-DD20104EF7D9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B3601A0-886B-C7D1-6842-DD00FE94217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5507B24-D72D-BA89-F5FD-173407C3F3DD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7116D09-0B9B-B700-2FF6-4532429A7B6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F849D90-CF1D-8D9D-73C9-4BAC160B82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69EF0A18-3038-2F71-2C68-730F07D9B4D9}"/>
              </a:ext>
            </a:extLst>
          </p:cNvPr>
          <p:cNvSpPr txBox="1"/>
          <p:nvPr/>
        </p:nvSpPr>
        <p:spPr>
          <a:xfrm>
            <a:off x="355825" y="1403837"/>
            <a:ext cx="4833396" cy="345384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000" b="1" dirty="0"/>
              <a:t>Corpus containing 2 texts:</a:t>
            </a:r>
          </a:p>
          <a:p>
            <a:endParaRPr lang="en-GB" sz="2400" b="1" dirty="0"/>
          </a:p>
          <a:p>
            <a:r>
              <a:rPr lang="en-GB" sz="2000" b="1" dirty="0"/>
              <a:t>Text 1:</a:t>
            </a:r>
            <a:br>
              <a:rPr lang="en-GB" sz="2000" dirty="0"/>
            </a:br>
            <a:r>
              <a:rPr lang="en-GB" sz="2000" dirty="0"/>
              <a:t>I went to the </a:t>
            </a:r>
            <a:r>
              <a:rPr lang="en-GB" sz="2000" b="1" dirty="0"/>
              <a:t>bank</a:t>
            </a:r>
            <a:r>
              <a:rPr lang="en-GB" sz="2000" dirty="0"/>
              <a:t> to check my </a:t>
            </a:r>
            <a:r>
              <a:rPr lang="en-GB" sz="2000" b="1" dirty="0"/>
              <a:t>interest</a:t>
            </a:r>
            <a:r>
              <a:rPr lang="en-GB" sz="2000" dirty="0"/>
              <a:t> and a </a:t>
            </a:r>
            <a:r>
              <a:rPr lang="en-GB" sz="2000" b="1" dirty="0"/>
              <a:t>charge</a:t>
            </a:r>
            <a:r>
              <a:rPr lang="en-GB" sz="2000" dirty="0"/>
              <a:t> on my account, but the </a:t>
            </a:r>
            <a:r>
              <a:rPr lang="en-GB" sz="2000" b="1" dirty="0"/>
              <a:t>current</a:t>
            </a:r>
            <a:r>
              <a:rPr lang="en-GB" sz="2000" dirty="0"/>
              <a:t> balance looked wrong.</a:t>
            </a:r>
            <a:br>
              <a:rPr lang="en-GB" sz="2000" dirty="0"/>
            </a:br>
            <a:endParaRPr lang="en-GB" sz="2000" dirty="0"/>
          </a:p>
          <a:p>
            <a:r>
              <a:rPr lang="en-GB" sz="2000" b="1" dirty="0"/>
              <a:t>Text 2 :</a:t>
            </a:r>
            <a:br>
              <a:rPr lang="en-GB" sz="2000" dirty="0"/>
            </a:br>
            <a:r>
              <a:rPr lang="en-GB" sz="2000" dirty="0"/>
              <a:t>The </a:t>
            </a:r>
            <a:r>
              <a:rPr lang="en-GB" sz="2000" b="1" dirty="0"/>
              <a:t>current</a:t>
            </a:r>
            <a:r>
              <a:rPr lang="en-GB" sz="2000" dirty="0"/>
              <a:t> in the </a:t>
            </a:r>
            <a:r>
              <a:rPr lang="en-GB" sz="2000" b="1" dirty="0"/>
              <a:t>stream</a:t>
            </a:r>
            <a:r>
              <a:rPr lang="en-GB" sz="2000" dirty="0"/>
              <a:t> created a steady </a:t>
            </a:r>
            <a:r>
              <a:rPr lang="en-GB" sz="2000" b="1" dirty="0"/>
              <a:t>flow</a:t>
            </a:r>
            <a:r>
              <a:rPr lang="en-GB" sz="2000" dirty="0"/>
              <a:t> of water, while the </a:t>
            </a:r>
            <a:r>
              <a:rPr lang="en-GB" sz="2000" b="1" dirty="0"/>
              <a:t>battery</a:t>
            </a:r>
            <a:r>
              <a:rPr lang="en-GB" sz="2000" dirty="0"/>
              <a:t> powered a </a:t>
            </a:r>
            <a:r>
              <a:rPr lang="en-GB" sz="2000" b="1" dirty="0"/>
              <a:t>light</a:t>
            </a:r>
            <a:r>
              <a:rPr lang="en-GB" sz="2000" dirty="0"/>
              <a:t> in the open </a:t>
            </a:r>
            <a:r>
              <a:rPr lang="en-GB" sz="2000" b="1" dirty="0"/>
              <a:t>field</a:t>
            </a:r>
            <a:r>
              <a:rPr lang="en-GB" sz="2000" dirty="0"/>
              <a:t> near the </a:t>
            </a:r>
            <a:r>
              <a:rPr lang="en-GB" sz="2000" b="1" dirty="0"/>
              <a:t>bank</a:t>
            </a:r>
            <a:r>
              <a:rPr lang="en-GB" sz="200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D3CB3C-2EA6-5F9F-17B7-842CA64C5BEB}"/>
              </a:ext>
            </a:extLst>
          </p:cNvPr>
          <p:cNvSpPr txBox="1"/>
          <p:nvPr/>
        </p:nvSpPr>
        <p:spPr>
          <a:xfrm>
            <a:off x="279149" y="671444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Text Representation – Embedding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5D65C81-41B0-A31F-790F-4E6BBC26F3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701749"/>
              </p:ext>
            </p:extLst>
          </p:nvPr>
        </p:nvGraphicFramePr>
        <p:xfrm>
          <a:off x="5511321" y="1437429"/>
          <a:ext cx="4213479" cy="2941801"/>
        </p:xfrm>
        <a:graphic>
          <a:graphicData uri="http://schemas.openxmlformats.org/drawingml/2006/table">
            <a:tbl>
              <a:tblPr/>
              <a:tblGrid>
                <a:gridCol w="1404493">
                  <a:extLst>
                    <a:ext uri="{9D8B030D-6E8A-4147-A177-3AD203B41FA5}">
                      <a16:colId xmlns:a16="http://schemas.microsoft.com/office/drawing/2014/main" val="223341530"/>
                    </a:ext>
                  </a:extLst>
                </a:gridCol>
                <a:gridCol w="1404493">
                  <a:extLst>
                    <a:ext uri="{9D8B030D-6E8A-4147-A177-3AD203B41FA5}">
                      <a16:colId xmlns:a16="http://schemas.microsoft.com/office/drawing/2014/main" val="3117707457"/>
                    </a:ext>
                  </a:extLst>
                </a:gridCol>
                <a:gridCol w="1404493">
                  <a:extLst>
                    <a:ext uri="{9D8B030D-6E8A-4147-A177-3AD203B41FA5}">
                      <a16:colId xmlns:a16="http://schemas.microsoft.com/office/drawing/2014/main" val="3558274739"/>
                    </a:ext>
                  </a:extLst>
                </a:gridCol>
              </a:tblGrid>
              <a:tr h="7685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Word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T1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T2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2714053"/>
                  </a:ext>
                </a:extLst>
              </a:tr>
              <a:tr h="434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>
                          <a:solidFill>
                            <a:srgbClr val="FE0E67"/>
                          </a:solidFill>
                        </a:rPr>
                        <a:t>bank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[0.8, 0.7, 0.1]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[0.2, 0.3, 0.6]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6739611"/>
                  </a:ext>
                </a:extLst>
              </a:tr>
              <a:tr h="434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>
                          <a:solidFill>
                            <a:srgbClr val="FE0E67"/>
                          </a:solidFill>
                        </a:rPr>
                        <a:t>current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[0.7, 0.6, 0.2]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[0.3, 0.4, 0.2]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7194112"/>
                  </a:ext>
                </a:extLst>
              </a:tr>
              <a:tr h="434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interest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[0.9, 0.8, 0.1]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58710"/>
                  </a:ext>
                </a:extLst>
              </a:tr>
              <a:tr h="434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stream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[0.2, 0.3, 0.9]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0072517"/>
                  </a:ext>
                </a:extLst>
              </a:tr>
              <a:tr h="434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battery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/>
                        <a:t>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500" dirty="0"/>
                        <a:t>[0.3, 0.5, 0.8]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34052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24295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76FA2-BC16-1108-DB88-3E02414A3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FF91629-4788-8522-4F2E-754A783320D1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EEA6E5-CED1-0DA1-366A-17258363AE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E2A681F-CF2E-ABC7-B941-2FBE261F33F9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D6FF781-540E-4485-4FBA-508A588C44A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56B767-5CB3-B9F7-6DC4-BEA1FC8572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24AD83F-AA06-1BEE-5C88-310EF80CAD82}"/>
              </a:ext>
            </a:extLst>
          </p:cNvPr>
          <p:cNvSpPr txBox="1"/>
          <p:nvPr/>
        </p:nvSpPr>
        <p:spPr>
          <a:xfrm>
            <a:off x="259306" y="314971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BERT - Transformer models</a:t>
            </a:r>
          </a:p>
        </p:txBody>
      </p:sp>
      <p:pic>
        <p:nvPicPr>
          <p:cNvPr id="2" name="Picture 2" descr="Preview Image">
            <a:extLst>
              <a:ext uri="{FF2B5EF4-FFF2-40B4-BE49-F238E27FC236}">
                <a16:creationId xmlns:a16="http://schemas.microsoft.com/office/drawing/2014/main" id="{57AA223D-DF06-3009-1203-F4B6BECA7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787" y="940474"/>
            <a:ext cx="6942864" cy="378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5027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30717-98F5-612F-94D9-61C83849D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E7E1469-3ED7-7254-D436-E914D21FF92F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CEE7F1-AD3E-3E3C-6C52-FCD241BD83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73C24DF-92F9-2760-7C6B-F828CB0F1882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A81B0B4-C09E-DCC8-6D86-7502A98E8D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D327498-0401-B6DF-F26B-9E7DBBD5A5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16DC55B-AC20-D9B8-8B4A-971DE824DF23}"/>
              </a:ext>
            </a:extLst>
          </p:cNvPr>
          <p:cNvSpPr txBox="1"/>
          <p:nvPr/>
        </p:nvSpPr>
        <p:spPr>
          <a:xfrm>
            <a:off x="259306" y="314971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BERT - Transformer models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77989EB5-F2A5-0F99-9989-21FCADDEAEAA}"/>
              </a:ext>
            </a:extLst>
          </p:cNvPr>
          <p:cNvSpPr txBox="1"/>
          <p:nvPr/>
        </p:nvSpPr>
        <p:spPr>
          <a:xfrm>
            <a:off x="606253" y="1140832"/>
            <a:ext cx="9263484" cy="2161187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b="1" dirty="0"/>
              <a:t>Three elements:</a:t>
            </a:r>
          </a:p>
          <a:p>
            <a:endParaRPr lang="en-GB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b="1" dirty="0"/>
              <a:t>Embeddings (BERT)</a:t>
            </a:r>
            <a:r>
              <a:rPr lang="en-GB" sz="2800" dirty="0"/>
              <a:t> → define </a:t>
            </a:r>
            <a:r>
              <a:rPr lang="en-GB" sz="2800" i="1" dirty="0"/>
              <a:t>meaning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b="1" dirty="0"/>
              <a:t>UMAP</a:t>
            </a:r>
            <a:r>
              <a:rPr lang="en-GB" sz="2800" dirty="0"/>
              <a:t> → shapes </a:t>
            </a:r>
            <a:r>
              <a:rPr lang="en-GB" sz="2800" i="1" dirty="0"/>
              <a:t>how documents cluster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b="1" dirty="0"/>
              <a:t>c-TF-IDF</a:t>
            </a:r>
            <a:r>
              <a:rPr lang="en-GB" sz="2800" dirty="0"/>
              <a:t> → defines </a:t>
            </a:r>
            <a:r>
              <a:rPr lang="en-GB" sz="2800" i="1" dirty="0"/>
              <a:t>how topics are described</a:t>
            </a:r>
            <a:endParaRPr lang="en-GB" sz="2800" dirty="0">
              <a:solidFill>
                <a:srgbClr val="FE0E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4013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00D38-1118-7BA4-14EB-20B04921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351902D-D9F4-9A22-2789-72CF688FF41A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1651EC-F33A-FD26-2E0E-31AD35BBA7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45AF4E9-7ED5-FB18-468A-DD3ADE105A74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6909E1E-B77C-F5C9-3E60-5A3E24D0F08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3BAB5A6-17B0-8C64-9826-1ACCC20458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6E4878-D586-821E-594E-B72C67998AAE}"/>
              </a:ext>
            </a:extLst>
          </p:cNvPr>
          <p:cNvSpPr txBox="1"/>
          <p:nvPr/>
        </p:nvSpPr>
        <p:spPr>
          <a:xfrm>
            <a:off x="259306" y="314971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BERT - Transformer models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658C9E7-00D4-3E10-D13F-0F004DDE31AE}"/>
              </a:ext>
            </a:extLst>
          </p:cNvPr>
          <p:cNvSpPr txBox="1"/>
          <p:nvPr/>
        </p:nvSpPr>
        <p:spPr>
          <a:xfrm>
            <a:off x="606253" y="1140832"/>
            <a:ext cx="9263484" cy="345384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>
                <a:solidFill>
                  <a:srgbClr val="FE0E67"/>
                </a:solidFill>
              </a:rPr>
              <a:t>Define meanings: </a:t>
            </a:r>
          </a:p>
          <a:p>
            <a:r>
              <a:rPr lang="en-GB" sz="2800" dirty="0">
                <a:solidFill>
                  <a:srgbClr val="FE0E67"/>
                </a:solidFill>
              </a:rPr>
              <a:t>Embedding </a:t>
            </a:r>
            <a:r>
              <a:rPr lang="en-GB" sz="2800" dirty="0"/>
              <a:t>+</a:t>
            </a:r>
            <a:r>
              <a:rPr lang="en-GB" sz="2800" dirty="0">
                <a:solidFill>
                  <a:srgbClr val="FE0E67"/>
                </a:solidFill>
              </a:rPr>
              <a:t> Positional Encoding </a:t>
            </a:r>
            <a:r>
              <a:rPr lang="en-GB" sz="2800" dirty="0"/>
              <a:t>+</a:t>
            </a:r>
            <a:r>
              <a:rPr lang="en-GB" sz="2800" dirty="0">
                <a:solidFill>
                  <a:srgbClr val="FE0E67"/>
                </a:solidFill>
              </a:rPr>
              <a:t> self attention</a:t>
            </a:r>
            <a:endParaRPr lang="en-GB" sz="2800" dirty="0"/>
          </a:p>
          <a:p>
            <a:endParaRPr lang="en-GB" sz="2800" dirty="0"/>
          </a:p>
          <a:p>
            <a:r>
              <a:rPr lang="en-GB" sz="2800" b="1" dirty="0"/>
              <a:t>Embedding model</a:t>
            </a:r>
            <a:r>
              <a:rPr lang="en-GB" sz="2800" dirty="0"/>
              <a:t> turns each token in a piece of text corresponds to a vector in semantic space</a:t>
            </a:r>
          </a:p>
          <a:p>
            <a:endParaRPr lang="en-GB" sz="2800" dirty="0"/>
          </a:p>
          <a:p>
            <a:r>
              <a:rPr lang="en-GB" sz="2800" b="1" dirty="0"/>
              <a:t>Positional encoding</a:t>
            </a:r>
            <a:r>
              <a:rPr lang="en-GB" sz="2800" dirty="0"/>
              <a:t> generate another vector that represents the position (order) of the word in the text.</a:t>
            </a:r>
          </a:p>
        </p:txBody>
      </p:sp>
    </p:spTree>
    <p:extLst>
      <p:ext uri="{BB962C8B-B14F-4D97-AF65-F5344CB8AC3E}">
        <p14:creationId xmlns:p14="http://schemas.microsoft.com/office/powerpoint/2010/main" val="67876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C02D7-2379-D289-2AF8-DB95DAE11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10CB689-07F6-EB7F-6B44-408C6521D775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690BDB-8A1B-4B18-B7A5-9FF64E971C3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9F4DAAB-487A-0D24-D874-8BDB7CC029DB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4E7A744-2481-1750-F39F-4FAD45A2C6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89DB29C-FE60-7F40-AB64-44B9170594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80FF079-DB8C-7CD9-A604-5D6B82892554}"/>
              </a:ext>
            </a:extLst>
          </p:cNvPr>
          <p:cNvSpPr txBox="1"/>
          <p:nvPr/>
        </p:nvSpPr>
        <p:spPr>
          <a:xfrm>
            <a:off x="259306" y="314971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BERT - Transformer models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E95995E-C45A-4582-8C6F-24A65AF75FEF}"/>
              </a:ext>
            </a:extLst>
          </p:cNvPr>
          <p:cNvSpPr txBox="1"/>
          <p:nvPr/>
        </p:nvSpPr>
        <p:spPr>
          <a:xfrm>
            <a:off x="606253" y="1140832"/>
            <a:ext cx="9263484" cy="345384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>
                <a:solidFill>
                  <a:srgbClr val="FE0E67"/>
                </a:solidFill>
              </a:rPr>
              <a:t>Define meanings: </a:t>
            </a:r>
          </a:p>
          <a:p>
            <a:r>
              <a:rPr lang="en-GB" sz="2800" dirty="0">
                <a:solidFill>
                  <a:srgbClr val="FE0E67"/>
                </a:solidFill>
              </a:rPr>
              <a:t>Embedding </a:t>
            </a:r>
            <a:r>
              <a:rPr lang="en-GB" sz="2800" dirty="0"/>
              <a:t>+</a:t>
            </a:r>
            <a:r>
              <a:rPr lang="en-GB" sz="2800" dirty="0">
                <a:solidFill>
                  <a:srgbClr val="FE0E67"/>
                </a:solidFill>
              </a:rPr>
              <a:t> Positional Encoding </a:t>
            </a:r>
            <a:r>
              <a:rPr lang="en-GB" sz="2800" dirty="0"/>
              <a:t>+</a:t>
            </a:r>
            <a:r>
              <a:rPr lang="en-GB" sz="2800" dirty="0">
                <a:solidFill>
                  <a:srgbClr val="FE0E67"/>
                </a:solidFill>
              </a:rPr>
              <a:t> self attention</a:t>
            </a:r>
            <a:endParaRPr lang="en-GB" sz="2800" dirty="0"/>
          </a:p>
          <a:p>
            <a:endParaRPr lang="en-GB" sz="2800" dirty="0">
              <a:solidFill>
                <a:srgbClr val="FE0E67"/>
              </a:solidFill>
            </a:endParaRPr>
          </a:p>
          <a:p>
            <a:r>
              <a:rPr lang="en-GB" sz="2800" b="1" dirty="0"/>
              <a:t>Self-attention</a:t>
            </a:r>
            <a:r>
              <a:rPr lang="en-GB" sz="2800" dirty="0"/>
              <a:t> is relational weighting, and the results reweighted the embedding vector.</a:t>
            </a:r>
          </a:p>
          <a:p>
            <a:endParaRPr lang="en-GB" sz="2800" dirty="0"/>
          </a:p>
          <a:p>
            <a:r>
              <a:rPr lang="en-GB" sz="2800" dirty="0"/>
              <a:t>ex. The </a:t>
            </a:r>
            <a:r>
              <a:rPr lang="en-GB" sz="2800" dirty="0">
                <a:solidFill>
                  <a:srgbClr val="FE0E67"/>
                </a:solidFill>
              </a:rPr>
              <a:t>animal</a:t>
            </a:r>
            <a:r>
              <a:rPr lang="en-GB" sz="2800" dirty="0"/>
              <a:t> didn’t cross the street because </a:t>
            </a:r>
            <a:r>
              <a:rPr lang="en-GB" sz="2800" dirty="0">
                <a:solidFill>
                  <a:srgbClr val="FE0E67"/>
                </a:solidFill>
              </a:rPr>
              <a:t>it</a:t>
            </a:r>
            <a:r>
              <a:rPr lang="en-GB" sz="2800" dirty="0"/>
              <a:t> was too tired.</a:t>
            </a:r>
          </a:p>
        </p:txBody>
      </p:sp>
    </p:spTree>
    <p:extLst>
      <p:ext uri="{BB962C8B-B14F-4D97-AF65-F5344CB8AC3E}">
        <p14:creationId xmlns:p14="http://schemas.microsoft.com/office/powerpoint/2010/main" val="3772648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576FC-AE1A-CBBD-5179-28B2F428B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E6D06E8-E92E-FF6A-9A53-810848E7E068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768AAE-7E67-5332-8B01-AE9F42F9F1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9314E58-430B-3427-9044-10BBBABA84D3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9219D8A-CC92-236A-B579-169280856AA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0D8F477-A50C-B052-5DE3-B578870FF1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39F57B0-9F76-A48C-342D-30587454306D}"/>
              </a:ext>
            </a:extLst>
          </p:cNvPr>
          <p:cNvSpPr txBox="1"/>
          <p:nvPr/>
        </p:nvSpPr>
        <p:spPr>
          <a:xfrm>
            <a:off x="259306" y="314971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BERT - Transformer models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3772652-B887-EBD3-DF63-7E924393A165}"/>
              </a:ext>
            </a:extLst>
          </p:cNvPr>
          <p:cNvSpPr txBox="1"/>
          <p:nvPr/>
        </p:nvSpPr>
        <p:spPr>
          <a:xfrm>
            <a:off x="354502" y="1212392"/>
            <a:ext cx="9489041" cy="345384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>
                <a:solidFill>
                  <a:srgbClr val="FE0E67"/>
                </a:solidFill>
              </a:rPr>
              <a:t>Define how documents cluster: UMAP</a:t>
            </a:r>
          </a:p>
          <a:p>
            <a:endParaRPr lang="en-GB" sz="2800" dirty="0">
              <a:highlight>
                <a:scrgbClr r="0" g="0" b="0">
                  <a:alpha val="0"/>
                </a:scrgbClr>
              </a:highlight>
            </a:endParaRPr>
          </a:p>
          <a:p>
            <a:r>
              <a:rPr lang="en-GB" sz="2800" dirty="0">
                <a:highlight>
                  <a:scrgbClr r="0" g="0" b="0">
                    <a:alpha val="0"/>
                  </a:scrgbClr>
                </a:highlight>
              </a:rPr>
              <a:t>Embeddings are high-dimensional (each word is a vector)</a:t>
            </a:r>
          </a:p>
          <a:p>
            <a:r>
              <a:rPr lang="en-GB" sz="2800" dirty="0">
                <a:highlight>
                  <a:scrgbClr r="0" g="0" b="0">
                    <a:alpha val="0"/>
                  </a:scrgbClr>
                </a:highlight>
              </a:rPr>
              <a:t>UMAP reduces them, which allows easier clustering </a:t>
            </a:r>
          </a:p>
          <a:p>
            <a:endParaRPr lang="en-GB" sz="2800" dirty="0">
              <a:highlight>
                <a:scrgbClr r="0" g="0" b="0">
                  <a:alpha val="0"/>
                </a:scrgbClr>
              </a:highlight>
            </a:endParaRPr>
          </a:p>
          <a:p>
            <a:r>
              <a:rPr lang="en-GB" sz="2800" dirty="0">
                <a:highlight>
                  <a:scrgbClr r="0" g="0" b="0">
                    <a:alpha val="0"/>
                  </a:scrgbClr>
                </a:highlight>
              </a:rPr>
              <a:t>Using UMAP, you can determine if you want to focus on </a:t>
            </a:r>
            <a:br>
              <a:rPr lang="en-GB" sz="2800" dirty="0">
                <a:highlight>
                  <a:scrgbClr r="0" g="0" b="0">
                    <a:alpha val="0"/>
                  </a:scrgbClr>
                </a:highlight>
              </a:rPr>
            </a:br>
            <a:r>
              <a:rPr lang="en-GB" sz="2800" dirty="0">
                <a:highlight>
                  <a:scrgbClr r="0" g="0" b="0">
                    <a:alpha val="0"/>
                  </a:scrgbClr>
                </a:highlight>
              </a:rPr>
              <a:t>local structure(more topics) or global structure (fewer topics)</a:t>
            </a:r>
          </a:p>
          <a:p>
            <a:endParaRPr lang="en-GB" sz="2800" dirty="0">
              <a:solidFill>
                <a:srgbClr val="FE0E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4612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F9803-ED4B-81F5-47F9-D1D9AB0F2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B927EBA-0767-B8CE-F0BF-F249590B34F7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63C3AC7-462D-F9B5-FE4E-88FA2A1734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430BCC2-98BE-340D-1F00-9A1027F32E92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40FE416-3784-F5D4-B30D-0A7ECF10A1F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21EFDC-5664-176D-5BEF-1A5D39CEB4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528CB88-7933-977D-7477-5114B06A9CCD}"/>
              </a:ext>
            </a:extLst>
          </p:cNvPr>
          <p:cNvSpPr txBox="1"/>
          <p:nvPr/>
        </p:nvSpPr>
        <p:spPr>
          <a:xfrm>
            <a:off x="259306" y="314971"/>
            <a:ext cx="9562012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BERT - Transformer models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5B4C46A-58A1-9361-F534-6964A3A2771F}"/>
              </a:ext>
            </a:extLst>
          </p:cNvPr>
          <p:cNvSpPr txBox="1"/>
          <p:nvPr/>
        </p:nvSpPr>
        <p:spPr>
          <a:xfrm>
            <a:off x="354502" y="1212392"/>
            <a:ext cx="9489041" cy="3022962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r>
              <a:rPr lang="en-GB" sz="2800" dirty="0">
                <a:solidFill>
                  <a:srgbClr val="FE0E67"/>
                </a:solidFill>
              </a:rPr>
              <a:t>Defines how topics are described: c-TF-IDF</a:t>
            </a:r>
          </a:p>
          <a:p>
            <a:endParaRPr lang="en-GB" sz="2800" dirty="0">
              <a:highlight>
                <a:scrgbClr r="0" g="0" b="0">
                  <a:alpha val="0"/>
                </a:scrgbClr>
              </a:highlight>
            </a:endParaRPr>
          </a:p>
          <a:p>
            <a:r>
              <a:rPr lang="en-GB" sz="2800" dirty="0">
                <a:highlight>
                  <a:scrgbClr r="0" g="0" b="0">
                    <a:alpha val="0"/>
                  </a:scrgbClr>
                </a:highlight>
              </a:rPr>
              <a:t>Defines how importance is calculated, such as reducing frequent words across topic.</a:t>
            </a:r>
          </a:p>
          <a:p>
            <a:endParaRPr lang="en-GB" sz="2800" dirty="0">
              <a:highlight>
                <a:scrgbClr r="0" g="0" b="0">
                  <a:alpha val="0"/>
                </a:scrgbClr>
              </a:highlight>
            </a:endParaRPr>
          </a:p>
          <a:p>
            <a:r>
              <a:rPr lang="en-GB" sz="2800" dirty="0">
                <a:highlight>
                  <a:scrgbClr r="0" g="0" b="0">
                    <a:alpha val="0"/>
                  </a:scrgbClr>
                </a:highlight>
              </a:rPr>
              <a:t>Define how topics are represented, such as using a phrase or a word</a:t>
            </a:r>
          </a:p>
        </p:txBody>
      </p:sp>
    </p:spTree>
    <p:extLst>
      <p:ext uri="{BB962C8B-B14F-4D97-AF65-F5344CB8AC3E}">
        <p14:creationId xmlns:p14="http://schemas.microsoft.com/office/powerpoint/2010/main" val="2999050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-up of a person&#10;&#10;Description automatically generated">
            <a:extLst>
              <a:ext uri="{FF2B5EF4-FFF2-40B4-BE49-F238E27FC236}">
                <a16:creationId xmlns:a16="http://schemas.microsoft.com/office/drawing/2014/main" id="{ACA4CB33-E563-290F-01DB-0F754F38A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98"/>
            <a:ext cx="10080625" cy="567035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F8639DD-EE0B-86A1-D2DC-1CFCD45E9667}"/>
              </a:ext>
            </a:extLst>
          </p:cNvPr>
          <p:cNvSpPr/>
          <p:nvPr/>
        </p:nvSpPr>
        <p:spPr>
          <a:xfrm>
            <a:off x="212940" y="1768837"/>
            <a:ext cx="9654742" cy="2482150"/>
          </a:xfrm>
          <a:prstGeom prst="rect">
            <a:avLst/>
          </a:prstGeom>
          <a:solidFill>
            <a:srgbClr val="041E4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0" b="1" dirty="0">
                <a:solidFill>
                  <a:schemeClr val="bg1"/>
                </a:solidFill>
                <a:latin typeface="Integral CF Bold" pitchFamily="2" charset="77"/>
                <a:ea typeface="Verdana" panose="020B0604030504040204" pitchFamily="34" charset="0"/>
                <a:cs typeface="Arial Black" panose="020B0604020202020204" pitchFamily="34" charset="0"/>
              </a:rPr>
              <a:t>Let’s Code </a:t>
            </a:r>
          </a:p>
          <a:p>
            <a:pPr algn="ctr"/>
            <a:r>
              <a:rPr lang="en-US" sz="6600" b="1" dirty="0">
                <a:solidFill>
                  <a:schemeClr val="bg1"/>
                </a:solidFill>
                <a:latin typeface="Integral CF Bold" pitchFamily="2" charset="77"/>
                <a:ea typeface="Verdana" panose="020B0604030504040204" pitchFamily="34" charset="0"/>
                <a:cs typeface="Arial Black" panose="020B0604020202020204" pitchFamily="34" charset="0"/>
              </a:rPr>
              <a:t>Session 1</a:t>
            </a:r>
            <a:endParaRPr lang="en-US" sz="10000" b="1" dirty="0">
              <a:solidFill>
                <a:schemeClr val="bg1"/>
              </a:solidFill>
              <a:latin typeface="Integral CF Bold" pitchFamily="2" charset="77"/>
              <a:ea typeface="Verdana" panose="020B060403050404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26316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D204-343F-4A06-72CD-19827C5D3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DEE860B-FD14-AD45-68CA-A702FE8EDA1C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BF9C0F-60F0-CE40-5EF5-5CDDFCD3D5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1BDAB2B-9498-8A9F-3111-C5A6C83AA0B9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4B42FEE-2E68-7D15-263D-3431AEC4F6D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91D9C44-D835-FDBE-0560-B52446048A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3C58D6F-B837-469F-46CD-6ABC378E161B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DE63E1DF-A0F1-DC8A-CC3A-3EBE21A6C2E5}"/>
              </a:ext>
            </a:extLst>
          </p:cNvPr>
          <p:cNvSpPr txBox="1"/>
          <p:nvPr/>
        </p:nvSpPr>
        <p:spPr>
          <a:xfrm>
            <a:off x="441990" y="979086"/>
            <a:ext cx="2060612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Text cleaning</a:t>
            </a:r>
            <a:endParaRPr b="1" dirty="0">
              <a:solidFill>
                <a:srgbClr val="FE0E67"/>
              </a:solidFill>
              <a:latin typeface="Arial MT"/>
              <a:cs typeface="Arial MT"/>
            </a:endParaRPr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1A3FB301-F647-78D4-4740-29125C0A7D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835" y="1855530"/>
            <a:ext cx="8392954" cy="1683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673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ABC41-7E2D-5124-EA5B-D865CF7E6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43B8A99-74E8-3BC2-3E04-F67CFAD98B13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5A1626-6C98-C54F-557F-8B73326250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E8A4783-002B-D7BF-327D-8B0E4D6AFA7B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B4D36C1-35B3-5D1A-C7B3-B551F8DF5E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8399B85-9225-EC29-F342-0B5E7F8C92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F00CE39-9613-F6FF-A6D5-E241FD0DA920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E1D4BC11-5D50-7BC4-456A-D08B93F29743}"/>
              </a:ext>
            </a:extLst>
          </p:cNvPr>
          <p:cNvSpPr txBox="1"/>
          <p:nvPr/>
        </p:nvSpPr>
        <p:spPr>
          <a:xfrm>
            <a:off x="441990" y="979086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Embedding model</a:t>
            </a:r>
            <a:endParaRPr b="1" dirty="0">
              <a:solidFill>
                <a:srgbClr val="FE0E67"/>
              </a:solidFill>
              <a:latin typeface="Arial MT"/>
              <a:cs typeface="Arial MT"/>
            </a:endParaRPr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8A6A33F9-D236-9468-998E-2DC937F64A89}"/>
              </a:ext>
            </a:extLst>
          </p:cNvPr>
          <p:cNvSpPr txBox="1"/>
          <p:nvPr/>
        </p:nvSpPr>
        <p:spPr>
          <a:xfrm>
            <a:off x="441990" y="3283791"/>
            <a:ext cx="8219431" cy="2081779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latin typeface="Arial MT"/>
                <a:cs typeface="Arial MT"/>
              </a:rPr>
              <a:t>"all-mpnet-base-v2</a:t>
            </a:r>
            <a:r>
              <a:rPr lang="en-GB" dirty="0">
                <a:latin typeface="Arial MT"/>
                <a:cs typeface="Arial MT"/>
              </a:rPr>
              <a:t>" is a pre-trained Sentence Transformer (based on BERT-like architecture) </a:t>
            </a:r>
          </a:p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endParaRPr lang="en-GB" dirty="0">
              <a:latin typeface="Arial MT"/>
              <a:cs typeface="Arial MT"/>
            </a:endParaRPr>
          </a:p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dirty="0">
                <a:latin typeface="Arial MT"/>
                <a:cs typeface="Arial MT"/>
              </a:rPr>
              <a:t>It converts each document into a vector (numbers) or simply put, it turns each document into one dense vector</a:t>
            </a:r>
            <a:br>
              <a:rPr lang="en-GB" dirty="0">
                <a:latin typeface="Arial MT"/>
                <a:cs typeface="Arial MT"/>
              </a:rPr>
            </a:br>
            <a:endParaRPr lang="en-GB" dirty="0">
              <a:latin typeface="Arial MT"/>
              <a:cs typeface="Arial MT"/>
            </a:endParaRPr>
          </a:p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endParaRPr lang="en-GB" dirty="0">
              <a:latin typeface="Arial MT"/>
              <a:cs typeface="Arial MT"/>
            </a:endParaRPr>
          </a:p>
        </p:txBody>
      </p:sp>
      <p:pic>
        <p:nvPicPr>
          <p:cNvPr id="21" name="Picture 20" descr="A black screen with colorful text&#10;&#10;AI-generated content may be incorrect.">
            <a:extLst>
              <a:ext uri="{FF2B5EF4-FFF2-40B4-BE49-F238E27FC236}">
                <a16:creationId xmlns:a16="http://schemas.microsoft.com/office/drawing/2014/main" id="{950A6C50-6981-F36C-18E1-DA130832FC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90" y="1485257"/>
            <a:ext cx="9328133" cy="139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1591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E509E-53F4-5CBF-FCEA-19D43BDD8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3060284-165E-5DC4-96BA-2DFEFAA94DD4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989D3C-423E-A6FB-6F70-AF97B1F6AD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9681997-E21D-EAA6-D074-9707A634B4D2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CE9DDC4-BE13-C8C5-DC4C-0A0A3FC9395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0477072-B0F8-B5FF-640A-E95425AA15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C745021-A36B-B982-09AB-671C1202F09B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B7D12CAD-56E1-798B-18E6-26AB6C2B1CE7}"/>
              </a:ext>
            </a:extLst>
          </p:cNvPr>
          <p:cNvSpPr txBox="1"/>
          <p:nvPr/>
        </p:nvSpPr>
        <p:spPr>
          <a:xfrm>
            <a:off x="441990" y="979086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UMAP</a:t>
            </a:r>
            <a:endParaRPr b="1" dirty="0">
              <a:solidFill>
                <a:srgbClr val="FE0E67"/>
              </a:solidFill>
              <a:latin typeface="Arial MT"/>
              <a:cs typeface="Arial MT"/>
            </a:endParaRPr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68F86669-0DEC-D536-7A94-CE59B88C55C9}"/>
              </a:ext>
            </a:extLst>
          </p:cNvPr>
          <p:cNvSpPr txBox="1"/>
          <p:nvPr/>
        </p:nvSpPr>
        <p:spPr>
          <a:xfrm>
            <a:off x="4400550" y="1190703"/>
            <a:ext cx="5372099" cy="2812749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r>
              <a:rPr lang="en-GB" b="1" dirty="0" err="1">
                <a:highlight>
                  <a:scrgbClr r="0" g="0" b="0">
                    <a:alpha val="0"/>
                  </a:scrgbClr>
                </a:highlight>
              </a:rPr>
              <a:t>n_neighbors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 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Low → captures </a:t>
            </a:r>
            <a:r>
              <a:rPr lang="en-GB" b="1" dirty="0">
                <a:highlight>
                  <a:scrgbClr r="0" g="0" b="0">
                    <a:alpha val="0"/>
                  </a:scrgbClr>
                </a:highlight>
              </a:rPr>
              <a:t>local structure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 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High → captures </a:t>
            </a:r>
            <a:r>
              <a:rPr lang="en-GB" b="1" dirty="0">
                <a:highlight>
                  <a:scrgbClr r="0" g="0" b="0">
                    <a:alpha val="0"/>
                  </a:scrgbClr>
                </a:highlight>
              </a:rPr>
              <a:t>global structure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 </a:t>
            </a:r>
          </a:p>
          <a:p>
            <a:r>
              <a:rPr lang="en-GB" b="1" dirty="0" err="1">
                <a:highlight>
                  <a:scrgbClr r="0" g="0" b="0">
                    <a:alpha val="0"/>
                  </a:scrgbClr>
                </a:highlight>
              </a:rPr>
              <a:t>n_components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 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Dimensions after reduction </a:t>
            </a:r>
            <a:endParaRPr lang="en-GB" b="1" dirty="0">
              <a:highlight>
                <a:scrgbClr r="0" g="0" b="0">
                  <a:alpha val="0"/>
                </a:scrgbClr>
              </a:highlight>
            </a:endParaRPr>
          </a:p>
          <a:p>
            <a:r>
              <a:rPr lang="en-GB" b="1" dirty="0" err="1">
                <a:highlight>
                  <a:scrgbClr r="0" g="0" b="0">
                    <a:alpha val="0"/>
                  </a:scrgbClr>
                </a:highlight>
              </a:rPr>
              <a:t>min_dist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 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Low → tighter clusters </a:t>
            </a: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High → more spread-out clusters </a:t>
            </a:r>
          </a:p>
          <a:p>
            <a:r>
              <a:rPr lang="en-GB" b="1" dirty="0" err="1">
                <a:highlight>
                  <a:scrgbClr r="0" g="0" b="0">
                    <a:alpha val="0"/>
                  </a:scrgbClr>
                </a:highlight>
              </a:rPr>
              <a:t>random_state</a:t>
            </a:r>
            <a:endParaRPr lang="en-GB" b="1" dirty="0">
              <a:highlight>
                <a:scrgbClr r="0" g="0" b="0">
                  <a:alpha val="0"/>
                </a:scrgbClr>
              </a:highlight>
            </a:endParaRPr>
          </a:p>
          <a:p>
            <a:pPr lvl="1"/>
            <a:r>
              <a:rPr lang="en-GB" dirty="0">
                <a:highlight>
                  <a:scrgbClr r="0" g="0" b="0">
                    <a:alpha val="0"/>
                  </a:scrgbClr>
                </a:highlight>
              </a:rPr>
              <a:t>Allows you to reproduce the same results</a:t>
            </a:r>
          </a:p>
        </p:txBody>
      </p:sp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A4929DD8-A9DB-6A75-F31E-CCDBF3D13D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39" y="1506228"/>
            <a:ext cx="3225581" cy="24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9140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4828B-2C93-B8D5-E118-675D5EADE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261314C-9D73-E8A9-C7A3-48BC410E5D52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9DED99-7089-B531-76A3-D2B52259E67E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FE1598F-0282-0372-8796-7D80023EC12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6E8515E-A7B7-5CE5-E756-014B91606E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3021EE5-B231-C1B4-8C14-82EA58ED4D03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7FF55D0B-DD13-37D7-8E29-CA0B53404883}"/>
              </a:ext>
            </a:extLst>
          </p:cNvPr>
          <p:cNvSpPr txBox="1"/>
          <p:nvPr/>
        </p:nvSpPr>
        <p:spPr>
          <a:xfrm>
            <a:off x="441990" y="839983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 err="1">
                <a:solidFill>
                  <a:srgbClr val="FE0E67"/>
                </a:solidFill>
                <a:latin typeface="Arial MT"/>
                <a:cs typeface="Arial MT"/>
              </a:rPr>
              <a:t>KeyphraseVectorizers</a:t>
            </a:r>
            <a:endParaRPr lang="en-GB" b="1" dirty="0">
              <a:solidFill>
                <a:srgbClr val="FE0E67"/>
              </a:solidFill>
              <a:latin typeface="Arial MT"/>
              <a:cs typeface="Arial MT"/>
            </a:endParaRPr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9BB43169-0512-EFEE-3A89-BDB809167BED}"/>
              </a:ext>
            </a:extLst>
          </p:cNvPr>
          <p:cNvSpPr txBox="1"/>
          <p:nvPr/>
        </p:nvSpPr>
        <p:spPr>
          <a:xfrm>
            <a:off x="653944" y="2852851"/>
            <a:ext cx="8219431" cy="2004835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 err="1">
                <a:latin typeface="Arial MT"/>
                <a:cs typeface="Arial MT"/>
              </a:rPr>
              <a:t>KeyphraseCountVectorize</a:t>
            </a:r>
            <a:r>
              <a:rPr lang="en-GB" b="1" dirty="0">
                <a:latin typeface="Arial MT"/>
                <a:cs typeface="Arial MT"/>
              </a:rPr>
              <a:t> </a:t>
            </a:r>
            <a:r>
              <a:rPr lang="en-GB" dirty="0">
                <a:latin typeface="Arial MT"/>
                <a:cs typeface="Arial MT"/>
              </a:rPr>
              <a:t>extract phrases that describe the topics</a:t>
            </a:r>
          </a:p>
          <a:p>
            <a:r>
              <a:rPr lang="en-GB" b="1" dirty="0">
                <a:latin typeface="Arial MT"/>
                <a:cs typeface="Arial MT"/>
              </a:rPr>
              <a:t>c-TF-IDF is automatically applied during this step</a:t>
            </a:r>
            <a:endParaRPr lang="en-GB" dirty="0">
              <a:latin typeface="Arial MT"/>
              <a:cs typeface="Arial MT"/>
            </a:endParaRPr>
          </a:p>
          <a:p>
            <a:endParaRPr lang="en-GB" dirty="0">
              <a:highlight>
                <a:scrgbClr r="0" g="0" b="0">
                  <a:alpha val="0"/>
                </a:scrgbClr>
              </a:highlight>
              <a:latin typeface="Liberation Sans" pitchFamily="18"/>
            </a:endParaRPr>
          </a:p>
          <a:p>
            <a:r>
              <a:rPr lang="en-GB" dirty="0" err="1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max_df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 = 0.5 * </a:t>
            </a:r>
            <a:r>
              <a:rPr lang="en-GB" dirty="0" err="1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len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(docs) </a:t>
            </a:r>
            <a:r>
              <a:rPr lang="en-GB" dirty="0"/>
              <a:t>→ Ignore phrases appearing in </a:t>
            </a:r>
            <a:r>
              <a:rPr lang="en-GB" b="1" dirty="0"/>
              <a:t>too many documents</a:t>
            </a:r>
            <a:br>
              <a:rPr lang="en-GB" dirty="0"/>
            </a:br>
            <a:r>
              <a:rPr lang="en-GB" dirty="0" err="1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min_df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 = 5 </a:t>
            </a:r>
            <a:r>
              <a:rPr lang="en-GB" dirty="0"/>
              <a:t>→ Only keep phrases appearing in at least 5 documents </a:t>
            </a:r>
          </a:p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decay = 0.1 </a:t>
            </a:r>
            <a:r>
              <a:rPr lang="en-GB" dirty="0"/>
              <a:t>→ Reduces influence of very frequent terms over time </a:t>
            </a:r>
          </a:p>
          <a:p>
            <a:r>
              <a:rPr lang="en-GB" dirty="0" err="1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delete_min_df</a:t>
            </a:r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 = 5.0 </a:t>
            </a:r>
            <a:r>
              <a:rPr lang="en-GB" dirty="0"/>
              <a:t>→ Removes very rare/unstable phrases </a:t>
            </a:r>
            <a:endParaRPr lang="en-GB" dirty="0">
              <a:latin typeface="Arial MT"/>
              <a:cs typeface="Arial MT"/>
            </a:endParaRPr>
          </a:p>
        </p:txBody>
      </p:sp>
      <p:pic>
        <p:nvPicPr>
          <p:cNvPr id="21" name="Picture 20" descr="A black screen with colorful text&#10;&#10;AI-generated content may be incorrect.">
            <a:extLst>
              <a:ext uri="{FF2B5EF4-FFF2-40B4-BE49-F238E27FC236}">
                <a16:creationId xmlns:a16="http://schemas.microsoft.com/office/drawing/2014/main" id="{2D482B96-364E-8A15-84CF-8676DD76A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990" y="1368492"/>
            <a:ext cx="9328133" cy="139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474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84E0C-4266-9186-7CEF-C2913F230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85BDBBE-F711-8F00-9139-F403C3B869F4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F1B398-E86D-BD3A-54BF-D4653F201F21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BC50566-83F7-C3DE-2E07-B0DC5DAF656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364896F-E824-D149-086F-BD5F5E0513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A039BAC-93BA-80B4-2315-CD7CFA4C081C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8DE36A-D906-BD5D-6F3B-A42D60ADAEA1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64973540-21BC-C749-454B-7F1A3FE9B6BD}"/>
              </a:ext>
            </a:extLst>
          </p:cNvPr>
          <p:cNvSpPr txBox="1"/>
          <p:nvPr/>
        </p:nvSpPr>
        <p:spPr>
          <a:xfrm>
            <a:off x="441990" y="979086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Calculate probabilities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E17EB4BC-95E8-0277-BA25-7D6EE807D91A}"/>
              </a:ext>
            </a:extLst>
          </p:cNvPr>
          <p:cNvSpPr txBox="1"/>
          <p:nvPr/>
        </p:nvSpPr>
        <p:spPr>
          <a:xfrm>
            <a:off x="619654" y="2994405"/>
            <a:ext cx="8219431" cy="319758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r>
              <a:rPr lang="en-GB" dirty="0"/>
              <a:t>Documents can partially belong to multiple topics. </a:t>
            </a:r>
          </a:p>
        </p:txBody>
      </p:sp>
      <p:pic>
        <p:nvPicPr>
          <p:cNvPr id="10" name="Picture 9" descr="A black screen with colorful text&#10;&#10;AI-generated content may be incorrect.">
            <a:extLst>
              <a:ext uri="{FF2B5EF4-FFF2-40B4-BE49-F238E27FC236}">
                <a16:creationId xmlns:a16="http://schemas.microsoft.com/office/drawing/2014/main" id="{AFAA230D-1E38-C7DD-D249-BC3DBD76C9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990" y="1485257"/>
            <a:ext cx="9328133" cy="139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8111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227BF-468F-E41A-14A4-EBDAFE6B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-up of a person&#10;&#10;Description automatically generated">
            <a:extLst>
              <a:ext uri="{FF2B5EF4-FFF2-40B4-BE49-F238E27FC236}">
                <a16:creationId xmlns:a16="http://schemas.microsoft.com/office/drawing/2014/main" id="{8EE018F8-2DCB-E29F-F5AD-789A8A2B5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98"/>
            <a:ext cx="10080625" cy="567035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A13F74B-8491-DB56-E0EE-C1308AD00C08}"/>
              </a:ext>
            </a:extLst>
          </p:cNvPr>
          <p:cNvSpPr/>
          <p:nvPr/>
        </p:nvSpPr>
        <p:spPr>
          <a:xfrm>
            <a:off x="212940" y="1768837"/>
            <a:ext cx="9654742" cy="2482150"/>
          </a:xfrm>
          <a:prstGeom prst="rect">
            <a:avLst/>
          </a:prstGeom>
          <a:solidFill>
            <a:srgbClr val="041E4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0" b="1" dirty="0">
                <a:solidFill>
                  <a:schemeClr val="bg1"/>
                </a:solidFill>
                <a:latin typeface="Integral CF Bold" pitchFamily="2" charset="77"/>
                <a:ea typeface="Verdana" panose="020B0604030504040204" pitchFamily="34" charset="0"/>
                <a:cs typeface="Arial Black" panose="020B0604020202020204" pitchFamily="34" charset="0"/>
              </a:rPr>
              <a:t>Let’s Code </a:t>
            </a:r>
          </a:p>
          <a:p>
            <a:pPr algn="ctr"/>
            <a:r>
              <a:rPr lang="en-US" sz="6600" b="1" dirty="0">
                <a:solidFill>
                  <a:schemeClr val="bg1"/>
                </a:solidFill>
                <a:latin typeface="Integral CF Bold" pitchFamily="2" charset="77"/>
                <a:ea typeface="Verdana" panose="020B0604030504040204" pitchFamily="34" charset="0"/>
                <a:cs typeface="Arial Black" panose="020B0604020202020204" pitchFamily="34" charset="0"/>
              </a:rPr>
              <a:t>Session 1</a:t>
            </a:r>
            <a:endParaRPr lang="en-US" sz="10000" b="1" dirty="0">
              <a:solidFill>
                <a:schemeClr val="bg1"/>
              </a:solidFill>
              <a:latin typeface="Integral CF Bold" pitchFamily="2" charset="77"/>
              <a:ea typeface="Verdana" panose="020B060403050404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6820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8FBF-2B6F-95B0-46C3-2A5F473D6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4C1D746-BABF-CA66-956F-2577EF8F0A1E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6AAA76-0056-218A-CEF7-5ED85E11A07B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1E133B8-9239-7967-969F-FAC7C2EF7B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D462829-12FD-9911-1580-9C8467D6AA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19CCD10-1573-4A20-76F6-DD74C972A784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5308E70A-EDCF-3B64-929C-0DFBB22FD08E}"/>
              </a:ext>
            </a:extLst>
          </p:cNvPr>
          <p:cNvSpPr txBox="1"/>
          <p:nvPr/>
        </p:nvSpPr>
        <p:spPr>
          <a:xfrm>
            <a:off x="441990" y="839983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Get topic information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4342CD9-4B64-544E-7930-25F237CF28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80" y="1344124"/>
            <a:ext cx="8912064" cy="22448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E48BAC-3F4A-59B4-9EB4-DA2D144189C6}"/>
              </a:ext>
            </a:extLst>
          </p:cNvPr>
          <p:cNvSpPr txBox="1"/>
          <p:nvPr/>
        </p:nvSpPr>
        <p:spPr>
          <a:xfrm>
            <a:off x="487680" y="3725018"/>
            <a:ext cx="9010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0" u="none" strike="noStrike" kern="1200" cap="none" dirty="0">
                <a:ln>
                  <a:noFill/>
                </a:ln>
                <a:effectLst/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Each topic is represented by a group of words</a:t>
            </a:r>
          </a:p>
          <a:p>
            <a:r>
              <a:rPr lang="en-GB" sz="1800" b="0" i="0" u="none" strike="noStrike" kern="1200" cap="none" dirty="0">
                <a:ln>
                  <a:noFill/>
                </a:ln>
                <a:effectLst/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-1 refers to all outliers and should typically be ignored.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23637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D7022-5DF9-3736-5128-8702D278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0418F9-C25B-1834-8044-DBFD68452C62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378019-7BFD-ADF8-A0DC-37708E85BD18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BB427C4-7844-DDD0-AAD1-3441DA164DB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B6248AD-591C-A488-A7BD-EBF5B34D7D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CEC1D82-A962-F587-79CC-D8F47640E78B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3364270C-30C4-B139-6AAC-1295BBC11B43}"/>
              </a:ext>
            </a:extLst>
          </p:cNvPr>
          <p:cNvSpPr txBox="1"/>
          <p:nvPr/>
        </p:nvSpPr>
        <p:spPr>
          <a:xfrm>
            <a:off x="441990" y="839983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Get topic words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4252E8-EC3C-F743-F432-2F654CC550AC}"/>
              </a:ext>
            </a:extLst>
          </p:cNvPr>
          <p:cNvSpPr txBox="1"/>
          <p:nvPr/>
        </p:nvSpPr>
        <p:spPr>
          <a:xfrm>
            <a:off x="487680" y="3725018"/>
            <a:ext cx="9010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Each topic is composed of a group of words. </a:t>
            </a:r>
          </a:p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Words with higher scores mean that the word are more representative of the topic, compared to the other words.</a:t>
            </a:r>
            <a:endParaRPr lang="en-GB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E15D104-6350-5693-D967-8DBA373B6D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990" y="1380342"/>
            <a:ext cx="5193000" cy="233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3976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9DF9B-1B90-4F83-2025-A75807D9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F6F04F2-03E2-1133-0575-92D7847EF2CF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DE1D64-2EC3-EBFC-9BC7-0278CDCA7B22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ADE08BE-6459-6939-3B0F-18FEB05757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03E660B-E99E-9991-D344-E4339CD821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FE3340E-0CD9-8C93-43E1-245D806865AA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761A66D6-1F26-B767-A69C-08B61427028E}"/>
              </a:ext>
            </a:extLst>
          </p:cNvPr>
          <p:cNvSpPr txBox="1"/>
          <p:nvPr/>
        </p:nvSpPr>
        <p:spPr>
          <a:xfrm>
            <a:off x="441990" y="839983"/>
            <a:ext cx="3398490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Get representative documents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398DC0-A06E-BBE9-F271-ED4F2A2615F4}"/>
              </a:ext>
            </a:extLst>
          </p:cNvPr>
          <p:cNvSpPr txBox="1"/>
          <p:nvPr/>
        </p:nvSpPr>
        <p:spPr>
          <a:xfrm>
            <a:off x="487680" y="3725018"/>
            <a:ext cx="9010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This function returns the documents sample that best embody the semantic meaning of the topic.</a:t>
            </a:r>
            <a:endParaRPr lang="en-GB" dirty="0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53F33C7-7A49-0C20-03C8-B3D75CE334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644" y="1405593"/>
            <a:ext cx="16863912" cy="225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908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AE131-F4D5-2CBB-E4F4-6472992D1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BD6765E-9C2F-0B86-C06E-2E710F6D9CCC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2093EA-FDA0-F604-236D-3B8CF99AE113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3D4658-703C-E8E0-E337-0601BC8E23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2CFE0B4-081D-AC52-D476-E47C5D4F5A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EC1C238-AA18-B392-616A-EF6A543BAA23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7A1DD788-ADBF-AB3F-9D47-8C2016524324}"/>
              </a:ext>
            </a:extLst>
          </p:cNvPr>
          <p:cNvSpPr txBox="1"/>
          <p:nvPr/>
        </p:nvSpPr>
        <p:spPr>
          <a:xfrm>
            <a:off x="441990" y="839983"/>
            <a:ext cx="4598322" cy="312064"/>
          </a:xfrm>
          <a:prstGeom prst="rect">
            <a:avLst/>
          </a:prstGeom>
        </p:spPr>
        <p:txBody>
          <a:bodyPr vert="horz" wrap="square" lIns="0" tIns="42346" rIns="0" bIns="0" rtlCol="0">
            <a:spAutoFit/>
          </a:bodyPr>
          <a:lstStyle/>
          <a:p>
            <a:pPr marL="5413" marR="96472">
              <a:lnSpc>
                <a:spcPts val="2126"/>
              </a:lnSpc>
              <a:spcBef>
                <a:spcPts val="333"/>
              </a:spcBef>
              <a:tabLst>
                <a:tab pos="100611" algn="l"/>
              </a:tabLst>
            </a:pPr>
            <a:r>
              <a:rPr lang="en-GB" b="1" dirty="0">
                <a:solidFill>
                  <a:srgbClr val="FE0E67"/>
                </a:solidFill>
                <a:latin typeface="Arial MT"/>
                <a:cs typeface="Arial MT"/>
              </a:rPr>
              <a:t>Check the topic of each document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D5ABBE-57C0-1EF5-1467-1F9EB17D4DE9}"/>
              </a:ext>
            </a:extLst>
          </p:cNvPr>
          <p:cNvSpPr txBox="1"/>
          <p:nvPr/>
        </p:nvSpPr>
        <p:spPr>
          <a:xfrm>
            <a:off x="411570" y="2773156"/>
            <a:ext cx="9010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In this example, </a:t>
            </a:r>
          </a:p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Document 1 belongs to topic 9, </a:t>
            </a:r>
          </a:p>
          <a:p>
            <a:r>
              <a:rPr lang="en-GB" dirty="0">
                <a:highlight>
                  <a:scrgbClr r="0" g="0" b="0">
                    <a:alpha val="0"/>
                  </a:scrgbClr>
                </a:highlight>
                <a:latin typeface="Liberation Sans" pitchFamily="18"/>
              </a:rPr>
              <a:t>Document 2 does not have a main topic, etc.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33E5A6-7B51-E836-F6BA-F8E8C437C5B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647" t="-2405" r="62068" b="-24825"/>
          <a:stretch>
            <a:fillRect/>
          </a:stretch>
        </p:blipFill>
        <p:spPr>
          <a:xfrm>
            <a:off x="327102" y="1383038"/>
            <a:ext cx="5570683" cy="1321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7348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/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6140" y="1320550"/>
            <a:ext cx="1076016" cy="992234"/>
          </a:xfrm>
          <a:prstGeom prst="rect">
            <a:avLst/>
          </a:prstGeom>
          <a:noFill/>
        </p:spPr>
        <p:txBody>
          <a:bodyPr wrap="none" lIns="75605" tIns="37802" rIns="75605" bIns="37802" rtlCol="0" anchor="t">
            <a:spAutoFit/>
          </a:bodyPr>
          <a:lstStyle/>
          <a:p>
            <a:endParaRPr lang="en-GB" sz="1488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 sz="1488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 sz="1488" dirty="0">
                <a:solidFill>
                  <a:srgbClr val="002E5F"/>
                </a:solidFill>
              </a:rPr>
              <a:t>	</a:t>
            </a:r>
            <a:endParaRPr lang="en-GB" sz="1488" i="1" dirty="0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 sz="1488" dirty="0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4276" y="1625922"/>
            <a:ext cx="184731" cy="5502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488" dirty="0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 sz="1488" dirty="0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D4C3EE-3DA3-43F0-B3B9-D697FCC390AD}"/>
              </a:ext>
            </a:extLst>
          </p:cNvPr>
          <p:cNvSpPr txBox="1"/>
          <p:nvPr/>
        </p:nvSpPr>
        <p:spPr>
          <a:xfrm>
            <a:off x="194276" y="209407"/>
            <a:ext cx="9519535" cy="2365046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>
              <a:lnSpc>
                <a:spcPct val="150000"/>
              </a:lnSpc>
            </a:pPr>
            <a:endParaRPr lang="en-GB" sz="1488" b="1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>
              <a:lnSpc>
                <a:spcPct val="150000"/>
              </a:lnSpc>
            </a:pPr>
            <a:r>
              <a:rPr lang="en-GB" sz="1984" b="1" dirty="0">
                <a:solidFill>
                  <a:srgbClr val="FE0E67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Attributes</a:t>
            </a:r>
            <a:endParaRPr lang="en-GB" sz="1654" b="1" dirty="0">
              <a:solidFill>
                <a:srgbClr val="FE0E67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654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There are a number of attributes that you can access after having trained your </a:t>
            </a:r>
            <a:r>
              <a:rPr lang="en-GB" sz="1654" dirty="0" err="1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BERTopic</a:t>
            </a:r>
            <a:r>
              <a:rPr lang="en-GB" sz="1654" dirty="0">
                <a:solidFill>
                  <a:srgbClr val="00206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model: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1654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1654" dirty="0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1654" dirty="0" err="1">
              <a:solidFill>
                <a:srgbClr val="00206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63DCDB-4347-4311-BB30-5EA80E0D5F5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CD0A442-6805-469A-9B18-56BC88A15F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5F8593F-1AF7-60BA-24E6-DD4C27C3C2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345441"/>
              </p:ext>
            </p:extLst>
          </p:nvPr>
        </p:nvGraphicFramePr>
        <p:xfrm>
          <a:off x="338292" y="1420623"/>
          <a:ext cx="921549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5619">
                  <a:extLst>
                    <a:ext uri="{9D8B030D-6E8A-4147-A177-3AD203B41FA5}">
                      <a16:colId xmlns:a16="http://schemas.microsoft.com/office/drawing/2014/main" val="4123977702"/>
                    </a:ext>
                  </a:extLst>
                </a:gridCol>
                <a:gridCol w="6659880">
                  <a:extLst>
                    <a:ext uri="{9D8B030D-6E8A-4147-A177-3AD203B41FA5}">
                      <a16:colId xmlns:a16="http://schemas.microsoft.com/office/drawing/2014/main" val="131482352"/>
                    </a:ext>
                  </a:extLst>
                </a:gridCol>
              </a:tblGrid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Attribute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Description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04926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topics_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topics that are generated for each document after training or updating the topic model.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211828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probabilities_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probabilities that are generated for each document if HDBSCAN is used.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904040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topic_sizes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size of each topic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620957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topic_mapper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class for tracking topics and their mappings anytime they are merged/reduced.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1870359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topic_representations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top </a:t>
                      </a:r>
                      <a:r>
                        <a:rPr lang="en-GB" sz="1200" b="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terms per topic and their respective c-TF-IDF values.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935096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c_tf_idf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topic-term matrix as calculated through c-TF-IDF.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230666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topic_labels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default labels for each topic.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587936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custom_labels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 labels for each topic as generated through </a:t>
                      </a:r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set_topic_labels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5929340"/>
                  </a:ext>
                </a:extLst>
              </a:tr>
              <a:tr h="234730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topic_embeddings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embeddings for each topic if </a:t>
                      </a:r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embedding_model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was used.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477061"/>
                  </a:ext>
                </a:extLst>
              </a:tr>
              <a:tr h="128557">
                <a:tc>
                  <a:txBody>
                    <a:bodyPr/>
                    <a:lstStyle/>
                    <a:p>
                      <a:r>
                        <a:rPr lang="en-GB" sz="12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representative_docs</a:t>
                      </a:r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_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representative documents for each topic if HDBSCAN is used.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6942316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2134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962AB-BDCA-CCAE-DA3E-8932BBBBF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F46B542-D50A-19DD-1EB3-0B027E295509}"/>
              </a:ext>
            </a:extLst>
          </p:cNvPr>
          <p:cNvSpPr/>
          <p:nvPr/>
        </p:nvSpPr>
        <p:spPr>
          <a:xfrm>
            <a:off x="0" y="4914404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0DE179-D056-F18A-6C2C-A515869FF00B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65DFB2-B45C-5FEB-8FE8-5E46C9ACF3A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0D59294-965E-E9F9-EE45-2D713ED054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3EE957A-BCEE-C0E2-D016-0C0680A4F1BE}"/>
              </a:ext>
            </a:extLst>
          </p:cNvPr>
          <p:cNvSpPr txBox="1"/>
          <p:nvPr/>
        </p:nvSpPr>
        <p:spPr>
          <a:xfrm>
            <a:off x="1063190" y="271198"/>
            <a:ext cx="7707410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Codebook</a:t>
            </a:r>
          </a:p>
        </p:txBody>
      </p:sp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394FA89-4F2F-8785-C35F-4DD049525D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2428" y="103469"/>
            <a:ext cx="5836530" cy="551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5766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F71E9-C28F-D389-789E-6D6544F79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FC9BCF9-FB8F-D871-6357-89DAE69E3B09}"/>
              </a:ext>
            </a:extLst>
          </p:cNvPr>
          <p:cNvSpPr/>
          <p:nvPr/>
        </p:nvSpPr>
        <p:spPr>
          <a:xfrm>
            <a:off x="71546" y="4914503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AFF5A0-A83C-9AD4-88B5-CACCB46328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48B650-F129-1D73-A5A0-8EA99AED7094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852D7D-2233-6885-4076-546E287C9AE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2AD5F48-FA19-EC6B-E725-E6442574A0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FB75E90-A871-FBF7-C46F-CF991211E10D}"/>
              </a:ext>
            </a:extLst>
          </p:cNvPr>
          <p:cNvSpPr txBox="1"/>
          <p:nvPr/>
        </p:nvSpPr>
        <p:spPr>
          <a:xfrm>
            <a:off x="2299382" y="2200142"/>
            <a:ext cx="5149811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Session 1  Wrap-up</a:t>
            </a:r>
          </a:p>
        </p:txBody>
      </p:sp>
    </p:spTree>
    <p:extLst>
      <p:ext uri="{BB962C8B-B14F-4D97-AF65-F5344CB8AC3E}">
        <p14:creationId xmlns:p14="http://schemas.microsoft.com/office/powerpoint/2010/main" val="19596927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9C27D-A28F-DDDB-0E43-5C3EB55D2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A49FFCD-E497-00BA-DE26-B94D1DC2E00D}"/>
              </a:ext>
            </a:extLst>
          </p:cNvPr>
          <p:cNvSpPr/>
          <p:nvPr/>
        </p:nvSpPr>
        <p:spPr>
          <a:xfrm>
            <a:off x="71546" y="4914503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1A73A3-9A6E-7BB6-FCA8-0695AE56EB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A21543F-8D05-BC91-A64A-B82B9382B3B1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749EC87-DB8E-AB96-3821-445E5D48312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CDCE9DC-A457-390D-F9A0-4596EA3376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EB81399-E7A2-DAE7-BC84-271C9D8CC058}"/>
              </a:ext>
            </a:extLst>
          </p:cNvPr>
          <p:cNvSpPr txBox="1"/>
          <p:nvPr/>
        </p:nvSpPr>
        <p:spPr>
          <a:xfrm>
            <a:off x="1340666" y="1395327"/>
            <a:ext cx="7438978" cy="3030997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Next Week: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3200" dirty="0">
              <a:solidFill>
                <a:schemeClr val="tx2"/>
              </a:solidFill>
              <a:latin typeface="Verdana Pro Cond"/>
              <a:cs typeface="Calibr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Verdana Pro Cond"/>
                <a:cs typeface="Calibri"/>
              </a:rPr>
              <a:t>How can we interpret the results?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Verdana Pro Cond"/>
                <a:cs typeface="Calibri"/>
              </a:rPr>
              <a:t>How can we improve the model performance (that make more sense)</a:t>
            </a:r>
          </a:p>
          <a:p>
            <a:pPr algn="ctr"/>
            <a:endParaRPr lang="en-GB" sz="3200" b="1" dirty="0">
              <a:solidFill>
                <a:schemeClr val="tx2"/>
              </a:solidFill>
              <a:latin typeface="Verdana Pro Cond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687593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84705-2FC3-53FA-567C-E376B938F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22E023-5B7D-2F5E-59B2-065147014ABB}"/>
              </a:ext>
            </a:extLst>
          </p:cNvPr>
          <p:cNvSpPr/>
          <p:nvPr/>
        </p:nvSpPr>
        <p:spPr>
          <a:xfrm>
            <a:off x="71546" y="4914503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46D2CF-AC55-9D39-9113-E1F4B3D66F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5198033-C09C-1B08-9CDF-FB7BB17D0494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0121E1-F99A-6E7E-3FA2-9DCF45513FB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4220A25-9C64-E45C-4FE4-A3A4DF942B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E31A63A-F354-793F-28AB-BC372246DB86}"/>
              </a:ext>
            </a:extLst>
          </p:cNvPr>
          <p:cNvSpPr txBox="1"/>
          <p:nvPr/>
        </p:nvSpPr>
        <p:spPr>
          <a:xfrm>
            <a:off x="0" y="431290"/>
            <a:ext cx="9934709" cy="938117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Additional</a:t>
            </a:r>
            <a:r>
              <a:rPr lang="en-GB" sz="3600" b="1" dirty="0">
                <a:solidFill>
                  <a:srgbClr val="FE0E67"/>
                </a:solidFill>
                <a:latin typeface="Verdana Pro Cond"/>
                <a:cs typeface="Calibri"/>
              </a:rPr>
              <a:t> </a:t>
            </a:r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Resources</a:t>
            </a:r>
          </a:p>
          <a:p>
            <a:pPr algn="ctr"/>
            <a:r>
              <a:rPr lang="en-GB" sz="2000" b="1" dirty="0">
                <a:solidFill>
                  <a:schemeClr val="tx2"/>
                </a:solidFill>
                <a:latin typeface="Verdana Pro Cond"/>
                <a:cs typeface="Calibri"/>
              </a:rPr>
              <a:t>examples of supervised learning in social studies</a:t>
            </a:r>
          </a:p>
        </p:txBody>
      </p:sp>
      <p:sp>
        <p:nvSpPr>
          <p:cNvPr id="13" name="object 2">
            <a:extLst>
              <a:ext uri="{FF2B5EF4-FFF2-40B4-BE49-F238E27FC236}">
                <a16:creationId xmlns:a16="http://schemas.microsoft.com/office/drawing/2014/main" id="{28577A55-C272-C055-A9AC-787501E50DBA}"/>
              </a:ext>
            </a:extLst>
          </p:cNvPr>
          <p:cNvSpPr txBox="1"/>
          <p:nvPr/>
        </p:nvSpPr>
        <p:spPr>
          <a:xfrm>
            <a:off x="586841" y="1592303"/>
            <a:ext cx="8906942" cy="1976521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349268" indent="-3429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GB" dirty="0"/>
              <a:t>Nelson, L. K., Burk, D., Knudsen, M., &amp; McCall, L. (2021). The future of coding: A comparison of hand-coding and three types of computer-assisted text analysis methods. </a:t>
            </a:r>
            <a:r>
              <a:rPr lang="en-GB" i="1" dirty="0"/>
              <a:t>Sociological Methods &amp; Research</a:t>
            </a:r>
            <a:r>
              <a:rPr lang="en-GB" dirty="0"/>
              <a:t>, </a:t>
            </a:r>
            <a:r>
              <a:rPr lang="en-GB" i="1" dirty="0"/>
              <a:t>50</a:t>
            </a:r>
            <a:r>
              <a:rPr lang="en-GB" dirty="0"/>
              <a:t>(1), 202-237.</a:t>
            </a:r>
          </a:p>
          <a:p>
            <a:pPr marL="349268" indent="-3429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GB" dirty="0"/>
              <a:t>Rona-Tas, A., </a:t>
            </a:r>
            <a:r>
              <a:rPr lang="en-GB" dirty="0" err="1"/>
              <a:t>Cornuéjols</a:t>
            </a:r>
            <a:r>
              <a:rPr lang="en-GB" dirty="0"/>
              <a:t>, A., </a:t>
            </a:r>
            <a:r>
              <a:rPr lang="en-GB" dirty="0" err="1"/>
              <a:t>Blanchemanche</a:t>
            </a:r>
            <a:r>
              <a:rPr lang="en-GB" dirty="0"/>
              <a:t>, S., Duroy, A., &amp; Martin, C. (2019). Enlisting supervised machine learning in mapping scientific uncertainty expressed in food risk analysis. </a:t>
            </a:r>
            <a:r>
              <a:rPr lang="en-GB" i="1" dirty="0"/>
              <a:t>Sociological Methods &amp; Research</a:t>
            </a:r>
            <a:r>
              <a:rPr lang="en-GB" dirty="0"/>
              <a:t>, </a:t>
            </a:r>
            <a:r>
              <a:rPr lang="en-GB" i="1" dirty="0"/>
              <a:t>48</a:t>
            </a:r>
            <a:r>
              <a:rPr lang="en-GB" dirty="0"/>
              <a:t>(3), 608-641.</a:t>
            </a:r>
          </a:p>
        </p:txBody>
      </p:sp>
    </p:spTree>
    <p:extLst>
      <p:ext uri="{BB962C8B-B14F-4D97-AF65-F5344CB8AC3E}">
        <p14:creationId xmlns:p14="http://schemas.microsoft.com/office/powerpoint/2010/main" val="15793608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56D82-F8C4-1CFA-9F3A-C5D76D6BE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AFBF277-693A-D27F-3279-267EB8855B8C}"/>
              </a:ext>
            </a:extLst>
          </p:cNvPr>
          <p:cNvSpPr/>
          <p:nvPr/>
        </p:nvSpPr>
        <p:spPr>
          <a:xfrm>
            <a:off x="71546" y="4914503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5F64783-81F3-E9E0-5F90-3E08EC1DAD7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05F7860-EF66-9B18-45C1-B458B23AEC8E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732E458-890D-B600-A450-51B4994D7D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0C3592-8244-C7E9-933C-79E4ABDDD8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1EDC942-918B-D11B-1757-EDB2532ADBDE}"/>
              </a:ext>
            </a:extLst>
          </p:cNvPr>
          <p:cNvSpPr txBox="1"/>
          <p:nvPr/>
        </p:nvSpPr>
        <p:spPr>
          <a:xfrm>
            <a:off x="0" y="431290"/>
            <a:ext cx="9934709" cy="938117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Additional</a:t>
            </a:r>
            <a:r>
              <a:rPr lang="en-GB" sz="3600" b="1" dirty="0">
                <a:solidFill>
                  <a:srgbClr val="FE0E67"/>
                </a:solidFill>
                <a:latin typeface="Verdana Pro Cond"/>
                <a:cs typeface="Calibri"/>
              </a:rPr>
              <a:t> </a:t>
            </a:r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Resources</a:t>
            </a:r>
          </a:p>
          <a:p>
            <a:pPr algn="ctr"/>
            <a:r>
              <a:rPr lang="en-GB" sz="2000" b="1" dirty="0">
                <a:solidFill>
                  <a:schemeClr val="tx2"/>
                </a:solidFill>
                <a:latin typeface="Verdana Pro Cond"/>
                <a:cs typeface="Calibri"/>
              </a:rPr>
              <a:t>examples of topic modelling</a:t>
            </a:r>
          </a:p>
        </p:txBody>
      </p:sp>
      <p:sp>
        <p:nvSpPr>
          <p:cNvPr id="13" name="object 2">
            <a:extLst>
              <a:ext uri="{FF2B5EF4-FFF2-40B4-BE49-F238E27FC236}">
                <a16:creationId xmlns:a16="http://schemas.microsoft.com/office/drawing/2014/main" id="{2F1D2063-E8B0-7387-F5F8-290C84BCC988}"/>
              </a:ext>
            </a:extLst>
          </p:cNvPr>
          <p:cNvSpPr txBox="1"/>
          <p:nvPr/>
        </p:nvSpPr>
        <p:spPr>
          <a:xfrm>
            <a:off x="586841" y="1592303"/>
            <a:ext cx="8906942" cy="1976521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349268" indent="-3429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GB" dirty="0"/>
              <a:t>Grubbs, A. E., Sinha, N., Garg, R., &amp; Barber, E. L. (2023). Use of topic </a:t>
            </a:r>
            <a:r>
              <a:rPr lang="en-GB" dirty="0" err="1"/>
              <a:t>modeling</a:t>
            </a:r>
            <a:r>
              <a:rPr lang="en-GB" dirty="0"/>
              <a:t> to assess research trends in the journal </a:t>
            </a:r>
            <a:r>
              <a:rPr lang="en-GB" dirty="0" err="1"/>
              <a:t>Gynecologic</a:t>
            </a:r>
            <a:r>
              <a:rPr lang="en-GB" dirty="0"/>
              <a:t> Oncology. </a:t>
            </a:r>
            <a:r>
              <a:rPr lang="en-GB" i="1" dirty="0" err="1"/>
              <a:t>Gynecologic</a:t>
            </a:r>
            <a:r>
              <a:rPr lang="en-GB" i="1" dirty="0"/>
              <a:t> oncology</a:t>
            </a:r>
            <a:r>
              <a:rPr lang="en-GB" dirty="0"/>
              <a:t>, </a:t>
            </a:r>
            <a:r>
              <a:rPr lang="en-GB" i="1" dirty="0"/>
              <a:t>172</a:t>
            </a:r>
            <a:r>
              <a:rPr lang="en-GB" dirty="0"/>
              <a:t>, 41-46.</a:t>
            </a:r>
          </a:p>
          <a:p>
            <a:pPr marL="349268" indent="-3429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GB" dirty="0" err="1"/>
              <a:t>Grajzl</a:t>
            </a:r>
            <a:r>
              <a:rPr lang="en-GB" dirty="0"/>
              <a:t> P, Murrell P. Using Topic-</a:t>
            </a:r>
            <a:r>
              <a:rPr lang="en-GB" dirty="0" err="1"/>
              <a:t>Modeling</a:t>
            </a:r>
            <a:r>
              <a:rPr lang="en-GB" dirty="0"/>
              <a:t> in Legal History, with an Application to Pre-Industrial English Case Law on Finance. </a:t>
            </a:r>
            <a:r>
              <a:rPr lang="en-GB" i="1" dirty="0"/>
              <a:t>Law and History Review</a:t>
            </a:r>
            <a:r>
              <a:rPr lang="en-GB" dirty="0"/>
              <a:t>. 2022;40(2):189-228. doi:10.1017/S0738248022000153</a:t>
            </a:r>
            <a:endParaRPr sz="16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24886589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F0812-ABD0-6DB7-9409-050C4905C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017899C-A36A-AAA2-B704-4575F9DE2C27}"/>
              </a:ext>
            </a:extLst>
          </p:cNvPr>
          <p:cNvSpPr/>
          <p:nvPr/>
        </p:nvSpPr>
        <p:spPr>
          <a:xfrm>
            <a:off x="-20382" y="4914503"/>
            <a:ext cx="10121387" cy="756047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8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B34BF-390A-6F27-1EEC-62FB1359595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989" y="4463237"/>
            <a:ext cx="902333" cy="90233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5356A3C-BFEA-90DE-A75E-EF875CD842FA}"/>
              </a:ext>
            </a:extLst>
          </p:cNvPr>
          <p:cNvSpPr/>
          <p:nvPr/>
        </p:nvSpPr>
        <p:spPr>
          <a:xfrm>
            <a:off x="4182840" y="5292427"/>
            <a:ext cx="1714945" cy="321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88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BA84BBF-49BF-CB3F-CE60-4A1DEACCD61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27178" y="-284790"/>
            <a:ext cx="1031250" cy="1031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5232F24-947D-1EEC-7EA9-01EF6BE557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100"/>
            <a:ext cx="2299383" cy="4146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C81428C-40B0-8276-6718-348BC15DCB6F}"/>
              </a:ext>
            </a:extLst>
          </p:cNvPr>
          <p:cNvSpPr txBox="1"/>
          <p:nvPr/>
        </p:nvSpPr>
        <p:spPr>
          <a:xfrm>
            <a:off x="72956" y="2094823"/>
            <a:ext cx="9934709" cy="568785"/>
          </a:xfrm>
          <a:prstGeom prst="rect">
            <a:avLst/>
          </a:prstGeom>
          <a:noFill/>
        </p:spPr>
        <p:txBody>
          <a:bodyPr wrap="square" lIns="75605" tIns="37802" rIns="75605" bIns="37802" rtlCol="0" anchor="t">
            <a:sp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Verdana Pro Cond"/>
                <a:cs typeface="Calibri"/>
              </a:rPr>
              <a:t>Thank you!</a:t>
            </a:r>
            <a:endParaRPr lang="en-GB" sz="2000" b="1" dirty="0">
              <a:solidFill>
                <a:schemeClr val="tx2"/>
              </a:solidFill>
              <a:latin typeface="Verdana Pro Cond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3439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4710</TotalTime>
  <Words>2148</Words>
  <Application>Microsoft Macintosh PowerPoint</Application>
  <PresentationFormat>Custom</PresentationFormat>
  <Paragraphs>381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9" baseType="lpstr">
      <vt:lpstr>Arial MT</vt:lpstr>
      <vt:lpstr>Integral CF Bold</vt:lpstr>
      <vt:lpstr>Liberation Sans</vt:lpstr>
      <vt:lpstr>Aptos</vt:lpstr>
      <vt:lpstr>Aptos Display</vt:lpstr>
      <vt:lpstr>Arial</vt:lpstr>
      <vt:lpstr>Calibri</vt:lpstr>
      <vt:lpstr>Courier New</vt:lpstr>
      <vt:lpstr>Source Sans Pro</vt:lpstr>
      <vt:lpstr>Verdana Pro Cond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</dc:title>
  <dc:creator>Xandra Dave Cochran</dc:creator>
  <cp:lastModifiedBy>Joy Lan</cp:lastModifiedBy>
  <cp:revision>23</cp:revision>
  <dcterms:created xsi:type="dcterms:W3CDTF">2024-02-09T00:00:31Z</dcterms:created>
  <dcterms:modified xsi:type="dcterms:W3CDTF">2026-03-31T14:01:09Z</dcterms:modified>
</cp:coreProperties>
</file>